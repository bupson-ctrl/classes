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AF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2842C4-E4F1-4CD7-B5CF-C2DCE440234A}" v="7" dt="2026-08-27T17:21:15.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odora Mihailova" userId="9290194f-4bf5-4abe-a19d-b09ad2cff9d0" providerId="ADAL" clId="{B94039CE-A1B7-458C-84B9-8A4F18AD1B72}"/>
    <pc:docChg chg="undo custSel modSld">
      <pc:chgData name="Teodora Mihailova" userId="9290194f-4bf5-4abe-a19d-b09ad2cff9d0" providerId="ADAL" clId="{B94039CE-A1B7-458C-84B9-8A4F18AD1B72}" dt="2026-08-27T17:23:04.596" v="1975" actId="20577"/>
      <pc:docMkLst>
        <pc:docMk/>
      </pc:docMkLst>
      <pc:sldChg chg="modSp mod">
        <pc:chgData name="Teodora Mihailova" userId="9290194f-4bf5-4abe-a19d-b09ad2cff9d0" providerId="ADAL" clId="{B94039CE-A1B7-458C-84B9-8A4F18AD1B72}" dt="2026-08-27T16:52:36.355" v="5" actId="207"/>
        <pc:sldMkLst>
          <pc:docMk/>
          <pc:sldMk cId="0" sldId="256"/>
        </pc:sldMkLst>
        <pc:spChg chg="mod">
          <ac:chgData name="Teodora Mihailova" userId="9290194f-4bf5-4abe-a19d-b09ad2cff9d0" providerId="ADAL" clId="{B94039CE-A1B7-458C-84B9-8A4F18AD1B72}" dt="2026-08-27T16:52:36.355" v="5" actId="207"/>
          <ac:spMkLst>
            <pc:docMk/>
            <pc:sldMk cId="0" sldId="256"/>
            <ac:spMk id="5" creationId="{00000000-0000-0000-0000-000000000000}"/>
          </ac:spMkLst>
        </pc:spChg>
        <pc:spChg chg="mod">
          <ac:chgData name="Teodora Mihailova" userId="9290194f-4bf5-4abe-a19d-b09ad2cff9d0" providerId="ADAL" clId="{B94039CE-A1B7-458C-84B9-8A4F18AD1B72}" dt="2026-08-27T16:51:21.003" v="1" actId="14100"/>
          <ac:spMkLst>
            <pc:docMk/>
            <pc:sldMk cId="0" sldId="256"/>
            <ac:spMk id="6" creationId="{00000000-0000-0000-0000-000000000000}"/>
          </ac:spMkLst>
        </pc:spChg>
      </pc:sldChg>
      <pc:sldChg chg="modSp mod">
        <pc:chgData name="Teodora Mihailova" userId="9290194f-4bf5-4abe-a19d-b09ad2cff9d0" providerId="ADAL" clId="{B94039CE-A1B7-458C-84B9-8A4F18AD1B72}" dt="2026-08-27T16:55:04.154" v="240" actId="20577"/>
        <pc:sldMkLst>
          <pc:docMk/>
          <pc:sldMk cId="0" sldId="257"/>
        </pc:sldMkLst>
        <pc:spChg chg="mod">
          <ac:chgData name="Teodora Mihailova" userId="9290194f-4bf5-4abe-a19d-b09ad2cff9d0" providerId="ADAL" clId="{B94039CE-A1B7-458C-84B9-8A4F18AD1B72}" dt="2026-08-27T16:54:01.883" v="144" actId="1076"/>
          <ac:spMkLst>
            <pc:docMk/>
            <pc:sldMk cId="0" sldId="257"/>
            <ac:spMk id="2" creationId="{00000000-0000-0000-0000-000000000000}"/>
          </ac:spMkLst>
        </pc:spChg>
        <pc:spChg chg="mod">
          <ac:chgData name="Teodora Mihailova" userId="9290194f-4bf5-4abe-a19d-b09ad2cff9d0" providerId="ADAL" clId="{B94039CE-A1B7-458C-84B9-8A4F18AD1B72}" dt="2026-08-27T16:53:59.223" v="143" actId="1076"/>
          <ac:spMkLst>
            <pc:docMk/>
            <pc:sldMk cId="0" sldId="257"/>
            <ac:spMk id="3" creationId="{00000000-0000-0000-0000-000000000000}"/>
          </ac:spMkLst>
        </pc:spChg>
        <pc:spChg chg="mod">
          <ac:chgData name="Teodora Mihailova" userId="9290194f-4bf5-4abe-a19d-b09ad2cff9d0" providerId="ADAL" clId="{B94039CE-A1B7-458C-84B9-8A4F18AD1B72}" dt="2026-08-27T16:54:10.695" v="145" actId="14100"/>
          <ac:spMkLst>
            <pc:docMk/>
            <pc:sldMk cId="0" sldId="257"/>
            <ac:spMk id="6" creationId="{00000000-0000-0000-0000-000000000000}"/>
          </ac:spMkLst>
        </pc:spChg>
        <pc:spChg chg="mod">
          <ac:chgData name="Teodora Mihailova" userId="9290194f-4bf5-4abe-a19d-b09ad2cff9d0" providerId="ADAL" clId="{B94039CE-A1B7-458C-84B9-8A4F18AD1B72}" dt="2026-08-27T16:54:10.695" v="145" actId="14100"/>
          <ac:spMkLst>
            <pc:docMk/>
            <pc:sldMk cId="0" sldId="257"/>
            <ac:spMk id="9" creationId="{00000000-0000-0000-0000-000000000000}"/>
          </ac:spMkLst>
        </pc:spChg>
        <pc:spChg chg="mod">
          <ac:chgData name="Teodora Mihailova" userId="9290194f-4bf5-4abe-a19d-b09ad2cff9d0" providerId="ADAL" clId="{B94039CE-A1B7-458C-84B9-8A4F18AD1B72}" dt="2026-08-27T16:54:10.695" v="145" actId="14100"/>
          <ac:spMkLst>
            <pc:docMk/>
            <pc:sldMk cId="0" sldId="257"/>
            <ac:spMk id="12" creationId="{00000000-0000-0000-0000-000000000000}"/>
          </ac:spMkLst>
        </pc:spChg>
        <pc:spChg chg="mod">
          <ac:chgData name="Teodora Mihailova" userId="9290194f-4bf5-4abe-a19d-b09ad2cff9d0" providerId="ADAL" clId="{B94039CE-A1B7-458C-84B9-8A4F18AD1B72}" dt="2026-08-27T16:55:04.154" v="240" actId="20577"/>
          <ac:spMkLst>
            <pc:docMk/>
            <pc:sldMk cId="0" sldId="257"/>
            <ac:spMk id="13" creationId="{00000000-0000-0000-0000-000000000000}"/>
          </ac:spMkLst>
        </pc:spChg>
      </pc:sldChg>
      <pc:sldChg chg="modSp mod">
        <pc:chgData name="Teodora Mihailova" userId="9290194f-4bf5-4abe-a19d-b09ad2cff9d0" providerId="ADAL" clId="{B94039CE-A1B7-458C-84B9-8A4F18AD1B72}" dt="2026-08-27T16:57:24.102" v="428" actId="20577"/>
        <pc:sldMkLst>
          <pc:docMk/>
          <pc:sldMk cId="0" sldId="258"/>
        </pc:sldMkLst>
        <pc:spChg chg="mod">
          <ac:chgData name="Teodora Mihailova" userId="9290194f-4bf5-4abe-a19d-b09ad2cff9d0" providerId="ADAL" clId="{B94039CE-A1B7-458C-84B9-8A4F18AD1B72}" dt="2026-08-27T16:56:25.198" v="313" actId="20577"/>
          <ac:spMkLst>
            <pc:docMk/>
            <pc:sldMk cId="0" sldId="258"/>
            <ac:spMk id="4" creationId="{00000000-0000-0000-0000-000000000000}"/>
          </ac:spMkLst>
        </pc:spChg>
        <pc:spChg chg="mod">
          <ac:chgData name="Teodora Mihailova" userId="9290194f-4bf5-4abe-a19d-b09ad2cff9d0" providerId="ADAL" clId="{B94039CE-A1B7-458C-84B9-8A4F18AD1B72}" dt="2026-08-27T16:55:14.413" v="250" actId="1035"/>
          <ac:spMkLst>
            <pc:docMk/>
            <pc:sldMk cId="0" sldId="258"/>
            <ac:spMk id="6" creationId="{00000000-0000-0000-0000-000000000000}"/>
          </ac:spMkLst>
        </pc:spChg>
        <pc:spChg chg="mod">
          <ac:chgData name="Teodora Mihailova" userId="9290194f-4bf5-4abe-a19d-b09ad2cff9d0" providerId="ADAL" clId="{B94039CE-A1B7-458C-84B9-8A4F18AD1B72}" dt="2026-08-27T16:55:54.593" v="288" actId="20577"/>
          <ac:spMkLst>
            <pc:docMk/>
            <pc:sldMk cId="0" sldId="258"/>
            <ac:spMk id="7" creationId="{00000000-0000-0000-0000-000000000000}"/>
          </ac:spMkLst>
        </pc:spChg>
        <pc:spChg chg="mod">
          <ac:chgData name="Teodora Mihailova" userId="9290194f-4bf5-4abe-a19d-b09ad2cff9d0" providerId="ADAL" clId="{B94039CE-A1B7-458C-84B9-8A4F18AD1B72}" dt="2026-08-27T16:55:14.413" v="250" actId="1035"/>
          <ac:spMkLst>
            <pc:docMk/>
            <pc:sldMk cId="0" sldId="258"/>
            <ac:spMk id="9" creationId="{00000000-0000-0000-0000-000000000000}"/>
          </ac:spMkLst>
        </pc:spChg>
        <pc:spChg chg="mod">
          <ac:chgData name="Teodora Mihailova" userId="9290194f-4bf5-4abe-a19d-b09ad2cff9d0" providerId="ADAL" clId="{B94039CE-A1B7-458C-84B9-8A4F18AD1B72}" dt="2026-08-27T16:55:14.413" v="250" actId="1035"/>
          <ac:spMkLst>
            <pc:docMk/>
            <pc:sldMk cId="0" sldId="258"/>
            <ac:spMk id="10" creationId="{00000000-0000-0000-0000-000000000000}"/>
          </ac:spMkLst>
        </pc:spChg>
        <pc:spChg chg="mod">
          <ac:chgData name="Teodora Mihailova" userId="9290194f-4bf5-4abe-a19d-b09ad2cff9d0" providerId="ADAL" clId="{B94039CE-A1B7-458C-84B9-8A4F18AD1B72}" dt="2026-08-27T16:55:14.413" v="250" actId="1035"/>
          <ac:spMkLst>
            <pc:docMk/>
            <pc:sldMk cId="0" sldId="258"/>
            <ac:spMk id="12" creationId="{00000000-0000-0000-0000-000000000000}"/>
          </ac:spMkLst>
        </pc:spChg>
        <pc:spChg chg="mod">
          <ac:chgData name="Teodora Mihailova" userId="9290194f-4bf5-4abe-a19d-b09ad2cff9d0" providerId="ADAL" clId="{B94039CE-A1B7-458C-84B9-8A4F18AD1B72}" dt="2026-08-27T16:56:05.971" v="299" actId="20577"/>
          <ac:spMkLst>
            <pc:docMk/>
            <pc:sldMk cId="0" sldId="258"/>
            <ac:spMk id="13" creationId="{00000000-0000-0000-0000-000000000000}"/>
          </ac:spMkLst>
        </pc:spChg>
        <pc:spChg chg="mod">
          <ac:chgData name="Teodora Mihailova" userId="9290194f-4bf5-4abe-a19d-b09ad2cff9d0" providerId="ADAL" clId="{B94039CE-A1B7-458C-84B9-8A4F18AD1B72}" dt="2026-08-27T16:57:24.102" v="428" actId="20577"/>
          <ac:spMkLst>
            <pc:docMk/>
            <pc:sldMk cId="0" sldId="258"/>
            <ac:spMk id="14" creationId="{00000000-0000-0000-0000-000000000000}"/>
          </ac:spMkLst>
        </pc:spChg>
      </pc:sldChg>
      <pc:sldChg chg="modSp mod">
        <pc:chgData name="Teodora Mihailova" userId="9290194f-4bf5-4abe-a19d-b09ad2cff9d0" providerId="ADAL" clId="{B94039CE-A1B7-458C-84B9-8A4F18AD1B72}" dt="2026-08-27T16:58:51.149" v="456" actId="20577"/>
        <pc:sldMkLst>
          <pc:docMk/>
          <pc:sldMk cId="0" sldId="260"/>
        </pc:sldMkLst>
        <pc:spChg chg="mod">
          <ac:chgData name="Teodora Mihailova" userId="9290194f-4bf5-4abe-a19d-b09ad2cff9d0" providerId="ADAL" clId="{B94039CE-A1B7-458C-84B9-8A4F18AD1B72}" dt="2026-08-27T16:58:25.550" v="440" actId="114"/>
          <ac:spMkLst>
            <pc:docMk/>
            <pc:sldMk cId="0" sldId="260"/>
            <ac:spMk id="9" creationId="{00000000-0000-0000-0000-000000000000}"/>
          </ac:spMkLst>
        </pc:spChg>
        <pc:spChg chg="mod">
          <ac:chgData name="Teodora Mihailova" userId="9290194f-4bf5-4abe-a19d-b09ad2cff9d0" providerId="ADAL" clId="{B94039CE-A1B7-458C-84B9-8A4F18AD1B72}" dt="2026-08-27T16:58:25.550" v="440" actId="114"/>
          <ac:spMkLst>
            <pc:docMk/>
            <pc:sldMk cId="0" sldId="260"/>
            <ac:spMk id="14" creationId="{00000000-0000-0000-0000-000000000000}"/>
          </ac:spMkLst>
        </pc:spChg>
        <pc:spChg chg="mod">
          <ac:chgData name="Teodora Mihailova" userId="9290194f-4bf5-4abe-a19d-b09ad2cff9d0" providerId="ADAL" clId="{B94039CE-A1B7-458C-84B9-8A4F18AD1B72}" dt="2026-08-27T16:58:51.149" v="456" actId="20577"/>
          <ac:spMkLst>
            <pc:docMk/>
            <pc:sldMk cId="0" sldId="260"/>
            <ac:spMk id="19" creationId="{00000000-0000-0000-0000-000000000000}"/>
          </ac:spMkLst>
        </pc:spChg>
        <pc:spChg chg="mod">
          <ac:chgData name="Teodora Mihailova" userId="9290194f-4bf5-4abe-a19d-b09ad2cff9d0" providerId="ADAL" clId="{B94039CE-A1B7-458C-84B9-8A4F18AD1B72}" dt="2026-08-27T16:58:41.201" v="455" actId="20577"/>
          <ac:spMkLst>
            <pc:docMk/>
            <pc:sldMk cId="0" sldId="260"/>
            <ac:spMk id="24" creationId="{00000000-0000-0000-0000-000000000000}"/>
          </ac:spMkLst>
        </pc:spChg>
      </pc:sldChg>
      <pc:sldChg chg="modSp mod">
        <pc:chgData name="Teodora Mihailova" userId="9290194f-4bf5-4abe-a19d-b09ad2cff9d0" providerId="ADAL" clId="{B94039CE-A1B7-458C-84B9-8A4F18AD1B72}" dt="2026-08-27T17:01:07.295" v="657" actId="20577"/>
        <pc:sldMkLst>
          <pc:docMk/>
          <pc:sldMk cId="0" sldId="261"/>
        </pc:sldMkLst>
        <pc:spChg chg="mod">
          <ac:chgData name="Teodora Mihailova" userId="9290194f-4bf5-4abe-a19d-b09ad2cff9d0" providerId="ADAL" clId="{B94039CE-A1B7-458C-84B9-8A4F18AD1B72}" dt="2026-08-27T16:59:24.357" v="517" actId="20577"/>
          <ac:spMkLst>
            <pc:docMk/>
            <pc:sldMk cId="0" sldId="261"/>
            <ac:spMk id="3" creationId="{00000000-0000-0000-0000-000000000000}"/>
          </ac:spMkLst>
        </pc:spChg>
        <pc:spChg chg="mod">
          <ac:chgData name="Teodora Mihailova" userId="9290194f-4bf5-4abe-a19d-b09ad2cff9d0" providerId="ADAL" clId="{B94039CE-A1B7-458C-84B9-8A4F18AD1B72}" dt="2026-08-27T17:00:12.022" v="574" actId="20577"/>
          <ac:spMkLst>
            <pc:docMk/>
            <pc:sldMk cId="0" sldId="261"/>
            <ac:spMk id="5" creationId="{00000000-0000-0000-0000-000000000000}"/>
          </ac:spMkLst>
        </pc:spChg>
        <pc:spChg chg="mod">
          <ac:chgData name="Teodora Mihailova" userId="9290194f-4bf5-4abe-a19d-b09ad2cff9d0" providerId="ADAL" clId="{B94039CE-A1B7-458C-84B9-8A4F18AD1B72}" dt="2026-08-27T16:59:40.037" v="529" actId="20577"/>
          <ac:spMkLst>
            <pc:docMk/>
            <pc:sldMk cId="0" sldId="261"/>
            <ac:spMk id="8" creationId="{00000000-0000-0000-0000-000000000000}"/>
          </ac:spMkLst>
        </pc:spChg>
        <pc:spChg chg="mod">
          <ac:chgData name="Teodora Mihailova" userId="9290194f-4bf5-4abe-a19d-b09ad2cff9d0" providerId="ADAL" clId="{B94039CE-A1B7-458C-84B9-8A4F18AD1B72}" dt="2026-08-27T17:00:24.326" v="591" actId="20577"/>
          <ac:spMkLst>
            <pc:docMk/>
            <pc:sldMk cId="0" sldId="261"/>
            <ac:spMk id="14" creationId="{00000000-0000-0000-0000-000000000000}"/>
          </ac:spMkLst>
        </pc:spChg>
        <pc:spChg chg="mod">
          <ac:chgData name="Teodora Mihailova" userId="9290194f-4bf5-4abe-a19d-b09ad2cff9d0" providerId="ADAL" clId="{B94039CE-A1B7-458C-84B9-8A4F18AD1B72}" dt="2026-08-27T17:00:55.673" v="640" actId="20577"/>
          <ac:spMkLst>
            <pc:docMk/>
            <pc:sldMk cId="0" sldId="261"/>
            <ac:spMk id="15" creationId="{00000000-0000-0000-0000-000000000000}"/>
          </ac:spMkLst>
        </pc:spChg>
        <pc:spChg chg="mod">
          <ac:chgData name="Teodora Mihailova" userId="9290194f-4bf5-4abe-a19d-b09ad2cff9d0" providerId="ADAL" clId="{B94039CE-A1B7-458C-84B9-8A4F18AD1B72}" dt="2026-08-27T17:01:07.295" v="657" actId="20577"/>
          <ac:spMkLst>
            <pc:docMk/>
            <pc:sldMk cId="0" sldId="261"/>
            <ac:spMk id="18" creationId="{00000000-0000-0000-0000-000000000000}"/>
          </ac:spMkLst>
        </pc:spChg>
      </pc:sldChg>
      <pc:sldChg chg="modSp mod">
        <pc:chgData name="Teodora Mihailova" userId="9290194f-4bf5-4abe-a19d-b09ad2cff9d0" providerId="ADAL" clId="{B94039CE-A1B7-458C-84B9-8A4F18AD1B72}" dt="2026-08-27T17:01:34.167" v="658" actId="33524"/>
        <pc:sldMkLst>
          <pc:docMk/>
          <pc:sldMk cId="0" sldId="262"/>
        </pc:sldMkLst>
        <pc:spChg chg="mod">
          <ac:chgData name="Teodora Mihailova" userId="9290194f-4bf5-4abe-a19d-b09ad2cff9d0" providerId="ADAL" clId="{B94039CE-A1B7-458C-84B9-8A4F18AD1B72}" dt="2026-08-27T17:01:34.167" v="658" actId="33524"/>
          <ac:spMkLst>
            <pc:docMk/>
            <pc:sldMk cId="0" sldId="262"/>
            <ac:spMk id="9" creationId="{00000000-0000-0000-0000-000000000000}"/>
          </ac:spMkLst>
        </pc:spChg>
      </pc:sldChg>
      <pc:sldChg chg="modSp mod">
        <pc:chgData name="Teodora Mihailova" userId="9290194f-4bf5-4abe-a19d-b09ad2cff9d0" providerId="ADAL" clId="{B94039CE-A1B7-458C-84B9-8A4F18AD1B72}" dt="2026-08-27T17:02:43.769" v="727" actId="20577"/>
        <pc:sldMkLst>
          <pc:docMk/>
          <pc:sldMk cId="0" sldId="263"/>
        </pc:sldMkLst>
        <pc:spChg chg="mod">
          <ac:chgData name="Teodora Mihailova" userId="9290194f-4bf5-4abe-a19d-b09ad2cff9d0" providerId="ADAL" clId="{B94039CE-A1B7-458C-84B9-8A4F18AD1B72}" dt="2026-08-27T17:02:10.780" v="700" actId="20577"/>
          <ac:spMkLst>
            <pc:docMk/>
            <pc:sldMk cId="0" sldId="263"/>
            <ac:spMk id="3" creationId="{00000000-0000-0000-0000-000000000000}"/>
          </ac:spMkLst>
        </pc:spChg>
        <pc:spChg chg="mod">
          <ac:chgData name="Teodora Mihailova" userId="9290194f-4bf5-4abe-a19d-b09ad2cff9d0" providerId="ADAL" clId="{B94039CE-A1B7-458C-84B9-8A4F18AD1B72}" dt="2026-08-27T17:02:37.650" v="723" actId="20577"/>
          <ac:spMkLst>
            <pc:docMk/>
            <pc:sldMk cId="0" sldId="263"/>
            <ac:spMk id="7" creationId="{00000000-0000-0000-0000-000000000000}"/>
          </ac:spMkLst>
        </pc:spChg>
        <pc:spChg chg="mod">
          <ac:chgData name="Teodora Mihailova" userId="9290194f-4bf5-4abe-a19d-b09ad2cff9d0" providerId="ADAL" clId="{B94039CE-A1B7-458C-84B9-8A4F18AD1B72}" dt="2026-08-27T17:02:27.934" v="710" actId="20577"/>
          <ac:spMkLst>
            <pc:docMk/>
            <pc:sldMk cId="0" sldId="263"/>
            <ac:spMk id="11" creationId="{00000000-0000-0000-0000-000000000000}"/>
          </ac:spMkLst>
        </pc:spChg>
        <pc:spChg chg="mod">
          <ac:chgData name="Teodora Mihailova" userId="9290194f-4bf5-4abe-a19d-b09ad2cff9d0" providerId="ADAL" clId="{B94039CE-A1B7-458C-84B9-8A4F18AD1B72}" dt="2026-08-27T17:02:43.769" v="727" actId="20577"/>
          <ac:spMkLst>
            <pc:docMk/>
            <pc:sldMk cId="0" sldId="263"/>
            <ac:spMk id="15" creationId="{00000000-0000-0000-0000-000000000000}"/>
          </ac:spMkLst>
        </pc:spChg>
      </pc:sldChg>
      <pc:sldChg chg="modSp mod">
        <pc:chgData name="Teodora Mihailova" userId="9290194f-4bf5-4abe-a19d-b09ad2cff9d0" providerId="ADAL" clId="{B94039CE-A1B7-458C-84B9-8A4F18AD1B72}" dt="2026-08-27T17:04:46.796" v="822" actId="20577"/>
        <pc:sldMkLst>
          <pc:docMk/>
          <pc:sldMk cId="0" sldId="264"/>
        </pc:sldMkLst>
        <pc:spChg chg="mod">
          <ac:chgData name="Teodora Mihailova" userId="9290194f-4bf5-4abe-a19d-b09ad2cff9d0" providerId="ADAL" clId="{B94039CE-A1B7-458C-84B9-8A4F18AD1B72}" dt="2026-08-27T17:03:25.051" v="771" actId="20577"/>
          <ac:spMkLst>
            <pc:docMk/>
            <pc:sldMk cId="0" sldId="264"/>
            <ac:spMk id="2" creationId="{00000000-0000-0000-0000-000000000000}"/>
          </ac:spMkLst>
        </pc:spChg>
        <pc:spChg chg="mod">
          <ac:chgData name="Teodora Mihailova" userId="9290194f-4bf5-4abe-a19d-b09ad2cff9d0" providerId="ADAL" clId="{B94039CE-A1B7-458C-84B9-8A4F18AD1B72}" dt="2026-08-27T17:03:53.514" v="813" actId="20577"/>
          <ac:spMkLst>
            <pc:docMk/>
            <pc:sldMk cId="0" sldId="264"/>
            <ac:spMk id="3" creationId="{00000000-0000-0000-0000-000000000000}"/>
          </ac:spMkLst>
        </pc:spChg>
        <pc:spChg chg="mod">
          <ac:chgData name="Teodora Mihailova" userId="9290194f-4bf5-4abe-a19d-b09ad2cff9d0" providerId="ADAL" clId="{B94039CE-A1B7-458C-84B9-8A4F18AD1B72}" dt="2026-08-27T17:04:01.098" v="820" actId="20577"/>
          <ac:spMkLst>
            <pc:docMk/>
            <pc:sldMk cId="0" sldId="264"/>
            <ac:spMk id="5" creationId="{00000000-0000-0000-0000-000000000000}"/>
          </ac:spMkLst>
        </pc:spChg>
        <pc:spChg chg="mod">
          <ac:chgData name="Teodora Mihailova" userId="9290194f-4bf5-4abe-a19d-b09ad2cff9d0" providerId="ADAL" clId="{B94039CE-A1B7-458C-84B9-8A4F18AD1B72}" dt="2026-08-27T17:04:46.796" v="822" actId="20577"/>
          <ac:spMkLst>
            <pc:docMk/>
            <pc:sldMk cId="0" sldId="264"/>
            <ac:spMk id="12" creationId="{00000000-0000-0000-0000-000000000000}"/>
          </ac:spMkLst>
        </pc:spChg>
      </pc:sldChg>
      <pc:sldChg chg="modSp mod">
        <pc:chgData name="Teodora Mihailova" userId="9290194f-4bf5-4abe-a19d-b09ad2cff9d0" providerId="ADAL" clId="{B94039CE-A1B7-458C-84B9-8A4F18AD1B72}" dt="2026-08-27T17:08:36.788" v="1236" actId="1036"/>
        <pc:sldMkLst>
          <pc:docMk/>
          <pc:sldMk cId="0" sldId="265"/>
        </pc:sldMkLst>
        <pc:spChg chg="mod">
          <ac:chgData name="Teodora Mihailova" userId="9290194f-4bf5-4abe-a19d-b09ad2cff9d0" providerId="ADAL" clId="{B94039CE-A1B7-458C-84B9-8A4F18AD1B72}" dt="2026-08-27T17:08:36.788" v="1236" actId="1036"/>
          <ac:spMkLst>
            <pc:docMk/>
            <pc:sldMk cId="0" sldId="265"/>
            <ac:spMk id="3" creationId="{00000000-0000-0000-0000-000000000000}"/>
          </ac:spMkLst>
        </pc:spChg>
        <pc:spChg chg="mod">
          <ac:chgData name="Teodora Mihailova" userId="9290194f-4bf5-4abe-a19d-b09ad2cff9d0" providerId="ADAL" clId="{B94039CE-A1B7-458C-84B9-8A4F18AD1B72}" dt="2026-08-27T17:08:36.788" v="1236" actId="1036"/>
          <ac:spMkLst>
            <pc:docMk/>
            <pc:sldMk cId="0" sldId="265"/>
            <ac:spMk id="5" creationId="{00000000-0000-0000-0000-000000000000}"/>
          </ac:spMkLst>
        </pc:spChg>
        <pc:spChg chg="mod">
          <ac:chgData name="Teodora Mihailova" userId="9290194f-4bf5-4abe-a19d-b09ad2cff9d0" providerId="ADAL" clId="{B94039CE-A1B7-458C-84B9-8A4F18AD1B72}" dt="2026-08-27T17:08:36.788" v="1236" actId="1036"/>
          <ac:spMkLst>
            <pc:docMk/>
            <pc:sldMk cId="0" sldId="265"/>
            <ac:spMk id="6" creationId="{00000000-0000-0000-0000-000000000000}"/>
          </ac:spMkLst>
        </pc:spChg>
        <pc:spChg chg="mod">
          <ac:chgData name="Teodora Mihailova" userId="9290194f-4bf5-4abe-a19d-b09ad2cff9d0" providerId="ADAL" clId="{B94039CE-A1B7-458C-84B9-8A4F18AD1B72}" dt="2026-08-27T17:08:36.788" v="1236" actId="1036"/>
          <ac:spMkLst>
            <pc:docMk/>
            <pc:sldMk cId="0" sldId="265"/>
            <ac:spMk id="9" creationId="{00000000-0000-0000-0000-000000000000}"/>
          </ac:spMkLst>
        </pc:spChg>
        <pc:spChg chg="mod">
          <ac:chgData name="Teodora Mihailova" userId="9290194f-4bf5-4abe-a19d-b09ad2cff9d0" providerId="ADAL" clId="{B94039CE-A1B7-458C-84B9-8A4F18AD1B72}" dt="2026-08-27T17:08:36.788" v="1236" actId="1036"/>
          <ac:spMkLst>
            <pc:docMk/>
            <pc:sldMk cId="0" sldId="265"/>
            <ac:spMk id="10" creationId="{00000000-0000-0000-0000-000000000000}"/>
          </ac:spMkLst>
        </pc:spChg>
        <pc:spChg chg="mod">
          <ac:chgData name="Teodora Mihailova" userId="9290194f-4bf5-4abe-a19d-b09ad2cff9d0" providerId="ADAL" clId="{B94039CE-A1B7-458C-84B9-8A4F18AD1B72}" dt="2026-08-27T17:08:36.788" v="1236" actId="1036"/>
          <ac:spMkLst>
            <pc:docMk/>
            <pc:sldMk cId="0" sldId="265"/>
            <ac:spMk id="11" creationId="{00000000-0000-0000-0000-000000000000}"/>
          </ac:spMkLst>
        </pc:spChg>
        <pc:spChg chg="mod">
          <ac:chgData name="Teodora Mihailova" userId="9290194f-4bf5-4abe-a19d-b09ad2cff9d0" providerId="ADAL" clId="{B94039CE-A1B7-458C-84B9-8A4F18AD1B72}" dt="2026-08-27T17:08:36.788" v="1236" actId="1036"/>
          <ac:spMkLst>
            <pc:docMk/>
            <pc:sldMk cId="0" sldId="265"/>
            <ac:spMk id="12" creationId="{00000000-0000-0000-0000-000000000000}"/>
          </ac:spMkLst>
        </pc:spChg>
        <pc:spChg chg="mod">
          <ac:chgData name="Teodora Mihailova" userId="9290194f-4bf5-4abe-a19d-b09ad2cff9d0" providerId="ADAL" clId="{B94039CE-A1B7-458C-84B9-8A4F18AD1B72}" dt="2026-08-27T17:08:36.788" v="1236" actId="1036"/>
          <ac:spMkLst>
            <pc:docMk/>
            <pc:sldMk cId="0" sldId="265"/>
            <ac:spMk id="13" creationId="{00000000-0000-0000-0000-000000000000}"/>
          </ac:spMkLst>
        </pc:spChg>
        <pc:spChg chg="mod">
          <ac:chgData name="Teodora Mihailova" userId="9290194f-4bf5-4abe-a19d-b09ad2cff9d0" providerId="ADAL" clId="{B94039CE-A1B7-458C-84B9-8A4F18AD1B72}" dt="2026-08-27T17:08:36.788" v="1236" actId="1036"/>
          <ac:spMkLst>
            <pc:docMk/>
            <pc:sldMk cId="0" sldId="265"/>
            <ac:spMk id="14" creationId="{00000000-0000-0000-0000-000000000000}"/>
          </ac:spMkLst>
        </pc:spChg>
        <pc:spChg chg="mod">
          <ac:chgData name="Teodora Mihailova" userId="9290194f-4bf5-4abe-a19d-b09ad2cff9d0" providerId="ADAL" clId="{B94039CE-A1B7-458C-84B9-8A4F18AD1B72}" dt="2026-08-27T17:08:36.788" v="1236" actId="1036"/>
          <ac:spMkLst>
            <pc:docMk/>
            <pc:sldMk cId="0" sldId="265"/>
            <ac:spMk id="15" creationId="{00000000-0000-0000-0000-000000000000}"/>
          </ac:spMkLst>
        </pc:spChg>
        <pc:spChg chg="mod">
          <ac:chgData name="Teodora Mihailova" userId="9290194f-4bf5-4abe-a19d-b09ad2cff9d0" providerId="ADAL" clId="{B94039CE-A1B7-458C-84B9-8A4F18AD1B72}" dt="2026-08-27T17:07:13.082" v="1096" actId="1076"/>
          <ac:spMkLst>
            <pc:docMk/>
            <pc:sldMk cId="0" sldId="265"/>
            <ac:spMk id="16" creationId="{00000000-0000-0000-0000-000000000000}"/>
          </ac:spMkLst>
        </pc:spChg>
      </pc:sldChg>
      <pc:sldChg chg="modSp mod">
        <pc:chgData name="Teodora Mihailova" userId="9290194f-4bf5-4abe-a19d-b09ad2cff9d0" providerId="ADAL" clId="{B94039CE-A1B7-458C-84B9-8A4F18AD1B72}" dt="2026-08-27T17:12:46.837" v="1593" actId="115"/>
        <pc:sldMkLst>
          <pc:docMk/>
          <pc:sldMk cId="0" sldId="266"/>
        </pc:sldMkLst>
        <pc:spChg chg="mod">
          <ac:chgData name="Teodora Mihailova" userId="9290194f-4bf5-4abe-a19d-b09ad2cff9d0" providerId="ADAL" clId="{B94039CE-A1B7-458C-84B9-8A4F18AD1B72}" dt="2026-08-27T17:10:13.399" v="1469" actId="1036"/>
          <ac:spMkLst>
            <pc:docMk/>
            <pc:sldMk cId="0" sldId="266"/>
            <ac:spMk id="2" creationId="{00000000-0000-0000-0000-000000000000}"/>
          </ac:spMkLst>
        </pc:spChg>
        <pc:spChg chg="mod">
          <ac:chgData name="Teodora Mihailova" userId="9290194f-4bf5-4abe-a19d-b09ad2cff9d0" providerId="ADAL" clId="{B94039CE-A1B7-458C-84B9-8A4F18AD1B72}" dt="2026-08-27T17:10:13.399" v="1469" actId="1036"/>
          <ac:spMkLst>
            <pc:docMk/>
            <pc:sldMk cId="0" sldId="266"/>
            <ac:spMk id="3" creationId="{00000000-0000-0000-0000-000000000000}"/>
          </ac:spMkLst>
        </pc:spChg>
        <pc:spChg chg="mod">
          <ac:chgData name="Teodora Mihailova" userId="9290194f-4bf5-4abe-a19d-b09ad2cff9d0" providerId="ADAL" clId="{B94039CE-A1B7-458C-84B9-8A4F18AD1B72}" dt="2026-08-27T17:10:23.071" v="1470" actId="20577"/>
          <ac:spMkLst>
            <pc:docMk/>
            <pc:sldMk cId="0" sldId="266"/>
            <ac:spMk id="5" creationId="{00000000-0000-0000-0000-000000000000}"/>
          </ac:spMkLst>
        </pc:spChg>
        <pc:spChg chg="mod">
          <ac:chgData name="Teodora Mihailova" userId="9290194f-4bf5-4abe-a19d-b09ad2cff9d0" providerId="ADAL" clId="{B94039CE-A1B7-458C-84B9-8A4F18AD1B72}" dt="2026-08-27T17:11:30.153" v="1511" actId="20577"/>
          <ac:spMkLst>
            <pc:docMk/>
            <pc:sldMk cId="0" sldId="266"/>
            <ac:spMk id="6" creationId="{00000000-0000-0000-0000-000000000000}"/>
          </ac:spMkLst>
        </pc:spChg>
        <pc:spChg chg="mod">
          <ac:chgData name="Teodora Mihailova" userId="9290194f-4bf5-4abe-a19d-b09ad2cff9d0" providerId="ADAL" clId="{B94039CE-A1B7-458C-84B9-8A4F18AD1B72}" dt="2026-08-27T17:10:25.380" v="1471" actId="20577"/>
          <ac:spMkLst>
            <pc:docMk/>
            <pc:sldMk cId="0" sldId="266"/>
            <ac:spMk id="8" creationId="{00000000-0000-0000-0000-000000000000}"/>
          </ac:spMkLst>
        </pc:spChg>
        <pc:spChg chg="mod">
          <ac:chgData name="Teodora Mihailova" userId="9290194f-4bf5-4abe-a19d-b09ad2cff9d0" providerId="ADAL" clId="{B94039CE-A1B7-458C-84B9-8A4F18AD1B72}" dt="2026-08-27T17:11:52.937" v="1531" actId="20577"/>
          <ac:spMkLst>
            <pc:docMk/>
            <pc:sldMk cId="0" sldId="266"/>
            <ac:spMk id="9" creationId="{00000000-0000-0000-0000-000000000000}"/>
          </ac:spMkLst>
        </pc:spChg>
        <pc:spChg chg="mod">
          <ac:chgData name="Teodora Mihailova" userId="9290194f-4bf5-4abe-a19d-b09ad2cff9d0" providerId="ADAL" clId="{B94039CE-A1B7-458C-84B9-8A4F18AD1B72}" dt="2026-08-27T17:12:41.330" v="1588" actId="20577"/>
          <ac:spMkLst>
            <pc:docMk/>
            <pc:sldMk cId="0" sldId="266"/>
            <ac:spMk id="12" creationId="{00000000-0000-0000-0000-000000000000}"/>
          </ac:spMkLst>
        </pc:spChg>
        <pc:spChg chg="mod">
          <ac:chgData name="Teodora Mihailova" userId="9290194f-4bf5-4abe-a19d-b09ad2cff9d0" providerId="ADAL" clId="{B94039CE-A1B7-458C-84B9-8A4F18AD1B72}" dt="2026-08-27T17:12:46.837" v="1593" actId="115"/>
          <ac:spMkLst>
            <pc:docMk/>
            <pc:sldMk cId="0" sldId="266"/>
            <ac:spMk id="13" creationId="{00000000-0000-0000-0000-000000000000}"/>
          </ac:spMkLst>
        </pc:spChg>
      </pc:sldChg>
      <pc:sldChg chg="modSp mod">
        <pc:chgData name="Teodora Mihailova" userId="9290194f-4bf5-4abe-a19d-b09ad2cff9d0" providerId="ADAL" clId="{B94039CE-A1B7-458C-84B9-8A4F18AD1B72}" dt="2026-08-27T17:13:55.009" v="1658" actId="20577"/>
        <pc:sldMkLst>
          <pc:docMk/>
          <pc:sldMk cId="0" sldId="267"/>
        </pc:sldMkLst>
        <pc:spChg chg="mod">
          <ac:chgData name="Teodora Mihailova" userId="9290194f-4bf5-4abe-a19d-b09ad2cff9d0" providerId="ADAL" clId="{B94039CE-A1B7-458C-84B9-8A4F18AD1B72}" dt="2026-08-27T17:13:10.367" v="1609" actId="20577"/>
          <ac:spMkLst>
            <pc:docMk/>
            <pc:sldMk cId="0" sldId="267"/>
            <ac:spMk id="3" creationId="{00000000-0000-0000-0000-000000000000}"/>
          </ac:spMkLst>
        </pc:spChg>
        <pc:spChg chg="mod">
          <ac:chgData name="Teodora Mihailova" userId="9290194f-4bf5-4abe-a19d-b09ad2cff9d0" providerId="ADAL" clId="{B94039CE-A1B7-458C-84B9-8A4F18AD1B72}" dt="2026-08-27T17:13:34.909" v="1642" actId="20577"/>
          <ac:spMkLst>
            <pc:docMk/>
            <pc:sldMk cId="0" sldId="267"/>
            <ac:spMk id="7" creationId="{00000000-0000-0000-0000-000000000000}"/>
          </ac:spMkLst>
        </pc:spChg>
        <pc:spChg chg="mod">
          <ac:chgData name="Teodora Mihailova" userId="9290194f-4bf5-4abe-a19d-b09ad2cff9d0" providerId="ADAL" clId="{B94039CE-A1B7-458C-84B9-8A4F18AD1B72}" dt="2026-08-27T17:13:48.527" v="1651" actId="20577"/>
          <ac:spMkLst>
            <pc:docMk/>
            <pc:sldMk cId="0" sldId="267"/>
            <ac:spMk id="11" creationId="{00000000-0000-0000-0000-000000000000}"/>
          </ac:spMkLst>
        </pc:spChg>
        <pc:spChg chg="mod">
          <ac:chgData name="Teodora Mihailova" userId="9290194f-4bf5-4abe-a19d-b09ad2cff9d0" providerId="ADAL" clId="{B94039CE-A1B7-458C-84B9-8A4F18AD1B72}" dt="2026-08-27T17:13:55.009" v="1658" actId="20577"/>
          <ac:spMkLst>
            <pc:docMk/>
            <pc:sldMk cId="0" sldId="267"/>
            <ac:spMk id="12" creationId="{00000000-0000-0000-0000-000000000000}"/>
          </ac:spMkLst>
        </pc:spChg>
      </pc:sldChg>
      <pc:sldChg chg="modSp mod">
        <pc:chgData name="Teodora Mihailova" userId="9290194f-4bf5-4abe-a19d-b09ad2cff9d0" providerId="ADAL" clId="{B94039CE-A1B7-458C-84B9-8A4F18AD1B72}" dt="2026-08-27T17:14:46.966" v="1676" actId="20577"/>
        <pc:sldMkLst>
          <pc:docMk/>
          <pc:sldMk cId="0" sldId="268"/>
        </pc:sldMkLst>
        <pc:spChg chg="mod">
          <ac:chgData name="Teodora Mihailova" userId="9290194f-4bf5-4abe-a19d-b09ad2cff9d0" providerId="ADAL" clId="{B94039CE-A1B7-458C-84B9-8A4F18AD1B72}" dt="2026-08-27T17:14:22.233" v="1675" actId="20577"/>
          <ac:spMkLst>
            <pc:docMk/>
            <pc:sldMk cId="0" sldId="268"/>
            <ac:spMk id="3" creationId="{00000000-0000-0000-0000-000000000000}"/>
          </ac:spMkLst>
        </pc:spChg>
        <pc:spChg chg="mod">
          <ac:chgData name="Teodora Mihailova" userId="9290194f-4bf5-4abe-a19d-b09ad2cff9d0" providerId="ADAL" clId="{B94039CE-A1B7-458C-84B9-8A4F18AD1B72}" dt="2026-08-27T17:14:46.966" v="1676" actId="20577"/>
          <ac:spMkLst>
            <pc:docMk/>
            <pc:sldMk cId="0" sldId="268"/>
            <ac:spMk id="20" creationId="{00000000-0000-0000-0000-000000000000}"/>
          </ac:spMkLst>
        </pc:spChg>
      </pc:sldChg>
      <pc:sldChg chg="modSp mod">
        <pc:chgData name="Teodora Mihailova" userId="9290194f-4bf5-4abe-a19d-b09ad2cff9d0" providerId="ADAL" clId="{B94039CE-A1B7-458C-84B9-8A4F18AD1B72}" dt="2026-08-27T17:19:31.083" v="1703" actId="207"/>
        <pc:sldMkLst>
          <pc:docMk/>
          <pc:sldMk cId="0" sldId="269"/>
        </pc:sldMkLst>
        <pc:spChg chg="mod">
          <ac:chgData name="Teodora Mihailova" userId="9290194f-4bf5-4abe-a19d-b09ad2cff9d0" providerId="ADAL" clId="{B94039CE-A1B7-458C-84B9-8A4F18AD1B72}" dt="2026-08-27T17:19:31.083" v="1703" actId="207"/>
          <ac:spMkLst>
            <pc:docMk/>
            <pc:sldMk cId="0" sldId="269"/>
            <ac:spMk id="19" creationId="{00000000-0000-0000-0000-000000000000}"/>
          </ac:spMkLst>
        </pc:spChg>
        <pc:spChg chg="mod">
          <ac:chgData name="Teodora Mihailova" userId="9290194f-4bf5-4abe-a19d-b09ad2cff9d0" providerId="ADAL" clId="{B94039CE-A1B7-458C-84B9-8A4F18AD1B72}" dt="2026-08-27T17:19:07.564" v="1701" actId="20577"/>
          <ac:spMkLst>
            <pc:docMk/>
            <pc:sldMk cId="0" sldId="269"/>
            <ac:spMk id="20" creationId="{00000000-0000-0000-0000-000000000000}"/>
          </ac:spMkLst>
        </pc:spChg>
        <pc:spChg chg="mod">
          <ac:chgData name="Teodora Mihailova" userId="9290194f-4bf5-4abe-a19d-b09ad2cff9d0" providerId="ADAL" clId="{B94039CE-A1B7-458C-84B9-8A4F18AD1B72}" dt="2026-08-27T17:18:47.464" v="1691" actId="207"/>
          <ac:spMkLst>
            <pc:docMk/>
            <pc:sldMk cId="0" sldId="269"/>
            <ac:spMk id="21" creationId="{00000000-0000-0000-0000-000000000000}"/>
          </ac:spMkLst>
        </pc:spChg>
      </pc:sldChg>
      <pc:sldChg chg="modSp mod">
        <pc:chgData name="Teodora Mihailova" userId="9290194f-4bf5-4abe-a19d-b09ad2cff9d0" providerId="ADAL" clId="{B94039CE-A1B7-458C-84B9-8A4F18AD1B72}" dt="2026-08-27T17:21:34.329" v="1859" actId="14100"/>
        <pc:sldMkLst>
          <pc:docMk/>
          <pc:sldMk cId="0" sldId="275"/>
        </pc:sldMkLst>
        <pc:spChg chg="mod">
          <ac:chgData name="Teodora Mihailova" userId="9290194f-4bf5-4abe-a19d-b09ad2cff9d0" providerId="ADAL" clId="{B94039CE-A1B7-458C-84B9-8A4F18AD1B72}" dt="2026-08-27T17:19:55.258" v="1725" actId="20577"/>
          <ac:spMkLst>
            <pc:docMk/>
            <pc:sldMk cId="0" sldId="275"/>
            <ac:spMk id="2" creationId="{00000000-0000-0000-0000-000000000000}"/>
          </ac:spMkLst>
        </pc:spChg>
        <pc:spChg chg="mod">
          <ac:chgData name="Teodora Mihailova" userId="9290194f-4bf5-4abe-a19d-b09ad2cff9d0" providerId="ADAL" clId="{B94039CE-A1B7-458C-84B9-8A4F18AD1B72}" dt="2026-08-27T17:21:06.488" v="1841" actId="20577"/>
          <ac:spMkLst>
            <pc:docMk/>
            <pc:sldMk cId="0" sldId="275"/>
            <ac:spMk id="3" creationId="{00000000-0000-0000-0000-000000000000}"/>
          </ac:spMkLst>
        </pc:spChg>
        <pc:spChg chg="mod">
          <ac:chgData name="Teodora Mihailova" userId="9290194f-4bf5-4abe-a19d-b09ad2cff9d0" providerId="ADAL" clId="{B94039CE-A1B7-458C-84B9-8A4F18AD1B72}" dt="2026-08-27T17:21:34.329" v="1859" actId="14100"/>
          <ac:spMkLst>
            <pc:docMk/>
            <pc:sldMk cId="0" sldId="275"/>
            <ac:spMk id="15" creationId="{00000000-0000-0000-0000-000000000000}"/>
          </ac:spMkLst>
        </pc:spChg>
      </pc:sldChg>
      <pc:sldChg chg="modSp mod">
        <pc:chgData name="Teodora Mihailova" userId="9290194f-4bf5-4abe-a19d-b09ad2cff9d0" providerId="ADAL" clId="{B94039CE-A1B7-458C-84B9-8A4F18AD1B72}" dt="2026-08-27T17:23:04.596" v="1975" actId="20577"/>
        <pc:sldMkLst>
          <pc:docMk/>
          <pc:sldMk cId="0" sldId="276"/>
        </pc:sldMkLst>
        <pc:spChg chg="mod">
          <ac:chgData name="Teodora Mihailova" userId="9290194f-4bf5-4abe-a19d-b09ad2cff9d0" providerId="ADAL" clId="{B94039CE-A1B7-458C-84B9-8A4F18AD1B72}" dt="2026-08-27T17:21:54.905" v="1874" actId="6549"/>
          <ac:spMkLst>
            <pc:docMk/>
            <pc:sldMk cId="0" sldId="276"/>
            <ac:spMk id="3" creationId="{00000000-0000-0000-0000-000000000000}"/>
          </ac:spMkLst>
        </pc:spChg>
        <pc:spChg chg="mod">
          <ac:chgData name="Teodora Mihailova" userId="9290194f-4bf5-4abe-a19d-b09ad2cff9d0" providerId="ADAL" clId="{B94039CE-A1B7-458C-84B9-8A4F18AD1B72}" dt="2026-08-27T17:22:07.005" v="1878" actId="20577"/>
          <ac:spMkLst>
            <pc:docMk/>
            <pc:sldMk cId="0" sldId="276"/>
            <ac:spMk id="11" creationId="{00000000-0000-0000-0000-000000000000}"/>
          </ac:spMkLst>
        </pc:spChg>
        <pc:spChg chg="mod">
          <ac:chgData name="Teodora Mihailova" userId="9290194f-4bf5-4abe-a19d-b09ad2cff9d0" providerId="ADAL" clId="{B94039CE-A1B7-458C-84B9-8A4F18AD1B72}" dt="2026-08-27T17:23:04.596" v="1975" actId="20577"/>
          <ac:spMkLst>
            <pc:docMk/>
            <pc:sldMk cId="0" sldId="276"/>
            <ac:spMk id="1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3F42D-53DC-E1E3-A73C-7EF8508D53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ADA098-3347-85AB-7B9C-C1235E3A1E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03CA5B-D779-8BB4-ABAA-34D92DFFF987}"/>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5" name="Footer Placeholder 4">
            <a:extLst>
              <a:ext uri="{FF2B5EF4-FFF2-40B4-BE49-F238E27FC236}">
                <a16:creationId xmlns:a16="http://schemas.microsoft.com/office/drawing/2014/main" id="{995FE053-9054-9908-1BB2-3D78427E4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0B04E-0C93-18F6-93C3-725B98B454B6}"/>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181006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9D83-9505-9739-CB19-DB8FDEEE99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E50113-5ED7-F29A-2872-168EDBFCF1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DAF95E-4448-3CD9-5AD9-CAE703F90503}"/>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5" name="Footer Placeholder 4">
            <a:extLst>
              <a:ext uri="{FF2B5EF4-FFF2-40B4-BE49-F238E27FC236}">
                <a16:creationId xmlns:a16="http://schemas.microsoft.com/office/drawing/2014/main" id="{C42ABA0B-822D-9931-C10C-3A4CA07DF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E42298-C1F1-6BF6-6CBB-CFCD005418CB}"/>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2369977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F682-E90B-48F4-F6BC-755F734616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0C7EC8-8423-43D2-5AAE-C1A8FC2FA0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084910-C397-9B7B-1EF0-F01EA0056BCD}"/>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5" name="Footer Placeholder 4">
            <a:extLst>
              <a:ext uri="{FF2B5EF4-FFF2-40B4-BE49-F238E27FC236}">
                <a16:creationId xmlns:a16="http://schemas.microsoft.com/office/drawing/2014/main" id="{04820266-804E-4672-8ECF-D141BB910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A76CC4-78B9-224E-5EE1-DFBB4FFF53CF}"/>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2069172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7BC3E-ECB6-A36A-FE84-401BE69D04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52E4A0-58DB-51E8-FFF5-6B6E7D4E1B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67EA9B-3912-185F-5B3E-B44CA16F99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6DF44-CFA4-EF47-F399-64CB977F8713}"/>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6" name="Footer Placeholder 5">
            <a:extLst>
              <a:ext uri="{FF2B5EF4-FFF2-40B4-BE49-F238E27FC236}">
                <a16:creationId xmlns:a16="http://schemas.microsoft.com/office/drawing/2014/main" id="{C6CBD4D3-F544-7157-24F5-31AC4F19F2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2554C8-5645-8F76-5FBD-583211F2D56C}"/>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267108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61A38-F64B-BFC2-4040-E53E0AB69C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012AE6-50B0-C3AF-64BA-F9B217573C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0506D7-457D-3156-8CF1-287607DC1C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9A8E47-FC5B-A27A-3E7C-C19A772225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2AE66B-EFD1-7902-E13D-B24A3C66FF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A52A5D-A7F0-BF25-0DC8-16D5E7C59E88}"/>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8" name="Footer Placeholder 7">
            <a:extLst>
              <a:ext uri="{FF2B5EF4-FFF2-40B4-BE49-F238E27FC236}">
                <a16:creationId xmlns:a16="http://schemas.microsoft.com/office/drawing/2014/main" id="{EF2706D5-719A-6538-5B14-EEA217CB83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344D45-E910-4E03-5AF9-24B7D85443A0}"/>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3893805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CD22-1F5A-A714-493D-3B30BA638AB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73D732-F3B0-DC5B-46EF-58E175B1F14E}"/>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4" name="Footer Placeholder 3">
            <a:extLst>
              <a:ext uri="{FF2B5EF4-FFF2-40B4-BE49-F238E27FC236}">
                <a16:creationId xmlns:a16="http://schemas.microsoft.com/office/drawing/2014/main" id="{62F7992B-254F-8A85-BF6D-86DB63C961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45A7DC-9368-9209-68C4-B6BD527E62D7}"/>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690167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13E447-2502-A3EC-31E8-9206DD127188}"/>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3" name="Footer Placeholder 2">
            <a:extLst>
              <a:ext uri="{FF2B5EF4-FFF2-40B4-BE49-F238E27FC236}">
                <a16:creationId xmlns:a16="http://schemas.microsoft.com/office/drawing/2014/main" id="{C9609B7E-B88B-826A-2A82-B6A5BC2961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DC3A8F-8902-3871-FA48-9612CC2BBFA1}"/>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1941507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9E494-9F7E-B273-02F2-6766E76E9E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42C0C7-33C4-C199-A40D-DB7F37C579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6AD6E6-455B-3F47-D376-97483792E2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35605C-D42B-590C-9153-E6B1474365AD}"/>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6" name="Footer Placeholder 5">
            <a:extLst>
              <a:ext uri="{FF2B5EF4-FFF2-40B4-BE49-F238E27FC236}">
                <a16:creationId xmlns:a16="http://schemas.microsoft.com/office/drawing/2014/main" id="{5DA91BA5-7989-A456-2E89-30A3DB103C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322888-3468-CE52-0532-06280D51C3D0}"/>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3014581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AE9B-A274-E98C-BA42-A6F7E9C4D7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E74957-DA62-C395-DB8F-EE5EA990A9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A6A6EC-FAD0-1A79-659F-6252227CA9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30366-1DFA-F332-108D-D57533AF415B}"/>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6" name="Footer Placeholder 5">
            <a:extLst>
              <a:ext uri="{FF2B5EF4-FFF2-40B4-BE49-F238E27FC236}">
                <a16:creationId xmlns:a16="http://schemas.microsoft.com/office/drawing/2014/main" id="{C75D4A16-57DF-7D21-2DC7-F627A2E84B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67FC3E-0366-074C-C86F-FCC9F1AC620F}"/>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1170392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B0F40-B4BF-7837-FFD4-4B6C6DD87C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862ABB-3DE6-B8AC-614B-C3B6E82025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779CA6-C0CB-7AB0-1AAA-511969A6F7E7}"/>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5" name="Footer Placeholder 4">
            <a:extLst>
              <a:ext uri="{FF2B5EF4-FFF2-40B4-BE49-F238E27FC236}">
                <a16:creationId xmlns:a16="http://schemas.microsoft.com/office/drawing/2014/main" id="{4206AA44-3758-315C-3528-3F132F6E3B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760EF-9A88-40E7-7ED2-F7490EA6701B}"/>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1241077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C11FFB-FDA7-8564-B295-9BE2BC2361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800023-3D1F-C0B4-8B68-6D9505C4DD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0DEB9E-1B90-99F7-6811-22C0426C98F6}"/>
              </a:ext>
            </a:extLst>
          </p:cNvPr>
          <p:cNvSpPr>
            <a:spLocks noGrp="1"/>
          </p:cNvSpPr>
          <p:nvPr>
            <p:ph type="dt" sz="half" idx="10"/>
          </p:nvPr>
        </p:nvSpPr>
        <p:spPr/>
        <p:txBody>
          <a:bodyPr/>
          <a:lstStyle/>
          <a:p>
            <a:fld id="{F1AB6140-452B-430F-823F-A1AFF71B9992}" type="datetimeFigureOut">
              <a:rPr lang="en-US" smtClean="0"/>
              <a:t>8/27/2026</a:t>
            </a:fld>
            <a:endParaRPr lang="en-US"/>
          </a:p>
        </p:txBody>
      </p:sp>
      <p:sp>
        <p:nvSpPr>
          <p:cNvPr id="5" name="Footer Placeholder 4">
            <a:extLst>
              <a:ext uri="{FF2B5EF4-FFF2-40B4-BE49-F238E27FC236}">
                <a16:creationId xmlns:a16="http://schemas.microsoft.com/office/drawing/2014/main" id="{F9D1ABFA-CC09-F36B-CD64-E7062B3BB5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DE5661-3E6E-5353-866B-D621B8106469}"/>
              </a:ext>
            </a:extLst>
          </p:cNvPr>
          <p:cNvSpPr>
            <a:spLocks noGrp="1"/>
          </p:cNvSpPr>
          <p:nvPr>
            <p:ph type="sldNum" sz="quarter" idx="12"/>
          </p:nvPr>
        </p:nvSpPr>
        <p:spPr/>
        <p:txBody>
          <a:bodyPr/>
          <a:lstStyle/>
          <a:p>
            <a:fld id="{CF425FF1-BCDA-456A-8977-9687710E0895}" type="slidenum">
              <a:rPr lang="en-US" smtClean="0"/>
              <a:t>‹#›</a:t>
            </a:fld>
            <a:endParaRPr lang="en-US"/>
          </a:p>
        </p:txBody>
      </p:sp>
    </p:spTree>
    <p:extLst>
      <p:ext uri="{BB962C8B-B14F-4D97-AF65-F5344CB8AC3E}">
        <p14:creationId xmlns:p14="http://schemas.microsoft.com/office/powerpoint/2010/main" val="2628068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A31EA3-74FA-7E8D-4A33-E73811F346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F2DD3E-525F-744E-D8D5-F57AD06128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ABE4CF-6962-D3E2-EEBA-EBDC7C2101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AB6140-452B-430F-823F-A1AFF71B9992}" type="datetimeFigureOut">
              <a:rPr lang="en-US" smtClean="0"/>
              <a:t>8/27/2026</a:t>
            </a:fld>
            <a:endParaRPr lang="en-US"/>
          </a:p>
        </p:txBody>
      </p:sp>
      <p:sp>
        <p:nvSpPr>
          <p:cNvPr id="5" name="Footer Placeholder 4">
            <a:extLst>
              <a:ext uri="{FF2B5EF4-FFF2-40B4-BE49-F238E27FC236}">
                <a16:creationId xmlns:a16="http://schemas.microsoft.com/office/drawing/2014/main" id="{EEEF8ED8-812F-6116-4C44-C261DF93D7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F2F12B-BE60-FEB3-2E46-5429378BFB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425FF1-BCDA-456A-8977-9687710E0895}" type="slidenum">
              <a:rPr lang="en-US" smtClean="0"/>
              <a:t>‹#›</a:t>
            </a:fld>
            <a:endParaRPr lang="en-US"/>
          </a:p>
        </p:txBody>
      </p:sp>
    </p:spTree>
    <p:extLst>
      <p:ext uri="{BB962C8B-B14F-4D97-AF65-F5344CB8AC3E}">
        <p14:creationId xmlns:p14="http://schemas.microsoft.com/office/powerpoint/2010/main" val="4101703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npr.org/2026/08/26/nx-s1-5944781/meta-settlement-child-safety-lawsuit"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emporiagazette.com/free/article_3647cfe5-14e3-4e67-bbd2-f34992d9d6b9.html"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fortune.com/2026/01/08/google-character-ai-settle-lawsuits-teenage-child-suicides-chatbots/" TargetMode="External"/><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g.ny.gov/press-release/2026/attorney-general-james-secures-18-million-23andme-failing-protect-customers" TargetMode="External"/><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techcrunch.com/2026/07/20/anthropics-landmark-1-5b-copyright-settlement-is-approved/" TargetMode="External"/><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Oval 2"/>
          <p:cNvSpPr/>
          <p:nvPr/>
        </p:nvSpPr>
        <p:spPr>
          <a:xfrm>
            <a:off x="8763000" y="-1397000"/>
            <a:ext cx="5461000" cy="5461000"/>
          </a:xfrm>
          <a:prstGeom prst="ellipse">
            <a:avLst/>
          </a:prstGeom>
          <a:noFill/>
          <a:ln w="19050" cap="flat" cmpd="sng" algn="ctr">
            <a:solidFill>
              <a:srgbClr val="D4AF37">
                <a:alpha val="35000"/>
              </a:srgbClr>
            </a:solidFill>
            <a:prstDash val="solid"/>
          </a:ln>
          <a:effectLst/>
        </p:spPr>
        <p:txBody>
          <a:bodyPr rtlCol="0" anchor="ctr"/>
          <a:lstStyle/>
          <a:p>
            <a:pPr algn="ctr"/>
            <a:endParaRPr lang="en-US"/>
          </a:p>
        </p:txBody>
      </p:sp>
      <p:sp>
        <p:nvSpPr>
          <p:cNvPr id="3" name="Oval 3"/>
          <p:cNvSpPr/>
          <p:nvPr/>
        </p:nvSpPr>
        <p:spPr>
          <a:xfrm>
            <a:off x="9906000" y="3048000"/>
            <a:ext cx="3810000" cy="3810000"/>
          </a:xfrm>
          <a:prstGeom prst="ellipse">
            <a:avLst/>
          </a:prstGeom>
          <a:noFill/>
          <a:ln w="19050" cap="flat" cmpd="sng" algn="ctr">
            <a:solidFill>
              <a:srgbClr val="D4AF37">
                <a:alpha val="20000"/>
              </a:srgbClr>
            </a:solidFill>
            <a:prstDash val="solid"/>
          </a:ln>
          <a:effectLst/>
        </p:spPr>
        <p:txBody>
          <a:bodyPr rtlCol="0" anchor="ctr"/>
          <a:lstStyle/>
          <a:p>
            <a:pPr algn="ctr"/>
            <a:endParaRPr lang="en-US"/>
          </a:p>
        </p:txBody>
      </p:sp>
      <p:sp>
        <p:nvSpPr>
          <p:cNvPr id="4" name="TextBox 4"/>
          <p:cNvSpPr txBox="1"/>
          <p:nvPr/>
        </p:nvSpPr>
        <p:spPr>
          <a:xfrm>
            <a:off x="812800" y="1498600"/>
            <a:ext cx="8890000" cy="369332"/>
          </a:xfrm>
          <a:prstGeom prst="rect">
            <a:avLst/>
          </a:prstGeom>
          <a:noFill/>
        </p:spPr>
        <p:txBody>
          <a:bodyPr vert="horz" wrap="square" lIns="0" tIns="0" rIns="0" bIns="0" rtlCol="0" anchor="t">
            <a:noAutofit/>
          </a:bodyPr>
          <a:lstStyle/>
          <a:p>
            <a:pPr>
              <a:lnSpc>
                <a:spcPct val="100000"/>
              </a:lnSpc>
            </a:pPr>
            <a:r>
              <a:rPr lang="en-US" sz="1500" b="1">
                <a:solidFill>
                  <a:srgbClr val="D4AF37"/>
                </a:solidFill>
                <a:latin typeface="Calibri"/>
                <a:cs typeface="Calibri"/>
              </a:rPr>
              <a:t>LAB 2   EXERCISE</a:t>
            </a:r>
          </a:p>
        </p:txBody>
      </p:sp>
      <p:sp>
        <p:nvSpPr>
          <p:cNvPr id="5" name="TextBox 5"/>
          <p:cNvSpPr txBox="1"/>
          <p:nvPr/>
        </p:nvSpPr>
        <p:spPr>
          <a:xfrm>
            <a:off x="812800" y="1930400"/>
            <a:ext cx="8382000" cy="369332"/>
          </a:xfrm>
          <a:prstGeom prst="rect">
            <a:avLst/>
          </a:prstGeom>
          <a:noFill/>
        </p:spPr>
        <p:txBody>
          <a:bodyPr vert="horz" wrap="square" lIns="0" tIns="0" rIns="0" bIns="0" rtlCol="0" anchor="t">
            <a:noAutofit/>
          </a:bodyPr>
          <a:lstStyle/>
          <a:p>
            <a:pPr>
              <a:lnSpc>
                <a:spcPct val="95000"/>
              </a:lnSpc>
            </a:pPr>
            <a:r>
              <a:rPr lang="en-US" sz="5200" b="1" dirty="0">
                <a:solidFill>
                  <a:srgbClr val="E9CD7A"/>
                </a:solidFill>
                <a:latin typeface="Cambria"/>
                <a:cs typeface="Cambria"/>
              </a:rPr>
              <a:t>Find Out What</a:t>
            </a:r>
          </a:p>
          <a:p>
            <a:pPr>
              <a:lnSpc>
                <a:spcPct val="95000"/>
              </a:lnSpc>
            </a:pPr>
            <a:r>
              <a:rPr lang="en-US" sz="5200" b="1" i="1" dirty="0">
                <a:solidFill>
                  <a:srgbClr val="D4AF37"/>
                </a:solidFill>
                <a:latin typeface="Cambria"/>
                <a:cs typeface="Cambria"/>
              </a:rPr>
              <a:t>Actually</a:t>
            </a:r>
            <a:r>
              <a:rPr lang="en-US" sz="5200" b="1" dirty="0">
                <a:solidFill>
                  <a:srgbClr val="E9CD7A"/>
                </a:solidFill>
                <a:latin typeface="Cambria"/>
                <a:cs typeface="Cambria"/>
              </a:rPr>
              <a:t> Happened</a:t>
            </a:r>
          </a:p>
        </p:txBody>
      </p:sp>
      <p:sp>
        <p:nvSpPr>
          <p:cNvPr id="6" name="TextBox 6"/>
          <p:cNvSpPr txBox="1"/>
          <p:nvPr/>
        </p:nvSpPr>
        <p:spPr>
          <a:xfrm>
            <a:off x="812800" y="4648200"/>
            <a:ext cx="8585200" cy="369332"/>
          </a:xfrm>
          <a:prstGeom prst="rect">
            <a:avLst/>
          </a:prstGeom>
          <a:noFill/>
        </p:spPr>
        <p:txBody>
          <a:bodyPr vert="horz" wrap="square" lIns="0" tIns="0" rIns="0" bIns="0" rtlCol="0" anchor="t">
            <a:noAutofit/>
          </a:bodyPr>
          <a:lstStyle/>
          <a:p>
            <a:pPr>
              <a:lnSpc>
                <a:spcPct val="125000"/>
              </a:lnSpc>
            </a:pPr>
            <a:r>
              <a:rPr lang="en-US" sz="2100" dirty="0">
                <a:solidFill>
                  <a:srgbClr val="F4F1E9"/>
                </a:solidFill>
                <a:latin typeface="Calibri"/>
                <a:cs typeface="Calibri"/>
              </a:rPr>
              <a:t>Five real technology ethics cases. </a:t>
            </a:r>
            <a:br>
              <a:rPr lang="en-US" sz="2100" dirty="0">
                <a:solidFill>
                  <a:srgbClr val="F4F1E9"/>
                </a:solidFill>
                <a:latin typeface="Calibri"/>
                <a:cs typeface="Calibri"/>
              </a:rPr>
            </a:br>
            <a:r>
              <a:rPr lang="en-US" sz="2100" dirty="0">
                <a:solidFill>
                  <a:srgbClr val="F4F1E9"/>
                </a:solidFill>
                <a:latin typeface="Calibri"/>
                <a:cs typeface="Calibri"/>
              </a:rPr>
              <a:t>Dig into one, check every claim, and teach the rest of us what you found.</a:t>
            </a:r>
          </a:p>
        </p:txBody>
      </p:sp>
      <p:sp>
        <p:nvSpPr>
          <p:cNvPr id="7" name="TextBox 7"/>
          <p:cNvSpPr txBox="1"/>
          <p:nvPr/>
        </p:nvSpPr>
        <p:spPr>
          <a:xfrm>
            <a:off x="812800" y="5740400"/>
            <a:ext cx="7874000" cy="369332"/>
          </a:xfrm>
          <a:prstGeom prst="rect">
            <a:avLst/>
          </a:prstGeom>
          <a:noFill/>
        </p:spPr>
        <p:txBody>
          <a:bodyPr vert="horz" wrap="square" lIns="0" tIns="0" rIns="0" bIns="0" rtlCol="0" anchor="t">
            <a:noAutofit/>
          </a:bodyPr>
          <a:lstStyle/>
          <a:p>
            <a:pPr>
              <a:lnSpc>
                <a:spcPct val="100000"/>
              </a:lnSpc>
            </a:pPr>
            <a:r>
              <a:rPr lang="en-US" sz="1500">
                <a:solidFill>
                  <a:srgbClr val="ADA48E"/>
                </a:solidFill>
                <a:latin typeface="Calibri"/>
                <a:cs typeface="Calibri"/>
              </a:rPr>
              <a:t>Communication &amp; Emerging Technology   |   Group Assignment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930870"/>
            <a:ext cx="10566400" cy="369332"/>
          </a:xfrm>
          <a:prstGeom prst="rect">
            <a:avLst/>
          </a:prstGeom>
          <a:noFill/>
        </p:spPr>
        <p:txBody>
          <a:bodyPr vert="horz" wrap="square" lIns="0" tIns="0" rIns="0" bIns="0" rtlCol="0" anchor="t">
            <a:noAutofit/>
          </a:bodyPr>
          <a:lstStyle/>
          <a:p>
            <a:pPr>
              <a:lnSpc>
                <a:spcPct val="100000"/>
              </a:lnSpc>
            </a:pPr>
            <a:r>
              <a:rPr lang="en-US" sz="4000" b="1" dirty="0">
                <a:solidFill>
                  <a:srgbClr val="E9CD7A"/>
                </a:solidFill>
                <a:latin typeface="Cambria"/>
                <a:cs typeface="Cambria"/>
              </a:rPr>
              <a:t>The assignment</a:t>
            </a:r>
          </a:p>
        </p:txBody>
      </p:sp>
      <p:sp>
        <p:nvSpPr>
          <p:cNvPr id="3" name="TextBox 3"/>
          <p:cNvSpPr txBox="1"/>
          <p:nvPr/>
        </p:nvSpPr>
        <p:spPr>
          <a:xfrm>
            <a:off x="812800" y="1815068"/>
            <a:ext cx="8890000" cy="369332"/>
          </a:xfrm>
          <a:prstGeom prst="rect">
            <a:avLst/>
          </a:prstGeom>
          <a:noFill/>
        </p:spPr>
        <p:txBody>
          <a:bodyPr vert="horz" wrap="square" lIns="0" tIns="0" rIns="0" bIns="0" rtlCol="0" anchor="t">
            <a:noAutofit/>
          </a:bodyPr>
          <a:lstStyle/>
          <a:p>
            <a:pPr>
              <a:lnSpc>
                <a:spcPct val="100000"/>
              </a:lnSpc>
            </a:pPr>
            <a:r>
              <a:rPr lang="en-US" sz="2200" dirty="0">
                <a:solidFill>
                  <a:srgbClr val="ADA48E"/>
                </a:solidFill>
                <a:latin typeface="Calibri"/>
                <a:cs typeface="Calibri"/>
              </a:rPr>
              <a:t>You are going to use Claude to facilitate your research and create a resource to teach the class what you found.</a:t>
            </a:r>
          </a:p>
        </p:txBody>
      </p:sp>
      <p:sp>
        <p:nvSpPr>
          <p:cNvPr id="4" name="Oval 4"/>
          <p:cNvSpPr/>
          <p:nvPr/>
        </p:nvSpPr>
        <p:spPr>
          <a:xfrm>
            <a:off x="812800" y="2971800"/>
            <a:ext cx="558800" cy="5588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1</a:t>
            </a:r>
          </a:p>
        </p:txBody>
      </p:sp>
      <p:sp>
        <p:nvSpPr>
          <p:cNvPr id="5" name="TextBox 5"/>
          <p:cNvSpPr txBox="1"/>
          <p:nvPr/>
        </p:nvSpPr>
        <p:spPr>
          <a:xfrm>
            <a:off x="1651000" y="2997200"/>
            <a:ext cx="3810000" cy="381000"/>
          </a:xfrm>
          <a:prstGeom prst="rect">
            <a:avLst/>
          </a:prstGeom>
          <a:noFill/>
        </p:spPr>
        <p:txBody>
          <a:bodyPr vert="horz" wrap="square" lIns="0" tIns="0" rIns="0" bIns="0" rtlCol="0" anchor="t">
            <a:noAutofit/>
          </a:bodyPr>
          <a:lstStyle/>
          <a:p>
            <a:pPr>
              <a:lnSpc>
                <a:spcPct val="100000"/>
              </a:lnSpc>
            </a:pPr>
            <a:r>
              <a:rPr lang="en-US" sz="2200">
                <a:solidFill>
                  <a:srgbClr val="D4AF37"/>
                </a:solidFill>
                <a:latin typeface="Calibri"/>
                <a:cs typeface="Calibri"/>
              </a:rPr>
              <a:t>Dig in</a:t>
            </a:r>
          </a:p>
        </p:txBody>
      </p:sp>
      <p:sp>
        <p:nvSpPr>
          <p:cNvPr id="6" name="TextBox 6"/>
          <p:cNvSpPr txBox="1"/>
          <p:nvPr/>
        </p:nvSpPr>
        <p:spPr>
          <a:xfrm>
            <a:off x="4837176" y="3022600"/>
            <a:ext cx="6542024" cy="381000"/>
          </a:xfrm>
          <a:prstGeom prst="rect">
            <a:avLst/>
          </a:prstGeom>
          <a:noFill/>
        </p:spPr>
        <p:txBody>
          <a:bodyPr vert="horz" wrap="square" lIns="0" tIns="0" rIns="0" bIns="0" rtlCol="0" anchor="t">
            <a:noAutofit/>
          </a:bodyPr>
          <a:lstStyle/>
          <a:p>
            <a:pPr>
              <a:lnSpc>
                <a:spcPct val="100000"/>
              </a:lnSpc>
            </a:pPr>
            <a:r>
              <a:rPr lang="en-US" sz="2000" dirty="0">
                <a:solidFill>
                  <a:srgbClr val="F4F1E9"/>
                </a:solidFill>
                <a:latin typeface="Calibri"/>
                <a:cs typeface="Calibri"/>
              </a:rPr>
              <a:t>Your group gets one real case from the past year.</a:t>
            </a:r>
          </a:p>
        </p:txBody>
      </p:sp>
      <p:sp>
        <p:nvSpPr>
          <p:cNvPr id="7" name="Oval 7"/>
          <p:cNvSpPr/>
          <p:nvPr/>
        </p:nvSpPr>
        <p:spPr>
          <a:xfrm>
            <a:off x="812800" y="3937000"/>
            <a:ext cx="558800" cy="5588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2</a:t>
            </a:r>
          </a:p>
        </p:txBody>
      </p:sp>
      <p:sp>
        <p:nvSpPr>
          <p:cNvPr id="8" name="TextBox 8"/>
          <p:cNvSpPr txBox="1"/>
          <p:nvPr/>
        </p:nvSpPr>
        <p:spPr>
          <a:xfrm>
            <a:off x="1651000" y="3962400"/>
            <a:ext cx="3810000" cy="381000"/>
          </a:xfrm>
          <a:prstGeom prst="rect">
            <a:avLst/>
          </a:prstGeom>
          <a:noFill/>
        </p:spPr>
        <p:txBody>
          <a:bodyPr vert="horz" wrap="square" lIns="0" tIns="0" rIns="0" bIns="0" rtlCol="0" anchor="t">
            <a:noAutofit/>
          </a:bodyPr>
          <a:lstStyle/>
          <a:p>
            <a:pPr>
              <a:lnSpc>
                <a:spcPct val="100000"/>
              </a:lnSpc>
            </a:pPr>
            <a:r>
              <a:rPr lang="en-US" sz="2200">
                <a:solidFill>
                  <a:srgbClr val="D4AF37"/>
                </a:solidFill>
                <a:latin typeface="Calibri"/>
                <a:cs typeface="Calibri"/>
              </a:rPr>
              <a:t>Check it</a:t>
            </a:r>
          </a:p>
        </p:txBody>
      </p:sp>
      <p:sp>
        <p:nvSpPr>
          <p:cNvPr id="9" name="TextBox 9"/>
          <p:cNvSpPr txBox="1"/>
          <p:nvPr/>
        </p:nvSpPr>
        <p:spPr>
          <a:xfrm>
            <a:off x="4837176" y="3987800"/>
            <a:ext cx="6542024" cy="381000"/>
          </a:xfrm>
          <a:prstGeom prst="rect">
            <a:avLst/>
          </a:prstGeom>
          <a:noFill/>
        </p:spPr>
        <p:txBody>
          <a:bodyPr vert="horz" wrap="square" lIns="0" tIns="0" rIns="0" bIns="0" rtlCol="0" anchor="t">
            <a:noAutofit/>
          </a:bodyPr>
          <a:lstStyle/>
          <a:p>
            <a:pPr>
              <a:lnSpc>
                <a:spcPct val="100000"/>
              </a:lnSpc>
            </a:pPr>
            <a:r>
              <a:rPr lang="en-US" sz="2000">
                <a:solidFill>
                  <a:srgbClr val="F4F1E9"/>
                </a:solidFill>
                <a:latin typeface="Calibri"/>
                <a:cs typeface="Calibri"/>
              </a:rPr>
              <a:t>Everything Claude hands you is a claim until you verify it.</a:t>
            </a:r>
          </a:p>
        </p:txBody>
      </p:sp>
      <p:sp>
        <p:nvSpPr>
          <p:cNvPr id="10" name="Oval 10"/>
          <p:cNvSpPr/>
          <p:nvPr/>
        </p:nvSpPr>
        <p:spPr>
          <a:xfrm>
            <a:off x="812800" y="4902200"/>
            <a:ext cx="558800" cy="5588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3</a:t>
            </a:r>
          </a:p>
        </p:txBody>
      </p:sp>
      <p:sp>
        <p:nvSpPr>
          <p:cNvPr id="11" name="TextBox 11"/>
          <p:cNvSpPr txBox="1"/>
          <p:nvPr/>
        </p:nvSpPr>
        <p:spPr>
          <a:xfrm>
            <a:off x="1651000" y="4927600"/>
            <a:ext cx="3810000" cy="381000"/>
          </a:xfrm>
          <a:prstGeom prst="rect">
            <a:avLst/>
          </a:prstGeom>
          <a:noFill/>
        </p:spPr>
        <p:txBody>
          <a:bodyPr vert="horz" wrap="square" lIns="0" tIns="0" rIns="0" bIns="0" rtlCol="0" anchor="t">
            <a:noAutofit/>
          </a:bodyPr>
          <a:lstStyle/>
          <a:p>
            <a:pPr>
              <a:lnSpc>
                <a:spcPct val="100000"/>
              </a:lnSpc>
            </a:pPr>
            <a:r>
              <a:rPr lang="en-US" sz="2200">
                <a:solidFill>
                  <a:srgbClr val="D4AF37"/>
                </a:solidFill>
                <a:latin typeface="Calibri"/>
                <a:cs typeface="Calibri"/>
              </a:rPr>
              <a:t>Teach it</a:t>
            </a:r>
          </a:p>
        </p:txBody>
      </p:sp>
      <p:sp>
        <p:nvSpPr>
          <p:cNvPr id="12" name="TextBox 12"/>
          <p:cNvSpPr txBox="1"/>
          <p:nvPr/>
        </p:nvSpPr>
        <p:spPr>
          <a:xfrm>
            <a:off x="4837176" y="4953000"/>
            <a:ext cx="6542024" cy="381000"/>
          </a:xfrm>
          <a:prstGeom prst="rect">
            <a:avLst/>
          </a:prstGeom>
          <a:noFill/>
        </p:spPr>
        <p:txBody>
          <a:bodyPr vert="horz" wrap="square" lIns="0" tIns="0" rIns="0" bIns="0" rtlCol="0" anchor="t">
            <a:noAutofit/>
          </a:bodyPr>
          <a:lstStyle/>
          <a:p>
            <a:pPr>
              <a:lnSpc>
                <a:spcPct val="100000"/>
              </a:lnSpc>
            </a:pPr>
            <a:r>
              <a:rPr lang="en-US" sz="2000">
                <a:solidFill>
                  <a:srgbClr val="F4F1E9"/>
                </a:solidFill>
                <a:latin typeface="Calibri"/>
                <a:cs typeface="Calibri"/>
              </a:rPr>
              <a:t>Your group shows the class what it found next week.</a:t>
            </a:r>
          </a:p>
        </p:txBody>
      </p:sp>
      <p:sp>
        <p:nvSpPr>
          <p:cNvPr id="13" name="TextBox 13"/>
          <p:cNvSpPr txBox="1"/>
          <p:nvPr/>
        </p:nvSpPr>
        <p:spPr>
          <a:xfrm>
            <a:off x="812800" y="5969000"/>
            <a:ext cx="10566400" cy="369332"/>
          </a:xfrm>
          <a:prstGeom prst="rect">
            <a:avLst/>
          </a:prstGeom>
          <a:noFill/>
        </p:spPr>
        <p:txBody>
          <a:bodyPr vert="horz" wrap="square" lIns="0" tIns="0" rIns="0" bIns="0" rtlCol="0" anchor="t">
            <a:noAutofit/>
          </a:bodyPr>
          <a:lstStyle/>
          <a:p>
            <a:pPr>
              <a:lnSpc>
                <a:spcPct val="100000"/>
              </a:lnSpc>
            </a:pPr>
            <a:r>
              <a:rPr lang="en-US" sz="2200" b="1" dirty="0">
                <a:solidFill>
                  <a:srgbClr val="E9CD7A"/>
                </a:solidFill>
                <a:latin typeface="Cambria"/>
                <a:cs typeface="Cambria"/>
              </a:rPr>
              <a:t>The focus is both on prompt-building and on your use of manual verification.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Oval 2"/>
          <p:cNvSpPr/>
          <p:nvPr/>
        </p:nvSpPr>
        <p:spPr>
          <a:xfrm>
            <a:off x="812800" y="1066800"/>
            <a:ext cx="660400" cy="6604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1</a:t>
            </a:r>
          </a:p>
        </p:txBody>
      </p:sp>
      <p:sp>
        <p:nvSpPr>
          <p:cNvPr id="3" name="TextBox 3"/>
          <p:cNvSpPr txBox="1"/>
          <p:nvPr/>
        </p:nvSpPr>
        <p:spPr>
          <a:xfrm>
            <a:off x="1676400" y="1143000"/>
            <a:ext cx="88900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Get your group and your case</a:t>
            </a:r>
          </a:p>
        </p:txBody>
      </p:sp>
      <p:sp>
        <p:nvSpPr>
          <p:cNvPr id="4" name="TextBox 4"/>
          <p:cNvSpPr txBox="1"/>
          <p:nvPr/>
        </p:nvSpPr>
        <p:spPr>
          <a:xfrm>
            <a:off x="812800" y="2286000"/>
            <a:ext cx="10566400" cy="381000"/>
          </a:xfrm>
          <a:prstGeom prst="rect">
            <a:avLst/>
          </a:prstGeom>
          <a:noFill/>
        </p:spPr>
        <p:txBody>
          <a:bodyPr vert="horz" wrap="square" lIns="0" tIns="0" rIns="0" bIns="0" rtlCol="0" anchor="t">
            <a:noAutofit/>
          </a:bodyPr>
          <a:lstStyle/>
          <a:p>
            <a:pPr>
              <a:lnSpc>
                <a:spcPct val="100000"/>
              </a:lnSpc>
            </a:pPr>
            <a:r>
              <a:rPr lang="en-US" sz="2100" dirty="0">
                <a:solidFill>
                  <a:srgbClr val="F4F1E9"/>
                </a:solidFill>
                <a:latin typeface="Calibri"/>
                <a:cs typeface="Calibri"/>
              </a:rPr>
              <a:t>Five groups: each group will be assigned one case from the list*</a:t>
            </a:r>
          </a:p>
        </p:txBody>
      </p:sp>
      <p:sp>
        <p:nvSpPr>
          <p:cNvPr id="5" name="Rectangle: Rounded Corners 5"/>
          <p:cNvSpPr/>
          <p:nvPr/>
        </p:nvSpPr>
        <p:spPr>
          <a:xfrm>
            <a:off x="812800" y="3048000"/>
            <a:ext cx="3352800" cy="16764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6" name="TextBox 6"/>
          <p:cNvSpPr txBox="1"/>
          <p:nvPr/>
        </p:nvSpPr>
        <p:spPr>
          <a:xfrm>
            <a:off x="1143000" y="3266440"/>
            <a:ext cx="2692400" cy="381000"/>
          </a:xfrm>
          <a:prstGeom prst="rect">
            <a:avLst/>
          </a:prstGeom>
          <a:noFill/>
        </p:spPr>
        <p:txBody>
          <a:bodyPr vert="horz" wrap="square" lIns="0" tIns="0" rIns="0" bIns="0" rtlCol="0" anchor="t">
            <a:noAutofit/>
          </a:bodyPr>
          <a:lstStyle/>
          <a:p>
            <a:pPr>
              <a:lnSpc>
                <a:spcPct val="100000"/>
              </a:lnSpc>
            </a:pPr>
            <a:r>
              <a:rPr lang="en-US" sz="2100">
                <a:solidFill>
                  <a:srgbClr val="D4AF37"/>
                </a:solidFill>
                <a:latin typeface="Calibri"/>
                <a:cs typeface="Calibri"/>
              </a:rPr>
              <a:t>Work together</a:t>
            </a:r>
          </a:p>
        </p:txBody>
      </p:sp>
      <p:sp>
        <p:nvSpPr>
          <p:cNvPr id="7" name="TextBox 7"/>
          <p:cNvSpPr txBox="1"/>
          <p:nvPr/>
        </p:nvSpPr>
        <p:spPr>
          <a:xfrm>
            <a:off x="1143000" y="3723640"/>
            <a:ext cx="2692400" cy="800000"/>
          </a:xfrm>
          <a:prstGeom prst="rect">
            <a:avLst/>
          </a:prstGeom>
          <a:noFill/>
        </p:spPr>
        <p:txBody>
          <a:bodyPr vert="horz" wrap="square" lIns="0" tIns="0" rIns="0" bIns="0" rtlCol="0" anchor="t">
            <a:noAutofit/>
          </a:bodyPr>
          <a:lstStyle/>
          <a:p>
            <a:pPr>
              <a:lnSpc>
                <a:spcPct val="120000"/>
              </a:lnSpc>
            </a:pPr>
            <a:r>
              <a:rPr lang="en-US" sz="1600" dirty="0">
                <a:solidFill>
                  <a:srgbClr val="F4F1E9"/>
                </a:solidFill>
                <a:latin typeface="Calibri"/>
                <a:cs typeface="Calibri"/>
              </a:rPr>
              <a:t>Review the case as a group. Argue about what actually matters for you to look into.</a:t>
            </a:r>
          </a:p>
        </p:txBody>
      </p:sp>
      <p:sp>
        <p:nvSpPr>
          <p:cNvPr id="8" name="Rectangle: Rounded Corners 8"/>
          <p:cNvSpPr/>
          <p:nvPr/>
        </p:nvSpPr>
        <p:spPr>
          <a:xfrm>
            <a:off x="4419600" y="3048000"/>
            <a:ext cx="3352800" cy="16764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9" name="TextBox 9"/>
          <p:cNvSpPr txBox="1"/>
          <p:nvPr/>
        </p:nvSpPr>
        <p:spPr>
          <a:xfrm>
            <a:off x="4749800" y="3266440"/>
            <a:ext cx="2692400" cy="381000"/>
          </a:xfrm>
          <a:prstGeom prst="rect">
            <a:avLst/>
          </a:prstGeom>
          <a:noFill/>
        </p:spPr>
        <p:txBody>
          <a:bodyPr vert="horz" wrap="square" lIns="0" tIns="0" rIns="0" bIns="0" rtlCol="0" anchor="t">
            <a:noAutofit/>
          </a:bodyPr>
          <a:lstStyle/>
          <a:p>
            <a:pPr>
              <a:lnSpc>
                <a:spcPct val="100000"/>
              </a:lnSpc>
            </a:pPr>
            <a:r>
              <a:rPr lang="en-US" sz="2100">
                <a:solidFill>
                  <a:srgbClr val="D4AF37"/>
                </a:solidFill>
                <a:latin typeface="Calibri"/>
                <a:cs typeface="Calibri"/>
              </a:rPr>
              <a:t>Prompt alone</a:t>
            </a:r>
          </a:p>
        </p:txBody>
      </p:sp>
      <p:sp>
        <p:nvSpPr>
          <p:cNvPr id="10" name="TextBox 10"/>
          <p:cNvSpPr txBox="1"/>
          <p:nvPr/>
        </p:nvSpPr>
        <p:spPr>
          <a:xfrm>
            <a:off x="4749800" y="3723640"/>
            <a:ext cx="2692400" cy="800000"/>
          </a:xfrm>
          <a:prstGeom prst="rect">
            <a:avLst/>
          </a:prstGeom>
          <a:noFill/>
        </p:spPr>
        <p:txBody>
          <a:bodyPr vert="horz" wrap="square" lIns="0" tIns="0" rIns="0" bIns="0" rtlCol="0" anchor="t">
            <a:noAutofit/>
          </a:bodyPr>
          <a:lstStyle/>
          <a:p>
            <a:pPr>
              <a:lnSpc>
                <a:spcPct val="120000"/>
              </a:lnSpc>
            </a:pPr>
            <a:r>
              <a:rPr lang="en-US" sz="1600" dirty="0">
                <a:solidFill>
                  <a:srgbClr val="F4F1E9"/>
                </a:solidFill>
                <a:latin typeface="Calibri"/>
                <a:cs typeface="Calibri"/>
              </a:rPr>
              <a:t>Every person writes their own prompt. Do not share one prompt.</a:t>
            </a:r>
          </a:p>
        </p:txBody>
      </p:sp>
      <p:sp>
        <p:nvSpPr>
          <p:cNvPr id="11" name="Rectangle: Rounded Corners 11"/>
          <p:cNvSpPr/>
          <p:nvPr/>
        </p:nvSpPr>
        <p:spPr>
          <a:xfrm>
            <a:off x="8026400" y="3048000"/>
            <a:ext cx="3352800" cy="16764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2" name="TextBox 12"/>
          <p:cNvSpPr txBox="1"/>
          <p:nvPr/>
        </p:nvSpPr>
        <p:spPr>
          <a:xfrm>
            <a:off x="8356600" y="3266440"/>
            <a:ext cx="2692400" cy="381000"/>
          </a:xfrm>
          <a:prstGeom prst="rect">
            <a:avLst/>
          </a:prstGeom>
          <a:noFill/>
        </p:spPr>
        <p:txBody>
          <a:bodyPr vert="horz" wrap="square" lIns="0" tIns="0" rIns="0" bIns="0" rtlCol="0" anchor="t">
            <a:noAutofit/>
          </a:bodyPr>
          <a:lstStyle/>
          <a:p>
            <a:pPr>
              <a:lnSpc>
                <a:spcPct val="100000"/>
              </a:lnSpc>
            </a:pPr>
            <a:r>
              <a:rPr lang="en-US" sz="2100">
                <a:solidFill>
                  <a:srgbClr val="D4AF37"/>
                </a:solidFill>
                <a:latin typeface="Calibri"/>
                <a:cs typeface="Calibri"/>
              </a:rPr>
              <a:t>Submit alone</a:t>
            </a:r>
          </a:p>
        </p:txBody>
      </p:sp>
      <p:sp>
        <p:nvSpPr>
          <p:cNvPr id="13" name="TextBox 13"/>
          <p:cNvSpPr txBox="1"/>
          <p:nvPr/>
        </p:nvSpPr>
        <p:spPr>
          <a:xfrm>
            <a:off x="8356600" y="3723640"/>
            <a:ext cx="2692400" cy="800000"/>
          </a:xfrm>
          <a:prstGeom prst="rect">
            <a:avLst/>
          </a:prstGeom>
          <a:noFill/>
        </p:spPr>
        <p:txBody>
          <a:bodyPr vert="horz" wrap="square" lIns="0" tIns="0" rIns="0" bIns="0" rtlCol="0" anchor="t">
            <a:noAutofit/>
          </a:bodyPr>
          <a:lstStyle/>
          <a:p>
            <a:pPr>
              <a:lnSpc>
                <a:spcPct val="120000"/>
              </a:lnSpc>
            </a:pPr>
            <a:r>
              <a:rPr lang="en-US" sz="1600" dirty="0">
                <a:solidFill>
                  <a:srgbClr val="F4F1E9"/>
                </a:solidFill>
                <a:latin typeface="Calibri"/>
                <a:cs typeface="Calibri"/>
              </a:rPr>
              <a:t>Every person turns in their own file and prompt, whatever the group picks.</a:t>
            </a:r>
          </a:p>
        </p:txBody>
      </p:sp>
      <p:sp>
        <p:nvSpPr>
          <p:cNvPr id="14" name="TextBox 14"/>
          <p:cNvSpPr txBox="1"/>
          <p:nvPr/>
        </p:nvSpPr>
        <p:spPr>
          <a:xfrm>
            <a:off x="812800" y="5308600"/>
            <a:ext cx="10566400" cy="369332"/>
          </a:xfrm>
          <a:prstGeom prst="rect">
            <a:avLst/>
          </a:prstGeom>
          <a:noFill/>
        </p:spPr>
        <p:txBody>
          <a:bodyPr vert="horz" wrap="square" lIns="0" tIns="0" rIns="0" bIns="0" rtlCol="0" anchor="t">
            <a:noAutofit/>
          </a:bodyPr>
          <a:lstStyle/>
          <a:p>
            <a:pPr>
              <a:lnSpc>
                <a:spcPct val="100000"/>
              </a:lnSpc>
            </a:pPr>
            <a:r>
              <a:rPr lang="en-US" sz="2000" dirty="0">
                <a:solidFill>
                  <a:srgbClr val="ADA48E"/>
                </a:solidFill>
                <a:latin typeface="Calibri"/>
                <a:cs typeface="Calibri"/>
              </a:rPr>
              <a:t>You will disagree about what matters here and how to approach it. Good! You each get to implement your own approach and compare output.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Oval 2"/>
          <p:cNvSpPr/>
          <p:nvPr/>
        </p:nvSpPr>
        <p:spPr>
          <a:xfrm>
            <a:off x="812800" y="1066800"/>
            <a:ext cx="660400" cy="6604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2</a:t>
            </a:r>
          </a:p>
        </p:txBody>
      </p:sp>
      <p:sp>
        <p:nvSpPr>
          <p:cNvPr id="3" name="TextBox 3"/>
          <p:cNvSpPr txBox="1"/>
          <p:nvPr/>
        </p:nvSpPr>
        <p:spPr>
          <a:xfrm>
            <a:off x="1676400" y="1143000"/>
            <a:ext cx="88900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Make a folder for it</a:t>
            </a:r>
          </a:p>
        </p:txBody>
      </p:sp>
      <p:sp>
        <p:nvSpPr>
          <p:cNvPr id="4" name="TextBox 4"/>
          <p:cNvSpPr txBox="1"/>
          <p:nvPr/>
        </p:nvSpPr>
        <p:spPr>
          <a:xfrm>
            <a:off x="812800" y="2286000"/>
            <a:ext cx="5969000" cy="369332"/>
          </a:xfrm>
          <a:prstGeom prst="rect">
            <a:avLst/>
          </a:prstGeom>
          <a:noFill/>
        </p:spPr>
        <p:txBody>
          <a:bodyPr vert="horz" wrap="square" lIns="0" tIns="0" rIns="0" bIns="0" rtlCol="0" anchor="t">
            <a:noAutofit/>
          </a:bodyPr>
          <a:lstStyle/>
          <a:p>
            <a:pPr>
              <a:lnSpc>
                <a:spcPct val="118000"/>
              </a:lnSpc>
            </a:pPr>
            <a:r>
              <a:rPr lang="en-US" sz="2100" dirty="0">
                <a:solidFill>
                  <a:srgbClr val="F4F1E9"/>
                </a:solidFill>
                <a:latin typeface="Calibri"/>
                <a:cs typeface="Calibri"/>
              </a:rPr>
              <a:t>Inside your comm-lab folder, make a new one called ethics-case. Open that folder in Claude Code and work there.</a:t>
            </a:r>
          </a:p>
        </p:txBody>
      </p:sp>
      <p:sp>
        <p:nvSpPr>
          <p:cNvPr id="5" name="TextBox 5"/>
          <p:cNvSpPr txBox="1"/>
          <p:nvPr/>
        </p:nvSpPr>
        <p:spPr>
          <a:xfrm>
            <a:off x="812800" y="3810000"/>
            <a:ext cx="5969000" cy="369332"/>
          </a:xfrm>
          <a:prstGeom prst="rect">
            <a:avLst/>
          </a:prstGeom>
          <a:noFill/>
        </p:spPr>
        <p:txBody>
          <a:bodyPr vert="horz" wrap="square" lIns="0" tIns="0" rIns="0" bIns="0" rtlCol="0" anchor="t">
            <a:noAutofit/>
          </a:bodyPr>
          <a:lstStyle/>
          <a:p>
            <a:pPr>
              <a:lnSpc>
                <a:spcPct val="118000"/>
              </a:lnSpc>
            </a:pPr>
            <a:r>
              <a:rPr lang="en-US" sz="1900" dirty="0">
                <a:solidFill>
                  <a:srgbClr val="ADA48E"/>
                </a:solidFill>
                <a:latin typeface="Calibri"/>
                <a:cs typeface="Calibri"/>
              </a:rPr>
              <a:t>Or just ask Claude to make them for you. That counts, and it is faster.</a:t>
            </a:r>
          </a:p>
        </p:txBody>
      </p:sp>
      <p:sp>
        <p:nvSpPr>
          <p:cNvPr id="6" name="Rectangle: Rounded Corners 6"/>
          <p:cNvSpPr/>
          <p:nvPr/>
        </p:nvSpPr>
        <p:spPr>
          <a:xfrm>
            <a:off x="7239000" y="2235200"/>
            <a:ext cx="4140200" cy="29464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7" name="TextBox 7"/>
          <p:cNvSpPr txBox="1"/>
          <p:nvPr/>
        </p:nvSpPr>
        <p:spPr>
          <a:xfrm>
            <a:off x="7696200" y="2692400"/>
            <a:ext cx="3429000" cy="369332"/>
          </a:xfrm>
          <a:prstGeom prst="rect">
            <a:avLst/>
          </a:prstGeom>
          <a:noFill/>
        </p:spPr>
        <p:txBody>
          <a:bodyPr vert="horz" wrap="square" lIns="0" tIns="0" rIns="0" bIns="0" rtlCol="0" anchor="t">
            <a:noAutofit/>
          </a:bodyPr>
          <a:lstStyle/>
          <a:p>
            <a:pPr>
              <a:lnSpc>
                <a:spcPct val="118000"/>
              </a:lnSpc>
            </a:pPr>
            <a:r>
              <a:rPr lang="en-US" sz="2000">
                <a:solidFill>
                  <a:srgbClr val="D4AF37"/>
                </a:solidFill>
                <a:latin typeface="Consolas"/>
                <a:cs typeface="Consolas"/>
              </a:rPr>
              <a:t>ethics-case/</a:t>
            </a:r>
          </a:p>
          <a:p>
            <a:pPr>
              <a:lnSpc>
                <a:spcPct val="118000"/>
              </a:lnSpc>
            </a:pPr>
            <a:r>
              <a:rPr lang="en-US" sz="2000">
                <a:solidFill>
                  <a:srgbClr val="D4AF37"/>
                </a:solidFill>
                <a:latin typeface="Consolas"/>
                <a:cs typeface="Consolas"/>
              </a:rPr>
              <a:t>     notes/</a:t>
            </a:r>
          </a:p>
          <a:p>
            <a:pPr>
              <a:lnSpc>
                <a:spcPct val="118000"/>
              </a:lnSpc>
            </a:pPr>
            <a:r>
              <a:rPr lang="en-US" sz="2000">
                <a:solidFill>
                  <a:srgbClr val="D4AF37"/>
                </a:solidFill>
                <a:latin typeface="Consolas"/>
                <a:cs typeface="Consolas"/>
              </a:rPr>
              <a:t>     sources/</a:t>
            </a:r>
          </a:p>
          <a:p>
            <a:pPr>
              <a:lnSpc>
                <a:spcPct val="118000"/>
              </a:lnSpc>
            </a:pPr>
            <a:r>
              <a:rPr lang="en-US" sz="2000">
                <a:solidFill>
                  <a:srgbClr val="D4AF37"/>
                </a:solidFill>
                <a:latin typeface="Consolas"/>
                <a:cs typeface="Consolas"/>
              </a:rPr>
              <a:t>     output/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Oval 2"/>
          <p:cNvSpPr/>
          <p:nvPr/>
        </p:nvSpPr>
        <p:spPr>
          <a:xfrm>
            <a:off x="812800" y="1066800"/>
            <a:ext cx="660400" cy="6604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3</a:t>
            </a:r>
          </a:p>
        </p:txBody>
      </p:sp>
      <p:sp>
        <p:nvSpPr>
          <p:cNvPr id="3" name="TextBox 3"/>
          <p:cNvSpPr txBox="1"/>
          <p:nvPr/>
        </p:nvSpPr>
        <p:spPr>
          <a:xfrm>
            <a:off x="1676400" y="1143000"/>
            <a:ext cx="88900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Write your own prompt</a:t>
            </a:r>
          </a:p>
        </p:txBody>
      </p:sp>
      <p:sp>
        <p:nvSpPr>
          <p:cNvPr id="4" name="TextBox 4"/>
          <p:cNvSpPr txBox="1"/>
          <p:nvPr/>
        </p:nvSpPr>
        <p:spPr>
          <a:xfrm>
            <a:off x="812800" y="2209800"/>
            <a:ext cx="10566400" cy="369332"/>
          </a:xfrm>
          <a:prstGeom prst="rect">
            <a:avLst/>
          </a:prstGeom>
          <a:noFill/>
        </p:spPr>
        <p:txBody>
          <a:bodyPr vert="horz" wrap="square" lIns="0" tIns="0" rIns="0" bIns="0" rtlCol="0" anchor="t">
            <a:noAutofit/>
          </a:bodyPr>
          <a:lstStyle/>
          <a:p>
            <a:pPr>
              <a:lnSpc>
                <a:spcPct val="100000"/>
              </a:lnSpc>
            </a:pPr>
            <a:r>
              <a:rPr lang="en-US" sz="2000">
                <a:solidFill>
                  <a:srgbClr val="ADA48E"/>
                </a:solidFill>
                <a:latin typeface="Calibri"/>
                <a:cs typeface="Calibri"/>
              </a:rPr>
              <a:t>One prompt, written by you. Save the text, because you are turning it in.</a:t>
            </a:r>
          </a:p>
        </p:txBody>
      </p:sp>
      <p:sp>
        <p:nvSpPr>
          <p:cNvPr id="5" name="Rectangle: Rounded Corners 5"/>
          <p:cNvSpPr/>
          <p:nvPr/>
        </p:nvSpPr>
        <p:spPr>
          <a:xfrm>
            <a:off x="812800" y="2895600"/>
            <a:ext cx="5130800" cy="1651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6" name="Oval 6"/>
          <p:cNvSpPr/>
          <p:nvPr/>
        </p:nvSpPr>
        <p:spPr>
          <a:xfrm>
            <a:off x="1117600" y="3200400"/>
            <a:ext cx="508000" cy="508000"/>
          </a:xfrm>
          <a:prstGeom prst="ellipse">
            <a:avLst/>
          </a:prstGeom>
          <a:solidFill>
            <a:srgbClr val="D4AF37"/>
          </a:solidFill>
          <a:ln>
            <a:noFill/>
          </a:ln>
          <a:effectLst/>
        </p:spPr>
        <p:txBody>
          <a:bodyPr rtlCol="0" anchor="ctr"/>
          <a:lstStyle/>
          <a:p>
            <a:pPr algn="ctr"/>
            <a:r>
              <a:rPr lang="en-US" sz="2000" b="1">
                <a:solidFill>
                  <a:srgbClr val="0C0C0E"/>
                </a:solidFill>
                <a:latin typeface="Calibri"/>
                <a:cs typeface="Calibri"/>
              </a:rPr>
              <a:t>1</a:t>
            </a:r>
          </a:p>
        </p:txBody>
      </p:sp>
      <p:sp>
        <p:nvSpPr>
          <p:cNvPr id="7" name="TextBox 7"/>
          <p:cNvSpPr txBox="1"/>
          <p:nvPr/>
        </p:nvSpPr>
        <p:spPr>
          <a:xfrm>
            <a:off x="1828800" y="3175000"/>
            <a:ext cx="3810000" cy="369332"/>
          </a:xfrm>
          <a:prstGeom prst="rect">
            <a:avLst/>
          </a:prstGeom>
          <a:noFill/>
        </p:spPr>
        <p:txBody>
          <a:bodyPr vert="horz" wrap="square" lIns="0" tIns="0" rIns="0" bIns="0" rtlCol="0" anchor="t">
            <a:noAutofit/>
          </a:bodyPr>
          <a:lstStyle/>
          <a:p>
            <a:pPr>
              <a:lnSpc>
                <a:spcPct val="100000"/>
              </a:lnSpc>
            </a:pPr>
            <a:r>
              <a:rPr lang="en-US" sz="1700">
                <a:solidFill>
                  <a:srgbClr val="D4AF37"/>
                </a:solidFill>
                <a:latin typeface="Calibri"/>
                <a:cs typeface="Calibri"/>
              </a:rPr>
              <a:t>THE CASE</a:t>
            </a:r>
          </a:p>
        </p:txBody>
      </p:sp>
      <p:sp>
        <p:nvSpPr>
          <p:cNvPr id="8" name="TextBox 8"/>
          <p:cNvSpPr txBox="1"/>
          <p:nvPr/>
        </p:nvSpPr>
        <p:spPr>
          <a:xfrm>
            <a:off x="1828800" y="3505200"/>
            <a:ext cx="3810000" cy="369332"/>
          </a:xfrm>
          <a:prstGeom prst="rect">
            <a:avLst/>
          </a:prstGeom>
          <a:noFill/>
        </p:spPr>
        <p:txBody>
          <a:bodyPr vert="horz" wrap="square" lIns="0" tIns="0" rIns="0" bIns="0" rtlCol="0" anchor="t">
            <a:noAutofit/>
          </a:bodyPr>
          <a:lstStyle/>
          <a:p>
            <a:pPr>
              <a:lnSpc>
                <a:spcPct val="100000"/>
              </a:lnSpc>
            </a:pPr>
            <a:r>
              <a:rPr lang="en-US" sz="1900">
                <a:solidFill>
                  <a:srgbClr val="F4F1E9"/>
                </a:solidFill>
                <a:latin typeface="Calibri"/>
                <a:cs typeface="Calibri"/>
              </a:rPr>
              <a:t>Which case, and what happened?</a:t>
            </a:r>
          </a:p>
        </p:txBody>
      </p:sp>
      <p:sp>
        <p:nvSpPr>
          <p:cNvPr id="9" name="TextBox 9"/>
          <p:cNvSpPr txBox="1"/>
          <p:nvPr/>
        </p:nvSpPr>
        <p:spPr>
          <a:xfrm>
            <a:off x="1828800" y="3886200"/>
            <a:ext cx="3810000" cy="500000"/>
          </a:xfrm>
          <a:prstGeom prst="rect">
            <a:avLst/>
          </a:prstGeom>
          <a:noFill/>
        </p:spPr>
        <p:txBody>
          <a:bodyPr vert="horz" wrap="square" lIns="0" tIns="0" rIns="0" bIns="0" rtlCol="0" anchor="t">
            <a:noAutofit/>
          </a:bodyPr>
          <a:lstStyle/>
          <a:p>
            <a:pPr>
              <a:lnSpc>
                <a:spcPct val="115000"/>
              </a:lnSpc>
            </a:pPr>
            <a:r>
              <a:rPr lang="en-US" sz="1600" i="1" dirty="0">
                <a:solidFill>
                  <a:srgbClr val="ADA48E"/>
                </a:solidFill>
                <a:latin typeface="Calibri"/>
                <a:cs typeface="Calibri"/>
              </a:rPr>
              <a:t>e.g., the Meta child safety settlement of August 2026</a:t>
            </a:r>
          </a:p>
        </p:txBody>
      </p:sp>
      <p:sp>
        <p:nvSpPr>
          <p:cNvPr id="10" name="Rectangle: Rounded Corners 10"/>
          <p:cNvSpPr/>
          <p:nvPr/>
        </p:nvSpPr>
        <p:spPr>
          <a:xfrm>
            <a:off x="6248400" y="2895600"/>
            <a:ext cx="5130800" cy="1651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1" name="Oval 11"/>
          <p:cNvSpPr/>
          <p:nvPr/>
        </p:nvSpPr>
        <p:spPr>
          <a:xfrm>
            <a:off x="6553200" y="3200400"/>
            <a:ext cx="508000" cy="508000"/>
          </a:xfrm>
          <a:prstGeom prst="ellipse">
            <a:avLst/>
          </a:prstGeom>
          <a:solidFill>
            <a:srgbClr val="D4AF37"/>
          </a:solidFill>
          <a:ln>
            <a:noFill/>
          </a:ln>
          <a:effectLst/>
        </p:spPr>
        <p:txBody>
          <a:bodyPr rtlCol="0" anchor="ctr"/>
          <a:lstStyle/>
          <a:p>
            <a:pPr algn="ctr"/>
            <a:r>
              <a:rPr lang="en-US" sz="2000" b="1">
                <a:solidFill>
                  <a:srgbClr val="0C0C0E"/>
                </a:solidFill>
                <a:latin typeface="Calibri"/>
                <a:cs typeface="Calibri"/>
              </a:rPr>
              <a:t>2</a:t>
            </a:r>
          </a:p>
        </p:txBody>
      </p:sp>
      <p:sp>
        <p:nvSpPr>
          <p:cNvPr id="12" name="TextBox 12"/>
          <p:cNvSpPr txBox="1"/>
          <p:nvPr/>
        </p:nvSpPr>
        <p:spPr>
          <a:xfrm>
            <a:off x="7264400" y="3175000"/>
            <a:ext cx="3810000" cy="369332"/>
          </a:xfrm>
          <a:prstGeom prst="rect">
            <a:avLst/>
          </a:prstGeom>
          <a:noFill/>
        </p:spPr>
        <p:txBody>
          <a:bodyPr vert="horz" wrap="square" lIns="0" tIns="0" rIns="0" bIns="0" rtlCol="0" anchor="t">
            <a:noAutofit/>
          </a:bodyPr>
          <a:lstStyle/>
          <a:p>
            <a:pPr>
              <a:lnSpc>
                <a:spcPct val="100000"/>
              </a:lnSpc>
            </a:pPr>
            <a:r>
              <a:rPr lang="en-US" sz="1700">
                <a:solidFill>
                  <a:srgbClr val="D4AF37"/>
                </a:solidFill>
                <a:latin typeface="Calibri"/>
                <a:cs typeface="Calibri"/>
              </a:rPr>
              <a:t>SOURCES</a:t>
            </a:r>
          </a:p>
        </p:txBody>
      </p:sp>
      <p:sp>
        <p:nvSpPr>
          <p:cNvPr id="13" name="TextBox 13"/>
          <p:cNvSpPr txBox="1"/>
          <p:nvPr/>
        </p:nvSpPr>
        <p:spPr>
          <a:xfrm>
            <a:off x="7264400" y="3505200"/>
            <a:ext cx="3810000" cy="369332"/>
          </a:xfrm>
          <a:prstGeom prst="rect">
            <a:avLst/>
          </a:prstGeom>
          <a:noFill/>
        </p:spPr>
        <p:txBody>
          <a:bodyPr vert="horz" wrap="square" lIns="0" tIns="0" rIns="0" bIns="0" rtlCol="0" anchor="t">
            <a:noAutofit/>
          </a:bodyPr>
          <a:lstStyle/>
          <a:p>
            <a:pPr>
              <a:lnSpc>
                <a:spcPct val="100000"/>
              </a:lnSpc>
            </a:pPr>
            <a:r>
              <a:rPr lang="en-US" sz="1900">
                <a:solidFill>
                  <a:srgbClr val="F4F1E9"/>
                </a:solidFill>
                <a:latin typeface="Calibri"/>
                <a:cs typeface="Calibri"/>
              </a:rPr>
              <a:t>Where should it look?</a:t>
            </a:r>
          </a:p>
        </p:txBody>
      </p:sp>
      <p:sp>
        <p:nvSpPr>
          <p:cNvPr id="14" name="TextBox 14"/>
          <p:cNvSpPr txBox="1"/>
          <p:nvPr/>
        </p:nvSpPr>
        <p:spPr>
          <a:xfrm>
            <a:off x="7255256" y="3886200"/>
            <a:ext cx="3810000" cy="500000"/>
          </a:xfrm>
          <a:prstGeom prst="rect">
            <a:avLst/>
          </a:prstGeom>
          <a:noFill/>
        </p:spPr>
        <p:txBody>
          <a:bodyPr vert="horz" wrap="square" lIns="0" tIns="0" rIns="0" bIns="0" rtlCol="0" anchor="t">
            <a:noAutofit/>
          </a:bodyPr>
          <a:lstStyle/>
          <a:p>
            <a:pPr>
              <a:lnSpc>
                <a:spcPct val="115000"/>
              </a:lnSpc>
            </a:pPr>
            <a:r>
              <a:rPr lang="en-US" sz="1600" i="1" dirty="0">
                <a:solidFill>
                  <a:srgbClr val="ADA48E"/>
                </a:solidFill>
                <a:latin typeface="Calibri"/>
                <a:cs typeface="Calibri"/>
              </a:rPr>
              <a:t>e.g., reputable news, court, and government sources from 2025 or later</a:t>
            </a:r>
          </a:p>
        </p:txBody>
      </p:sp>
      <p:sp>
        <p:nvSpPr>
          <p:cNvPr id="15" name="Rectangle: Rounded Corners 15"/>
          <p:cNvSpPr/>
          <p:nvPr/>
        </p:nvSpPr>
        <p:spPr>
          <a:xfrm>
            <a:off x="812800" y="4775200"/>
            <a:ext cx="5130800" cy="1651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6" name="Oval 16"/>
          <p:cNvSpPr/>
          <p:nvPr/>
        </p:nvSpPr>
        <p:spPr>
          <a:xfrm>
            <a:off x="1117600" y="5080000"/>
            <a:ext cx="508000" cy="508000"/>
          </a:xfrm>
          <a:prstGeom prst="ellipse">
            <a:avLst/>
          </a:prstGeom>
          <a:solidFill>
            <a:srgbClr val="D4AF37"/>
          </a:solidFill>
          <a:ln>
            <a:noFill/>
          </a:ln>
          <a:effectLst/>
        </p:spPr>
        <p:txBody>
          <a:bodyPr rtlCol="0" anchor="ctr"/>
          <a:lstStyle/>
          <a:p>
            <a:pPr algn="ctr"/>
            <a:r>
              <a:rPr lang="en-US" sz="2000" b="1">
                <a:solidFill>
                  <a:srgbClr val="0C0C0E"/>
                </a:solidFill>
                <a:latin typeface="Calibri"/>
                <a:cs typeface="Calibri"/>
              </a:rPr>
              <a:t>3</a:t>
            </a:r>
          </a:p>
        </p:txBody>
      </p:sp>
      <p:sp>
        <p:nvSpPr>
          <p:cNvPr id="17" name="TextBox 17"/>
          <p:cNvSpPr txBox="1"/>
          <p:nvPr/>
        </p:nvSpPr>
        <p:spPr>
          <a:xfrm>
            <a:off x="1828800" y="5054600"/>
            <a:ext cx="3810000" cy="369332"/>
          </a:xfrm>
          <a:prstGeom prst="rect">
            <a:avLst/>
          </a:prstGeom>
          <a:noFill/>
        </p:spPr>
        <p:txBody>
          <a:bodyPr vert="horz" wrap="square" lIns="0" tIns="0" rIns="0" bIns="0" rtlCol="0" anchor="t">
            <a:noAutofit/>
          </a:bodyPr>
          <a:lstStyle/>
          <a:p>
            <a:pPr>
              <a:lnSpc>
                <a:spcPct val="100000"/>
              </a:lnSpc>
            </a:pPr>
            <a:r>
              <a:rPr lang="en-US" sz="1700">
                <a:solidFill>
                  <a:srgbClr val="D4AF37"/>
                </a:solidFill>
                <a:latin typeface="Calibri"/>
                <a:cs typeface="Calibri"/>
              </a:rPr>
              <a:t>CONTENT</a:t>
            </a:r>
          </a:p>
        </p:txBody>
      </p:sp>
      <p:sp>
        <p:nvSpPr>
          <p:cNvPr id="18" name="TextBox 18"/>
          <p:cNvSpPr txBox="1"/>
          <p:nvPr/>
        </p:nvSpPr>
        <p:spPr>
          <a:xfrm>
            <a:off x="1828800" y="5384800"/>
            <a:ext cx="3810000" cy="369332"/>
          </a:xfrm>
          <a:prstGeom prst="rect">
            <a:avLst/>
          </a:prstGeom>
          <a:noFill/>
        </p:spPr>
        <p:txBody>
          <a:bodyPr vert="horz" wrap="square" lIns="0" tIns="0" rIns="0" bIns="0" rtlCol="0" anchor="t">
            <a:noAutofit/>
          </a:bodyPr>
          <a:lstStyle/>
          <a:p>
            <a:pPr>
              <a:lnSpc>
                <a:spcPct val="100000"/>
              </a:lnSpc>
            </a:pPr>
            <a:r>
              <a:rPr lang="en-US" sz="1900">
                <a:solidFill>
                  <a:srgbClr val="F4F1E9"/>
                </a:solidFill>
                <a:latin typeface="Calibri"/>
                <a:cs typeface="Calibri"/>
              </a:rPr>
              <a:t>What must it cover?</a:t>
            </a:r>
          </a:p>
        </p:txBody>
      </p:sp>
      <p:sp>
        <p:nvSpPr>
          <p:cNvPr id="19" name="TextBox 19"/>
          <p:cNvSpPr txBox="1"/>
          <p:nvPr/>
        </p:nvSpPr>
        <p:spPr>
          <a:xfrm>
            <a:off x="1828800" y="5765800"/>
            <a:ext cx="3810000" cy="500000"/>
          </a:xfrm>
          <a:prstGeom prst="rect">
            <a:avLst/>
          </a:prstGeom>
          <a:noFill/>
        </p:spPr>
        <p:txBody>
          <a:bodyPr vert="horz" wrap="square" lIns="0" tIns="0" rIns="0" bIns="0" rtlCol="0" anchor="t">
            <a:noAutofit/>
          </a:bodyPr>
          <a:lstStyle/>
          <a:p>
            <a:pPr>
              <a:lnSpc>
                <a:spcPct val="115000"/>
              </a:lnSpc>
            </a:pPr>
            <a:r>
              <a:rPr lang="en-US" sz="1600" i="1" dirty="0">
                <a:solidFill>
                  <a:srgbClr val="ADA48E"/>
                </a:solidFill>
                <a:latin typeface="Calibri"/>
                <a:cs typeface="Calibri"/>
              </a:rPr>
              <a:t>all six items on the next slide</a:t>
            </a:r>
          </a:p>
        </p:txBody>
      </p:sp>
      <p:sp>
        <p:nvSpPr>
          <p:cNvPr id="20" name="Rectangle: Rounded Corners 20"/>
          <p:cNvSpPr/>
          <p:nvPr/>
        </p:nvSpPr>
        <p:spPr>
          <a:xfrm>
            <a:off x="6248400" y="4775200"/>
            <a:ext cx="5130800" cy="1651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21" name="Oval 21"/>
          <p:cNvSpPr/>
          <p:nvPr/>
        </p:nvSpPr>
        <p:spPr>
          <a:xfrm>
            <a:off x="6553200" y="5080000"/>
            <a:ext cx="508000" cy="508000"/>
          </a:xfrm>
          <a:prstGeom prst="ellipse">
            <a:avLst/>
          </a:prstGeom>
          <a:solidFill>
            <a:srgbClr val="D4AF37"/>
          </a:solidFill>
          <a:ln>
            <a:noFill/>
          </a:ln>
          <a:effectLst/>
        </p:spPr>
        <p:txBody>
          <a:bodyPr rtlCol="0" anchor="ctr"/>
          <a:lstStyle/>
          <a:p>
            <a:pPr algn="ctr"/>
            <a:r>
              <a:rPr lang="en-US" sz="2000" b="1">
                <a:solidFill>
                  <a:srgbClr val="0C0C0E"/>
                </a:solidFill>
                <a:latin typeface="Calibri"/>
                <a:cs typeface="Calibri"/>
              </a:rPr>
              <a:t>4</a:t>
            </a:r>
          </a:p>
        </p:txBody>
      </p:sp>
      <p:sp>
        <p:nvSpPr>
          <p:cNvPr id="22" name="TextBox 22"/>
          <p:cNvSpPr txBox="1"/>
          <p:nvPr/>
        </p:nvSpPr>
        <p:spPr>
          <a:xfrm>
            <a:off x="7264400" y="5054600"/>
            <a:ext cx="3810000" cy="369332"/>
          </a:xfrm>
          <a:prstGeom prst="rect">
            <a:avLst/>
          </a:prstGeom>
          <a:noFill/>
        </p:spPr>
        <p:txBody>
          <a:bodyPr vert="horz" wrap="square" lIns="0" tIns="0" rIns="0" bIns="0" rtlCol="0" anchor="t">
            <a:noAutofit/>
          </a:bodyPr>
          <a:lstStyle/>
          <a:p>
            <a:pPr>
              <a:lnSpc>
                <a:spcPct val="100000"/>
              </a:lnSpc>
            </a:pPr>
            <a:r>
              <a:rPr lang="en-US" sz="1700">
                <a:solidFill>
                  <a:srgbClr val="D4AF37"/>
                </a:solidFill>
                <a:latin typeface="Calibri"/>
                <a:cs typeface="Calibri"/>
              </a:rPr>
              <a:t>OUTPUT</a:t>
            </a:r>
          </a:p>
        </p:txBody>
      </p:sp>
      <p:sp>
        <p:nvSpPr>
          <p:cNvPr id="23" name="TextBox 23"/>
          <p:cNvSpPr txBox="1"/>
          <p:nvPr/>
        </p:nvSpPr>
        <p:spPr>
          <a:xfrm>
            <a:off x="7264400" y="5384800"/>
            <a:ext cx="3810000" cy="369332"/>
          </a:xfrm>
          <a:prstGeom prst="rect">
            <a:avLst/>
          </a:prstGeom>
          <a:noFill/>
        </p:spPr>
        <p:txBody>
          <a:bodyPr vert="horz" wrap="square" lIns="0" tIns="0" rIns="0" bIns="0" rtlCol="0" anchor="t">
            <a:noAutofit/>
          </a:bodyPr>
          <a:lstStyle/>
          <a:p>
            <a:pPr>
              <a:lnSpc>
                <a:spcPct val="100000"/>
              </a:lnSpc>
            </a:pPr>
            <a:r>
              <a:rPr lang="en-US" sz="1900" dirty="0">
                <a:solidFill>
                  <a:srgbClr val="F4F1E9"/>
                </a:solidFill>
                <a:latin typeface="Calibri"/>
                <a:cs typeface="Calibri"/>
              </a:rPr>
              <a:t>What file do you want back?</a:t>
            </a:r>
          </a:p>
        </p:txBody>
      </p:sp>
      <p:sp>
        <p:nvSpPr>
          <p:cNvPr id="24" name="TextBox 24"/>
          <p:cNvSpPr txBox="1"/>
          <p:nvPr/>
        </p:nvSpPr>
        <p:spPr>
          <a:xfrm>
            <a:off x="7264400" y="5765800"/>
            <a:ext cx="3810000" cy="500000"/>
          </a:xfrm>
          <a:prstGeom prst="rect">
            <a:avLst/>
          </a:prstGeom>
          <a:noFill/>
        </p:spPr>
        <p:txBody>
          <a:bodyPr vert="horz" wrap="square" lIns="0" tIns="0" rIns="0" bIns="0" rtlCol="0" anchor="t">
            <a:noAutofit/>
          </a:bodyPr>
          <a:lstStyle/>
          <a:p>
            <a:pPr>
              <a:lnSpc>
                <a:spcPct val="115000"/>
              </a:lnSpc>
            </a:pPr>
            <a:r>
              <a:rPr lang="en-US" sz="1600" i="1" dirty="0">
                <a:solidFill>
                  <a:srgbClr val="ADA48E"/>
                </a:solidFill>
                <a:latin typeface="Calibri"/>
                <a:cs typeface="Calibri"/>
              </a:rPr>
              <a:t>e.g., a .pdf slide deck I can present from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762000"/>
            <a:ext cx="105664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Six things your output must contain</a:t>
            </a:r>
          </a:p>
        </p:txBody>
      </p:sp>
      <p:sp>
        <p:nvSpPr>
          <p:cNvPr id="3" name="TextBox 3"/>
          <p:cNvSpPr txBox="1"/>
          <p:nvPr/>
        </p:nvSpPr>
        <p:spPr>
          <a:xfrm>
            <a:off x="812800" y="1676400"/>
            <a:ext cx="10566400" cy="369332"/>
          </a:xfrm>
          <a:prstGeom prst="rect">
            <a:avLst/>
          </a:prstGeom>
          <a:noFill/>
        </p:spPr>
        <p:txBody>
          <a:bodyPr vert="horz" wrap="square" lIns="0" tIns="0" rIns="0" bIns="0" rtlCol="0" anchor="t">
            <a:noAutofit/>
          </a:bodyPr>
          <a:lstStyle/>
          <a:p>
            <a:pPr>
              <a:lnSpc>
                <a:spcPct val="100000"/>
              </a:lnSpc>
            </a:pPr>
            <a:r>
              <a:rPr lang="en-US" sz="2000" dirty="0">
                <a:solidFill>
                  <a:srgbClr val="ADA48E"/>
                </a:solidFill>
                <a:latin typeface="Calibri"/>
                <a:cs typeface="Calibri"/>
              </a:rPr>
              <a:t>Each component is part of the assessment.</a:t>
            </a:r>
          </a:p>
        </p:txBody>
      </p:sp>
      <p:sp>
        <p:nvSpPr>
          <p:cNvPr id="4" name="Rectangle: Rounded Corners 4"/>
          <p:cNvSpPr/>
          <p:nvPr/>
        </p:nvSpPr>
        <p:spPr>
          <a:xfrm>
            <a:off x="812800" y="2362200"/>
            <a:ext cx="3318933" cy="1828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5" name="TextBox 5"/>
          <p:cNvSpPr txBox="1"/>
          <p:nvPr/>
        </p:nvSpPr>
        <p:spPr>
          <a:xfrm>
            <a:off x="1117600" y="2667000"/>
            <a:ext cx="2709333" cy="381000"/>
          </a:xfrm>
          <a:prstGeom prst="rect">
            <a:avLst/>
          </a:prstGeom>
          <a:noFill/>
        </p:spPr>
        <p:txBody>
          <a:bodyPr vert="horz" wrap="square" lIns="0" tIns="0" rIns="0" bIns="0" rtlCol="0" anchor="t">
            <a:noAutofit/>
          </a:bodyPr>
          <a:lstStyle/>
          <a:p>
            <a:pPr>
              <a:lnSpc>
                <a:spcPct val="100000"/>
              </a:lnSpc>
            </a:pPr>
            <a:r>
              <a:rPr lang="en-US" sz="1800" dirty="0">
                <a:solidFill>
                  <a:srgbClr val="D4AF37"/>
                </a:solidFill>
                <a:latin typeface="Calibri"/>
                <a:cs typeface="Calibri"/>
              </a:rPr>
              <a:t>THE PROBLEM</a:t>
            </a:r>
          </a:p>
        </p:txBody>
      </p:sp>
      <p:sp>
        <p:nvSpPr>
          <p:cNvPr id="6" name="TextBox 6"/>
          <p:cNvSpPr txBox="1"/>
          <p:nvPr/>
        </p:nvSpPr>
        <p:spPr>
          <a:xfrm>
            <a:off x="1117600" y="3124200"/>
            <a:ext cx="2709333" cy="900000"/>
          </a:xfrm>
          <a:prstGeom prst="rect">
            <a:avLst/>
          </a:prstGeom>
          <a:noFill/>
        </p:spPr>
        <p:txBody>
          <a:bodyPr vert="horz" wrap="square" lIns="0" tIns="0" rIns="0" bIns="0" rtlCol="0" anchor="t">
            <a:noAutofit/>
          </a:bodyPr>
          <a:lstStyle/>
          <a:p>
            <a:pPr>
              <a:lnSpc>
                <a:spcPct val="122000"/>
              </a:lnSpc>
            </a:pPr>
            <a:r>
              <a:rPr lang="en-US" sz="1500" dirty="0">
                <a:solidFill>
                  <a:srgbClr val="F4F1E9"/>
                </a:solidFill>
                <a:latin typeface="Calibri"/>
                <a:cs typeface="Calibri"/>
              </a:rPr>
              <a:t>What exactly is being argued about, in plain language.</a:t>
            </a:r>
          </a:p>
        </p:txBody>
      </p:sp>
      <p:sp>
        <p:nvSpPr>
          <p:cNvPr id="7" name="Rectangle: Rounded Corners 7"/>
          <p:cNvSpPr/>
          <p:nvPr/>
        </p:nvSpPr>
        <p:spPr>
          <a:xfrm>
            <a:off x="4436533" y="2362200"/>
            <a:ext cx="3318933" cy="1828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8" name="TextBox 8"/>
          <p:cNvSpPr txBox="1"/>
          <p:nvPr/>
        </p:nvSpPr>
        <p:spPr>
          <a:xfrm>
            <a:off x="4741333" y="2667000"/>
            <a:ext cx="2709333" cy="381000"/>
          </a:xfrm>
          <a:prstGeom prst="rect">
            <a:avLst/>
          </a:prstGeom>
          <a:noFill/>
        </p:spPr>
        <p:txBody>
          <a:bodyPr vert="horz" wrap="square" lIns="0" tIns="0" rIns="0" bIns="0" rtlCol="0" anchor="t">
            <a:noAutofit/>
          </a:bodyPr>
          <a:lstStyle/>
          <a:p>
            <a:pPr>
              <a:lnSpc>
                <a:spcPct val="100000"/>
              </a:lnSpc>
            </a:pPr>
            <a:r>
              <a:rPr lang="en-US" sz="1800" dirty="0">
                <a:solidFill>
                  <a:srgbClr val="D4AF37"/>
                </a:solidFill>
                <a:latin typeface="Calibri"/>
                <a:cs typeface="Calibri"/>
              </a:rPr>
              <a:t>THE STAKEHOLDERS</a:t>
            </a:r>
          </a:p>
        </p:txBody>
      </p:sp>
      <p:sp>
        <p:nvSpPr>
          <p:cNvPr id="9" name="TextBox 9"/>
          <p:cNvSpPr txBox="1"/>
          <p:nvPr/>
        </p:nvSpPr>
        <p:spPr>
          <a:xfrm>
            <a:off x="4741333" y="3124200"/>
            <a:ext cx="2709333" cy="900000"/>
          </a:xfrm>
          <a:prstGeom prst="rect">
            <a:avLst/>
          </a:prstGeom>
          <a:noFill/>
        </p:spPr>
        <p:txBody>
          <a:bodyPr vert="horz" wrap="square" lIns="0" tIns="0" rIns="0" bIns="0" rtlCol="0" anchor="t">
            <a:noAutofit/>
          </a:bodyPr>
          <a:lstStyle/>
          <a:p>
            <a:pPr>
              <a:lnSpc>
                <a:spcPct val="122000"/>
              </a:lnSpc>
            </a:pPr>
            <a:r>
              <a:rPr lang="en-US" sz="1500" dirty="0">
                <a:solidFill>
                  <a:srgbClr val="F4F1E9"/>
                </a:solidFill>
                <a:latin typeface="Calibri"/>
                <a:cs typeface="Calibri"/>
              </a:rPr>
              <a:t>Companies, executives, regulators, courts, users, workers.</a:t>
            </a:r>
          </a:p>
        </p:txBody>
      </p:sp>
      <p:sp>
        <p:nvSpPr>
          <p:cNvPr id="10" name="Rectangle: Rounded Corners 10"/>
          <p:cNvSpPr/>
          <p:nvPr/>
        </p:nvSpPr>
        <p:spPr>
          <a:xfrm>
            <a:off x="8060266" y="2362200"/>
            <a:ext cx="3318933" cy="1828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1" name="TextBox 11"/>
          <p:cNvSpPr txBox="1"/>
          <p:nvPr/>
        </p:nvSpPr>
        <p:spPr>
          <a:xfrm>
            <a:off x="8365066" y="2667000"/>
            <a:ext cx="2709333" cy="381000"/>
          </a:xfrm>
          <a:prstGeom prst="rect">
            <a:avLst/>
          </a:prstGeom>
          <a:noFill/>
        </p:spPr>
        <p:txBody>
          <a:bodyPr vert="horz" wrap="square" lIns="0" tIns="0" rIns="0" bIns="0" rtlCol="0" anchor="t">
            <a:noAutofit/>
          </a:bodyPr>
          <a:lstStyle/>
          <a:p>
            <a:pPr>
              <a:lnSpc>
                <a:spcPct val="100000"/>
              </a:lnSpc>
            </a:pPr>
            <a:r>
              <a:rPr lang="en-US" sz="1800">
                <a:solidFill>
                  <a:srgbClr val="D4AF37"/>
                </a:solidFill>
                <a:latin typeface="Calibri"/>
                <a:cs typeface="Calibri"/>
              </a:rPr>
              <a:t>THE TENSION</a:t>
            </a:r>
          </a:p>
        </p:txBody>
      </p:sp>
      <p:sp>
        <p:nvSpPr>
          <p:cNvPr id="12" name="TextBox 12"/>
          <p:cNvSpPr txBox="1"/>
          <p:nvPr/>
        </p:nvSpPr>
        <p:spPr>
          <a:xfrm>
            <a:off x="8365066" y="3124200"/>
            <a:ext cx="2709333" cy="900000"/>
          </a:xfrm>
          <a:prstGeom prst="rect">
            <a:avLst/>
          </a:prstGeom>
          <a:noFill/>
        </p:spPr>
        <p:txBody>
          <a:bodyPr vert="horz" wrap="square" lIns="0" tIns="0" rIns="0" bIns="0" rtlCol="0" anchor="t">
            <a:noAutofit/>
          </a:bodyPr>
          <a:lstStyle/>
          <a:p>
            <a:pPr>
              <a:lnSpc>
                <a:spcPct val="122000"/>
              </a:lnSpc>
            </a:pPr>
            <a:r>
              <a:rPr lang="en-US" sz="1500" dirty="0">
                <a:solidFill>
                  <a:srgbClr val="F4F1E9"/>
                </a:solidFill>
                <a:latin typeface="Calibri"/>
                <a:cs typeface="Calibri"/>
              </a:rPr>
              <a:t>Which two good things are pulling against each other.</a:t>
            </a:r>
          </a:p>
        </p:txBody>
      </p:sp>
      <p:sp>
        <p:nvSpPr>
          <p:cNvPr id="13" name="Rectangle: Rounded Corners 13"/>
          <p:cNvSpPr/>
          <p:nvPr/>
        </p:nvSpPr>
        <p:spPr>
          <a:xfrm>
            <a:off x="812800" y="4419600"/>
            <a:ext cx="3318933" cy="1828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4" name="TextBox 14"/>
          <p:cNvSpPr txBox="1"/>
          <p:nvPr/>
        </p:nvSpPr>
        <p:spPr>
          <a:xfrm>
            <a:off x="1117600" y="4724400"/>
            <a:ext cx="2709333" cy="381000"/>
          </a:xfrm>
          <a:prstGeom prst="rect">
            <a:avLst/>
          </a:prstGeom>
          <a:noFill/>
        </p:spPr>
        <p:txBody>
          <a:bodyPr vert="horz" wrap="square" lIns="0" tIns="0" rIns="0" bIns="0" rtlCol="0" anchor="t">
            <a:noAutofit/>
          </a:bodyPr>
          <a:lstStyle/>
          <a:p>
            <a:pPr>
              <a:lnSpc>
                <a:spcPct val="100000"/>
              </a:lnSpc>
            </a:pPr>
            <a:r>
              <a:rPr lang="en-US" dirty="0">
                <a:solidFill>
                  <a:srgbClr val="D4AF37"/>
                </a:solidFill>
                <a:latin typeface="Calibri"/>
                <a:cs typeface="Calibri"/>
              </a:rPr>
              <a:t>PRIOR CONTEXT</a:t>
            </a:r>
            <a:endParaRPr lang="en-US" sz="1800" dirty="0">
              <a:solidFill>
                <a:srgbClr val="D4AF37"/>
              </a:solidFill>
              <a:latin typeface="Calibri"/>
              <a:cs typeface="Calibri"/>
            </a:endParaRPr>
          </a:p>
        </p:txBody>
      </p:sp>
      <p:sp>
        <p:nvSpPr>
          <p:cNvPr id="15" name="TextBox 15"/>
          <p:cNvSpPr txBox="1"/>
          <p:nvPr/>
        </p:nvSpPr>
        <p:spPr>
          <a:xfrm>
            <a:off x="1117600" y="5181600"/>
            <a:ext cx="2709333" cy="900000"/>
          </a:xfrm>
          <a:prstGeom prst="rect">
            <a:avLst/>
          </a:prstGeom>
          <a:noFill/>
        </p:spPr>
        <p:txBody>
          <a:bodyPr vert="horz" wrap="square" lIns="0" tIns="0" rIns="0" bIns="0" rtlCol="0" anchor="t">
            <a:noAutofit/>
          </a:bodyPr>
          <a:lstStyle/>
          <a:p>
            <a:pPr>
              <a:lnSpc>
                <a:spcPct val="122000"/>
              </a:lnSpc>
            </a:pPr>
            <a:r>
              <a:rPr lang="en-US" sz="1500" dirty="0">
                <a:solidFill>
                  <a:srgbClr val="F4F1E9"/>
                </a:solidFill>
                <a:latin typeface="Calibri"/>
                <a:cs typeface="Calibri"/>
              </a:rPr>
              <a:t>Find a relevant older case as a point of comparison and discuss how that one ended.</a:t>
            </a:r>
          </a:p>
        </p:txBody>
      </p:sp>
      <p:sp>
        <p:nvSpPr>
          <p:cNvPr id="16" name="Rectangle: Rounded Corners 16"/>
          <p:cNvSpPr/>
          <p:nvPr/>
        </p:nvSpPr>
        <p:spPr>
          <a:xfrm>
            <a:off x="4436533" y="4419600"/>
            <a:ext cx="3318933" cy="1828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7" name="TextBox 17"/>
          <p:cNvSpPr txBox="1"/>
          <p:nvPr/>
        </p:nvSpPr>
        <p:spPr>
          <a:xfrm>
            <a:off x="4741333" y="4724400"/>
            <a:ext cx="2709333" cy="381000"/>
          </a:xfrm>
          <a:prstGeom prst="rect">
            <a:avLst/>
          </a:prstGeom>
          <a:noFill/>
        </p:spPr>
        <p:txBody>
          <a:bodyPr vert="horz" wrap="square" lIns="0" tIns="0" rIns="0" bIns="0" rtlCol="0" anchor="t">
            <a:noAutofit/>
          </a:bodyPr>
          <a:lstStyle/>
          <a:p>
            <a:pPr>
              <a:lnSpc>
                <a:spcPct val="100000"/>
              </a:lnSpc>
            </a:pPr>
            <a:r>
              <a:rPr lang="en-US" sz="1800">
                <a:solidFill>
                  <a:srgbClr val="D4AF37"/>
                </a:solidFill>
                <a:latin typeface="Calibri"/>
                <a:cs typeface="Calibri"/>
              </a:rPr>
              <a:t>WHAT IS NEXT</a:t>
            </a:r>
          </a:p>
        </p:txBody>
      </p:sp>
      <p:sp>
        <p:nvSpPr>
          <p:cNvPr id="18" name="TextBox 18"/>
          <p:cNvSpPr txBox="1"/>
          <p:nvPr/>
        </p:nvSpPr>
        <p:spPr>
          <a:xfrm>
            <a:off x="4741333" y="5181600"/>
            <a:ext cx="2709333" cy="900000"/>
          </a:xfrm>
          <a:prstGeom prst="rect">
            <a:avLst/>
          </a:prstGeom>
          <a:noFill/>
        </p:spPr>
        <p:txBody>
          <a:bodyPr vert="horz" wrap="square" lIns="0" tIns="0" rIns="0" bIns="0" rtlCol="0" anchor="t">
            <a:noAutofit/>
          </a:bodyPr>
          <a:lstStyle/>
          <a:p>
            <a:pPr>
              <a:lnSpc>
                <a:spcPct val="122000"/>
              </a:lnSpc>
            </a:pPr>
            <a:r>
              <a:rPr lang="en-US" sz="1500" dirty="0">
                <a:solidFill>
                  <a:srgbClr val="F4F1E9"/>
                </a:solidFill>
                <a:latin typeface="Calibri"/>
                <a:cs typeface="Calibri"/>
              </a:rPr>
              <a:t>Where do you think this is likely headed over the next few years.</a:t>
            </a:r>
          </a:p>
        </p:txBody>
      </p:sp>
      <p:sp>
        <p:nvSpPr>
          <p:cNvPr id="19" name="Rectangle: Rounded Corners 19"/>
          <p:cNvSpPr/>
          <p:nvPr/>
        </p:nvSpPr>
        <p:spPr>
          <a:xfrm>
            <a:off x="8060266" y="4419600"/>
            <a:ext cx="3318933" cy="1828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20" name="TextBox 20"/>
          <p:cNvSpPr txBox="1"/>
          <p:nvPr/>
        </p:nvSpPr>
        <p:spPr>
          <a:xfrm>
            <a:off x="8365066" y="4724400"/>
            <a:ext cx="2709333" cy="381000"/>
          </a:xfrm>
          <a:prstGeom prst="rect">
            <a:avLst/>
          </a:prstGeom>
          <a:noFill/>
        </p:spPr>
        <p:txBody>
          <a:bodyPr vert="horz" wrap="square" lIns="0" tIns="0" rIns="0" bIns="0" rtlCol="0" anchor="t">
            <a:noAutofit/>
          </a:bodyPr>
          <a:lstStyle/>
          <a:p>
            <a:pPr>
              <a:lnSpc>
                <a:spcPct val="100000"/>
              </a:lnSpc>
            </a:pPr>
            <a:r>
              <a:rPr lang="en-US" sz="1800">
                <a:solidFill>
                  <a:srgbClr val="D4AF37"/>
                </a:solidFill>
                <a:latin typeface="Calibri"/>
                <a:cs typeface="Calibri"/>
              </a:rPr>
              <a:t>THE QUESTIONS</a:t>
            </a:r>
          </a:p>
        </p:txBody>
      </p:sp>
      <p:sp>
        <p:nvSpPr>
          <p:cNvPr id="21" name="TextBox 21"/>
          <p:cNvSpPr txBox="1"/>
          <p:nvPr/>
        </p:nvSpPr>
        <p:spPr>
          <a:xfrm>
            <a:off x="8365066" y="5181600"/>
            <a:ext cx="2709333" cy="900000"/>
          </a:xfrm>
          <a:prstGeom prst="rect">
            <a:avLst/>
          </a:prstGeom>
          <a:noFill/>
        </p:spPr>
        <p:txBody>
          <a:bodyPr vert="horz" wrap="square" lIns="0" tIns="0" rIns="0" bIns="0" rtlCol="0" anchor="t">
            <a:noAutofit/>
          </a:bodyPr>
          <a:lstStyle/>
          <a:p>
            <a:pPr>
              <a:lnSpc>
                <a:spcPct val="122000"/>
              </a:lnSpc>
            </a:pPr>
            <a:r>
              <a:rPr lang="en-US" sz="1500" dirty="0">
                <a:solidFill>
                  <a:srgbClr val="F4F1E9"/>
                </a:solidFill>
                <a:latin typeface="Calibri"/>
                <a:cs typeface="Calibri"/>
              </a:rPr>
              <a:t>Two or three discussion questions for the class.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762000"/>
            <a:ext cx="105664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Ask for receipts, not vibes</a:t>
            </a:r>
          </a:p>
        </p:txBody>
      </p:sp>
      <p:sp>
        <p:nvSpPr>
          <p:cNvPr id="3" name="TextBox 3"/>
          <p:cNvSpPr txBox="1"/>
          <p:nvPr/>
        </p:nvSpPr>
        <p:spPr>
          <a:xfrm>
            <a:off x="812800" y="1676400"/>
            <a:ext cx="10566400" cy="369332"/>
          </a:xfrm>
          <a:prstGeom prst="rect">
            <a:avLst/>
          </a:prstGeom>
          <a:noFill/>
        </p:spPr>
        <p:txBody>
          <a:bodyPr vert="horz" wrap="square" lIns="0" tIns="0" rIns="0" bIns="0" rtlCol="0" anchor="t">
            <a:noAutofit/>
          </a:bodyPr>
          <a:lstStyle/>
          <a:p>
            <a:pPr>
              <a:lnSpc>
                <a:spcPct val="100000"/>
              </a:lnSpc>
            </a:pPr>
            <a:r>
              <a:rPr lang="en-US" sz="2000">
                <a:solidFill>
                  <a:srgbClr val="ADA48E"/>
                </a:solidFill>
                <a:latin typeface="Calibri"/>
                <a:cs typeface="Calibri"/>
              </a:rPr>
              <a:t>Put these three sentences in your prompt, close to word for word.</a:t>
            </a:r>
          </a:p>
        </p:txBody>
      </p:sp>
      <p:sp>
        <p:nvSpPr>
          <p:cNvPr id="4" name="Rectangle: Rounded Corners 4"/>
          <p:cNvSpPr/>
          <p:nvPr/>
        </p:nvSpPr>
        <p:spPr>
          <a:xfrm>
            <a:off x="812800" y="2489200"/>
            <a:ext cx="10566400" cy="1016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5" name="TextBox 5"/>
          <p:cNvSpPr txBox="1"/>
          <p:nvPr/>
        </p:nvSpPr>
        <p:spPr>
          <a:xfrm>
            <a:off x="1244600" y="2717800"/>
            <a:ext cx="9753600" cy="700000"/>
          </a:xfrm>
          <a:prstGeom prst="rect">
            <a:avLst/>
          </a:prstGeom>
          <a:noFill/>
        </p:spPr>
        <p:txBody>
          <a:bodyPr vert="horz" wrap="square" lIns="0" tIns="0" rIns="0" bIns="0" rtlCol="0" anchor="t">
            <a:noAutofit/>
          </a:bodyPr>
          <a:lstStyle/>
          <a:p>
            <a:pPr>
              <a:lnSpc>
                <a:spcPct val="118000"/>
              </a:lnSpc>
            </a:pPr>
            <a:r>
              <a:rPr lang="en-US" sz="1800" dirty="0">
                <a:solidFill>
                  <a:srgbClr val="D4AF37"/>
                </a:solidFill>
                <a:latin typeface="Calibri"/>
                <a:cs typeface="Calibri"/>
              </a:rPr>
              <a:t>Use reputable, named sources published in 2025 or later. No blogs, no content farms, no AI-written summaries.</a:t>
            </a:r>
          </a:p>
        </p:txBody>
      </p:sp>
      <p:sp>
        <p:nvSpPr>
          <p:cNvPr id="6" name="Rectangle: Rounded Corners 6"/>
          <p:cNvSpPr/>
          <p:nvPr/>
        </p:nvSpPr>
        <p:spPr>
          <a:xfrm>
            <a:off x="812800" y="3657600"/>
            <a:ext cx="10566400" cy="1016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7" name="TextBox 7"/>
          <p:cNvSpPr txBox="1"/>
          <p:nvPr/>
        </p:nvSpPr>
        <p:spPr>
          <a:xfrm>
            <a:off x="1244600" y="3886200"/>
            <a:ext cx="9753600" cy="700000"/>
          </a:xfrm>
          <a:prstGeom prst="rect">
            <a:avLst/>
          </a:prstGeom>
          <a:noFill/>
        </p:spPr>
        <p:txBody>
          <a:bodyPr vert="horz" wrap="square" lIns="0" tIns="0" rIns="0" bIns="0" rtlCol="0" anchor="t">
            <a:noAutofit/>
          </a:bodyPr>
          <a:lstStyle/>
          <a:p>
            <a:pPr>
              <a:lnSpc>
                <a:spcPct val="118000"/>
              </a:lnSpc>
            </a:pPr>
            <a:r>
              <a:rPr lang="en-US" sz="1800">
                <a:solidFill>
                  <a:srgbClr val="D4AF37"/>
                </a:solidFill>
                <a:latin typeface="Calibri"/>
                <a:cs typeface="Calibri"/>
              </a:rPr>
              <a:t>End with a numbered reference list. Every entry needs a title, an outlet, a date, and a working link.</a:t>
            </a:r>
          </a:p>
        </p:txBody>
      </p:sp>
      <p:sp>
        <p:nvSpPr>
          <p:cNvPr id="8" name="Rectangle: Rounded Corners 8"/>
          <p:cNvSpPr/>
          <p:nvPr/>
        </p:nvSpPr>
        <p:spPr>
          <a:xfrm>
            <a:off x="812800" y="4826000"/>
            <a:ext cx="10566400" cy="1016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9" name="TextBox 9"/>
          <p:cNvSpPr txBox="1"/>
          <p:nvPr/>
        </p:nvSpPr>
        <p:spPr>
          <a:xfrm>
            <a:off x="1244600" y="5054600"/>
            <a:ext cx="9753600" cy="700000"/>
          </a:xfrm>
          <a:prstGeom prst="rect">
            <a:avLst/>
          </a:prstGeom>
          <a:noFill/>
        </p:spPr>
        <p:txBody>
          <a:bodyPr vert="horz" wrap="square" lIns="0" tIns="0" rIns="0" bIns="0" rtlCol="0" anchor="t">
            <a:noAutofit/>
          </a:bodyPr>
          <a:lstStyle/>
          <a:p>
            <a:pPr>
              <a:lnSpc>
                <a:spcPct val="118000"/>
              </a:lnSpc>
            </a:pPr>
            <a:r>
              <a:rPr lang="en-US" sz="1800" dirty="0">
                <a:solidFill>
                  <a:srgbClr val="D4AF37"/>
                </a:solidFill>
                <a:latin typeface="Calibri"/>
                <a:cs typeface="Calibri"/>
              </a:rPr>
              <a:t>Include at least three direct quotes in quotation marks, each with the speaker's name, their title, and the source it came from.</a:t>
            </a:r>
          </a:p>
        </p:txBody>
      </p:sp>
      <p:sp>
        <p:nvSpPr>
          <p:cNvPr id="10" name="TextBox 10"/>
          <p:cNvSpPr txBox="1"/>
          <p:nvPr/>
        </p:nvSpPr>
        <p:spPr>
          <a:xfrm>
            <a:off x="812800" y="6096000"/>
            <a:ext cx="10566400" cy="369332"/>
          </a:xfrm>
          <a:prstGeom prst="rect">
            <a:avLst/>
          </a:prstGeom>
          <a:noFill/>
        </p:spPr>
        <p:txBody>
          <a:bodyPr vert="horz" wrap="square" lIns="0" tIns="0" rIns="0" bIns="0" rtlCol="0" anchor="t">
            <a:noAutofit/>
          </a:bodyPr>
          <a:lstStyle/>
          <a:p>
            <a:pPr>
              <a:lnSpc>
                <a:spcPct val="100000"/>
              </a:lnSpc>
            </a:pPr>
            <a:r>
              <a:rPr lang="en-US" sz="1900" dirty="0">
                <a:solidFill>
                  <a:srgbClr val="ADA48E"/>
                </a:solidFill>
                <a:latin typeface="Calibri"/>
                <a:cs typeface="Calibri"/>
              </a:rPr>
              <a:t>Vague prompts produce confident nonsense. Specific prompts produce something you can actually check.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762000"/>
            <a:ext cx="105664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Pick your output format</a:t>
            </a:r>
          </a:p>
        </p:txBody>
      </p:sp>
      <p:sp>
        <p:nvSpPr>
          <p:cNvPr id="3" name="TextBox 3"/>
          <p:cNvSpPr txBox="1"/>
          <p:nvPr/>
        </p:nvSpPr>
        <p:spPr>
          <a:xfrm>
            <a:off x="812800" y="1676400"/>
            <a:ext cx="10566400" cy="369332"/>
          </a:xfrm>
          <a:prstGeom prst="rect">
            <a:avLst/>
          </a:prstGeom>
          <a:noFill/>
        </p:spPr>
        <p:txBody>
          <a:bodyPr vert="horz" wrap="square" lIns="0" tIns="0" rIns="0" bIns="0" rtlCol="0" anchor="t">
            <a:noAutofit/>
          </a:bodyPr>
          <a:lstStyle/>
          <a:p>
            <a:pPr>
              <a:lnSpc>
                <a:spcPct val="100000"/>
              </a:lnSpc>
            </a:pPr>
            <a:r>
              <a:rPr lang="en-US" sz="2000" dirty="0">
                <a:solidFill>
                  <a:srgbClr val="ADA48E"/>
                </a:solidFill>
                <a:latin typeface="Calibri"/>
                <a:cs typeface="Calibri"/>
              </a:rPr>
              <a:t>Three options – your output must be able to  go up on the classroom projector.</a:t>
            </a:r>
          </a:p>
        </p:txBody>
      </p:sp>
      <p:sp>
        <p:nvSpPr>
          <p:cNvPr id="4" name="Rectangle: Rounded Corners 4"/>
          <p:cNvSpPr/>
          <p:nvPr/>
        </p:nvSpPr>
        <p:spPr>
          <a:xfrm>
            <a:off x="812800" y="2540000"/>
            <a:ext cx="3318933" cy="2209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5" name="TextBox 5"/>
          <p:cNvSpPr txBox="1"/>
          <p:nvPr/>
        </p:nvSpPr>
        <p:spPr>
          <a:xfrm>
            <a:off x="1117600" y="2921000"/>
            <a:ext cx="2709333" cy="400000"/>
          </a:xfrm>
          <a:prstGeom prst="rect">
            <a:avLst/>
          </a:prstGeom>
          <a:noFill/>
        </p:spPr>
        <p:txBody>
          <a:bodyPr vert="horz" wrap="square" lIns="0" tIns="0" rIns="0" bIns="0" rtlCol="0" anchor="t">
            <a:noAutofit/>
          </a:bodyPr>
          <a:lstStyle/>
          <a:p>
            <a:pPr>
              <a:lnSpc>
                <a:spcPct val="100000"/>
              </a:lnSpc>
            </a:pPr>
            <a:r>
              <a:rPr lang="en-US" sz="2300">
                <a:solidFill>
                  <a:srgbClr val="D4AF37"/>
                </a:solidFill>
                <a:latin typeface="Calibri"/>
                <a:cs typeface="Calibri"/>
              </a:rPr>
              <a:t>.pptx</a:t>
            </a:r>
          </a:p>
        </p:txBody>
      </p:sp>
      <p:sp>
        <p:nvSpPr>
          <p:cNvPr id="6" name="TextBox 6"/>
          <p:cNvSpPr txBox="1"/>
          <p:nvPr/>
        </p:nvSpPr>
        <p:spPr>
          <a:xfrm>
            <a:off x="1117600" y="3429000"/>
            <a:ext cx="2709333" cy="400000"/>
          </a:xfrm>
          <a:prstGeom prst="rect">
            <a:avLst/>
          </a:prstGeom>
          <a:noFill/>
        </p:spPr>
        <p:txBody>
          <a:bodyPr vert="horz" wrap="square" lIns="0" tIns="0" rIns="0" bIns="0" rtlCol="0" anchor="t">
            <a:noAutofit/>
          </a:bodyPr>
          <a:lstStyle/>
          <a:p>
            <a:pPr>
              <a:lnSpc>
                <a:spcPct val="100000"/>
              </a:lnSpc>
            </a:pPr>
            <a:r>
              <a:rPr lang="en-US" sz="2000" b="1">
                <a:solidFill>
                  <a:srgbClr val="E9CD7A"/>
                </a:solidFill>
                <a:latin typeface="Cambria"/>
                <a:cs typeface="Cambria"/>
              </a:rPr>
              <a:t>Slides</a:t>
            </a:r>
          </a:p>
        </p:txBody>
      </p:sp>
      <p:sp>
        <p:nvSpPr>
          <p:cNvPr id="7" name="TextBox 7"/>
          <p:cNvSpPr txBox="1"/>
          <p:nvPr/>
        </p:nvSpPr>
        <p:spPr>
          <a:xfrm>
            <a:off x="1117600" y="3987800"/>
            <a:ext cx="2709333" cy="700000"/>
          </a:xfrm>
          <a:prstGeom prst="rect">
            <a:avLst/>
          </a:prstGeom>
          <a:noFill/>
        </p:spPr>
        <p:txBody>
          <a:bodyPr vert="horz" wrap="square" lIns="0" tIns="0" rIns="0" bIns="0" rtlCol="0" anchor="t">
            <a:noAutofit/>
          </a:bodyPr>
          <a:lstStyle/>
          <a:p>
            <a:pPr>
              <a:lnSpc>
                <a:spcPct val="122000"/>
              </a:lnSpc>
            </a:pPr>
            <a:r>
              <a:rPr lang="en-US" sz="1600" dirty="0">
                <a:solidFill>
                  <a:srgbClr val="F4F1E9"/>
                </a:solidFill>
                <a:latin typeface="Calibri"/>
                <a:cs typeface="Calibri"/>
              </a:rPr>
              <a:t>Easiest to talk over. You can ask for speaker notes too!</a:t>
            </a:r>
          </a:p>
        </p:txBody>
      </p:sp>
      <p:sp>
        <p:nvSpPr>
          <p:cNvPr id="8" name="Rectangle: Rounded Corners 8"/>
          <p:cNvSpPr/>
          <p:nvPr/>
        </p:nvSpPr>
        <p:spPr>
          <a:xfrm>
            <a:off x="4436533" y="2540000"/>
            <a:ext cx="3318933" cy="2209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9" name="TextBox 9"/>
          <p:cNvSpPr txBox="1"/>
          <p:nvPr/>
        </p:nvSpPr>
        <p:spPr>
          <a:xfrm>
            <a:off x="4741333" y="2921000"/>
            <a:ext cx="2709333" cy="400000"/>
          </a:xfrm>
          <a:prstGeom prst="rect">
            <a:avLst/>
          </a:prstGeom>
          <a:noFill/>
        </p:spPr>
        <p:txBody>
          <a:bodyPr vert="horz" wrap="square" lIns="0" tIns="0" rIns="0" bIns="0" rtlCol="0" anchor="t">
            <a:noAutofit/>
          </a:bodyPr>
          <a:lstStyle/>
          <a:p>
            <a:pPr>
              <a:lnSpc>
                <a:spcPct val="100000"/>
              </a:lnSpc>
            </a:pPr>
            <a:r>
              <a:rPr lang="en-US" sz="2300">
                <a:solidFill>
                  <a:srgbClr val="D4AF37"/>
                </a:solidFill>
                <a:latin typeface="Calibri"/>
                <a:cs typeface="Calibri"/>
              </a:rPr>
              <a:t>.pdf</a:t>
            </a:r>
          </a:p>
        </p:txBody>
      </p:sp>
      <p:sp>
        <p:nvSpPr>
          <p:cNvPr id="10" name="TextBox 10"/>
          <p:cNvSpPr txBox="1"/>
          <p:nvPr/>
        </p:nvSpPr>
        <p:spPr>
          <a:xfrm>
            <a:off x="4741333" y="3429000"/>
            <a:ext cx="2709333" cy="400000"/>
          </a:xfrm>
          <a:prstGeom prst="rect">
            <a:avLst/>
          </a:prstGeom>
          <a:noFill/>
        </p:spPr>
        <p:txBody>
          <a:bodyPr vert="horz" wrap="square" lIns="0" tIns="0" rIns="0" bIns="0" rtlCol="0" anchor="t">
            <a:noAutofit/>
          </a:bodyPr>
          <a:lstStyle/>
          <a:p>
            <a:pPr>
              <a:lnSpc>
                <a:spcPct val="100000"/>
              </a:lnSpc>
            </a:pPr>
            <a:r>
              <a:rPr lang="en-US" sz="2000" b="1">
                <a:solidFill>
                  <a:srgbClr val="E9CD7A"/>
                </a:solidFill>
                <a:latin typeface="Cambria"/>
                <a:cs typeface="Cambria"/>
              </a:rPr>
              <a:t>Document</a:t>
            </a:r>
          </a:p>
        </p:txBody>
      </p:sp>
      <p:sp>
        <p:nvSpPr>
          <p:cNvPr id="11" name="TextBox 11"/>
          <p:cNvSpPr txBox="1"/>
          <p:nvPr/>
        </p:nvSpPr>
        <p:spPr>
          <a:xfrm>
            <a:off x="4741333" y="3987800"/>
            <a:ext cx="2709333" cy="700000"/>
          </a:xfrm>
          <a:prstGeom prst="rect">
            <a:avLst/>
          </a:prstGeom>
          <a:noFill/>
        </p:spPr>
        <p:txBody>
          <a:bodyPr vert="horz" wrap="square" lIns="0" tIns="0" rIns="0" bIns="0" rtlCol="0" anchor="t">
            <a:noAutofit/>
          </a:bodyPr>
          <a:lstStyle/>
          <a:p>
            <a:pPr>
              <a:lnSpc>
                <a:spcPct val="122000"/>
              </a:lnSpc>
            </a:pPr>
            <a:r>
              <a:rPr lang="en-US" sz="1600" dirty="0">
                <a:solidFill>
                  <a:srgbClr val="F4F1E9"/>
                </a:solidFill>
                <a:latin typeface="Calibri"/>
                <a:cs typeface="Calibri"/>
              </a:rPr>
              <a:t>Can also print it, mark it up, hand it around the room.</a:t>
            </a:r>
          </a:p>
        </p:txBody>
      </p:sp>
      <p:sp>
        <p:nvSpPr>
          <p:cNvPr id="12" name="Rectangle: Rounded Corners 12"/>
          <p:cNvSpPr/>
          <p:nvPr/>
        </p:nvSpPr>
        <p:spPr>
          <a:xfrm>
            <a:off x="8060266" y="2540000"/>
            <a:ext cx="3318933" cy="2209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3" name="TextBox 13"/>
          <p:cNvSpPr txBox="1"/>
          <p:nvPr/>
        </p:nvSpPr>
        <p:spPr>
          <a:xfrm>
            <a:off x="8365066" y="2921000"/>
            <a:ext cx="2709333" cy="400000"/>
          </a:xfrm>
          <a:prstGeom prst="rect">
            <a:avLst/>
          </a:prstGeom>
          <a:noFill/>
        </p:spPr>
        <p:txBody>
          <a:bodyPr vert="horz" wrap="square" lIns="0" tIns="0" rIns="0" bIns="0" rtlCol="0" anchor="t">
            <a:noAutofit/>
          </a:bodyPr>
          <a:lstStyle/>
          <a:p>
            <a:pPr>
              <a:lnSpc>
                <a:spcPct val="100000"/>
              </a:lnSpc>
            </a:pPr>
            <a:r>
              <a:rPr lang="en-US" sz="2300">
                <a:solidFill>
                  <a:srgbClr val="D4AF37"/>
                </a:solidFill>
                <a:latin typeface="Calibri"/>
                <a:cs typeface="Calibri"/>
              </a:rPr>
              <a:t>HTML</a:t>
            </a:r>
          </a:p>
        </p:txBody>
      </p:sp>
      <p:sp>
        <p:nvSpPr>
          <p:cNvPr id="14" name="TextBox 14"/>
          <p:cNvSpPr txBox="1"/>
          <p:nvPr/>
        </p:nvSpPr>
        <p:spPr>
          <a:xfrm>
            <a:off x="8365066" y="3429000"/>
            <a:ext cx="2709333" cy="400000"/>
          </a:xfrm>
          <a:prstGeom prst="rect">
            <a:avLst/>
          </a:prstGeom>
          <a:noFill/>
        </p:spPr>
        <p:txBody>
          <a:bodyPr vert="horz" wrap="square" lIns="0" tIns="0" rIns="0" bIns="0" rtlCol="0" anchor="t">
            <a:noAutofit/>
          </a:bodyPr>
          <a:lstStyle/>
          <a:p>
            <a:pPr>
              <a:lnSpc>
                <a:spcPct val="100000"/>
              </a:lnSpc>
            </a:pPr>
            <a:r>
              <a:rPr lang="en-US" sz="2000" b="1">
                <a:solidFill>
                  <a:srgbClr val="E9CD7A"/>
                </a:solidFill>
                <a:latin typeface="Cambria"/>
                <a:cs typeface="Cambria"/>
              </a:rPr>
              <a:t>Webpage</a:t>
            </a:r>
          </a:p>
        </p:txBody>
      </p:sp>
      <p:sp>
        <p:nvSpPr>
          <p:cNvPr id="15" name="TextBox 15"/>
          <p:cNvSpPr txBox="1"/>
          <p:nvPr/>
        </p:nvSpPr>
        <p:spPr>
          <a:xfrm>
            <a:off x="8365066" y="3987800"/>
            <a:ext cx="2709333" cy="700000"/>
          </a:xfrm>
          <a:prstGeom prst="rect">
            <a:avLst/>
          </a:prstGeom>
          <a:noFill/>
        </p:spPr>
        <p:txBody>
          <a:bodyPr vert="horz" wrap="square" lIns="0" tIns="0" rIns="0" bIns="0" rtlCol="0" anchor="t">
            <a:noAutofit/>
          </a:bodyPr>
          <a:lstStyle/>
          <a:p>
            <a:pPr>
              <a:lnSpc>
                <a:spcPct val="122000"/>
              </a:lnSpc>
            </a:pPr>
            <a:r>
              <a:rPr lang="en-US" sz="1600" dirty="0">
                <a:solidFill>
                  <a:srgbClr val="F4F1E9"/>
                </a:solidFill>
                <a:latin typeface="Calibri"/>
                <a:cs typeface="Calibri"/>
              </a:rPr>
              <a:t>One file that opens in any browser. Nice for visuals.</a:t>
            </a:r>
          </a:p>
        </p:txBody>
      </p:sp>
      <p:sp>
        <p:nvSpPr>
          <p:cNvPr id="16" name="TextBox 16"/>
          <p:cNvSpPr txBox="1"/>
          <p:nvPr/>
        </p:nvSpPr>
        <p:spPr>
          <a:xfrm>
            <a:off x="812800" y="5181600"/>
            <a:ext cx="10566400" cy="369332"/>
          </a:xfrm>
          <a:prstGeom prst="rect">
            <a:avLst/>
          </a:prstGeom>
          <a:noFill/>
        </p:spPr>
        <p:txBody>
          <a:bodyPr vert="horz" wrap="square" lIns="0" tIns="0" rIns="0" bIns="0" rtlCol="0" anchor="t">
            <a:noAutofit/>
          </a:bodyPr>
          <a:lstStyle/>
          <a:p>
            <a:pPr>
              <a:lnSpc>
                <a:spcPct val="100000"/>
              </a:lnSpc>
            </a:pPr>
            <a:r>
              <a:rPr lang="en-US" sz="2000" dirty="0">
                <a:solidFill>
                  <a:srgbClr val="E9CD7A"/>
                </a:solidFill>
                <a:latin typeface="Calibri"/>
                <a:cs typeface="Calibri"/>
              </a:rPr>
              <a:t>Whatever you pick, name it in the prompt, and make sure the links inside it are clickable.</a:t>
            </a:r>
          </a:p>
        </p:txBody>
      </p:sp>
      <p:sp>
        <p:nvSpPr>
          <p:cNvPr id="17" name="TextBox 17"/>
          <p:cNvSpPr txBox="1"/>
          <p:nvPr/>
        </p:nvSpPr>
        <p:spPr>
          <a:xfrm>
            <a:off x="812800" y="5867400"/>
            <a:ext cx="10566400" cy="369332"/>
          </a:xfrm>
          <a:prstGeom prst="rect">
            <a:avLst/>
          </a:prstGeom>
          <a:noFill/>
        </p:spPr>
        <p:txBody>
          <a:bodyPr vert="horz" wrap="square" lIns="0" tIns="0" rIns="0" bIns="0" rtlCol="0" anchor="t">
            <a:noAutofit/>
          </a:bodyPr>
          <a:lstStyle/>
          <a:p>
            <a:pPr>
              <a:lnSpc>
                <a:spcPct val="118000"/>
              </a:lnSpc>
            </a:pPr>
            <a:r>
              <a:rPr lang="en-US" sz="1800" dirty="0">
                <a:solidFill>
                  <a:srgbClr val="ADA48E"/>
                </a:solidFill>
                <a:latin typeface="Calibri"/>
                <a:cs typeface="Calibri"/>
              </a:rPr>
              <a:t>Ask for visuals as well: a timeline, a map of who is involved, a comparison table. Do not settle for a wall of text.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762000"/>
            <a:ext cx="10566400" cy="369332"/>
          </a:xfrm>
          <a:prstGeom prst="rect">
            <a:avLst/>
          </a:prstGeom>
          <a:noFill/>
        </p:spPr>
        <p:txBody>
          <a:bodyPr vert="horz" wrap="square" lIns="0" tIns="0" rIns="0" bIns="0" rtlCol="0" anchor="t">
            <a:noAutofit/>
          </a:bodyPr>
          <a:lstStyle/>
          <a:p>
            <a:pPr>
              <a:lnSpc>
                <a:spcPct val="100000"/>
              </a:lnSpc>
            </a:pPr>
            <a:r>
              <a:rPr lang="en-US" sz="4000" b="1" dirty="0">
                <a:solidFill>
                  <a:srgbClr val="E9CD7A"/>
                </a:solidFill>
                <a:latin typeface="Cambria"/>
                <a:cs typeface="Cambria"/>
              </a:rPr>
              <a:t>Verify, Argue, Push Back</a:t>
            </a:r>
          </a:p>
        </p:txBody>
      </p:sp>
      <p:sp>
        <p:nvSpPr>
          <p:cNvPr id="3" name="TextBox 3"/>
          <p:cNvSpPr txBox="1"/>
          <p:nvPr/>
        </p:nvSpPr>
        <p:spPr>
          <a:xfrm>
            <a:off x="812800" y="1676400"/>
            <a:ext cx="10566400" cy="369332"/>
          </a:xfrm>
          <a:prstGeom prst="rect">
            <a:avLst/>
          </a:prstGeom>
          <a:noFill/>
        </p:spPr>
        <p:txBody>
          <a:bodyPr vert="horz" wrap="square" lIns="0" tIns="0" rIns="0" bIns="0" rtlCol="0" anchor="t">
            <a:noAutofit/>
          </a:bodyPr>
          <a:lstStyle/>
          <a:p>
            <a:pPr>
              <a:lnSpc>
                <a:spcPct val="100000"/>
              </a:lnSpc>
            </a:pPr>
            <a:r>
              <a:rPr lang="en-US" sz="2000" dirty="0">
                <a:solidFill>
                  <a:srgbClr val="ADA48E"/>
                </a:solidFill>
                <a:latin typeface="Calibri"/>
                <a:cs typeface="Calibri"/>
              </a:rPr>
              <a:t>Claude agrees with you by default – use that to get it to turn a critical eye on its own work.</a:t>
            </a:r>
          </a:p>
        </p:txBody>
      </p:sp>
      <p:sp>
        <p:nvSpPr>
          <p:cNvPr id="4" name="Rectangle: Rounded Corners 4"/>
          <p:cNvSpPr/>
          <p:nvPr/>
        </p:nvSpPr>
        <p:spPr>
          <a:xfrm>
            <a:off x="812800" y="2413000"/>
            <a:ext cx="10566400" cy="762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5" name="TextBox 5"/>
          <p:cNvSpPr txBox="1"/>
          <p:nvPr/>
        </p:nvSpPr>
        <p:spPr>
          <a:xfrm>
            <a:off x="1244600" y="2590800"/>
            <a:ext cx="9753600" cy="600000"/>
          </a:xfrm>
          <a:prstGeom prst="rect">
            <a:avLst/>
          </a:prstGeom>
          <a:noFill/>
        </p:spPr>
        <p:txBody>
          <a:bodyPr vert="horz" wrap="square" lIns="0" tIns="0" rIns="0" bIns="0" rtlCol="0" anchor="t">
            <a:noAutofit/>
          </a:bodyPr>
          <a:lstStyle/>
          <a:p>
            <a:pPr>
              <a:lnSpc>
                <a:spcPct val="115000"/>
              </a:lnSpc>
            </a:pPr>
            <a:r>
              <a:rPr lang="en-US" sz="1800" dirty="0">
                <a:solidFill>
                  <a:srgbClr val="D4AF37"/>
                </a:solidFill>
                <a:latin typeface="Calibri"/>
                <a:cs typeface="Calibri"/>
              </a:rPr>
              <a:t>Go back through what you just created. Find the three weakest or least supported claims and tell me why they are weak.</a:t>
            </a:r>
          </a:p>
        </p:txBody>
      </p:sp>
      <p:sp>
        <p:nvSpPr>
          <p:cNvPr id="6" name="Rectangle: Rounded Corners 6"/>
          <p:cNvSpPr/>
          <p:nvPr/>
        </p:nvSpPr>
        <p:spPr>
          <a:xfrm>
            <a:off x="812800" y="3327400"/>
            <a:ext cx="10566400" cy="762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7" name="TextBox 7"/>
          <p:cNvSpPr txBox="1"/>
          <p:nvPr/>
        </p:nvSpPr>
        <p:spPr>
          <a:xfrm>
            <a:off x="1244600" y="3505200"/>
            <a:ext cx="9753600" cy="600000"/>
          </a:xfrm>
          <a:prstGeom prst="rect">
            <a:avLst/>
          </a:prstGeom>
          <a:noFill/>
        </p:spPr>
        <p:txBody>
          <a:bodyPr vert="horz" wrap="square" lIns="0" tIns="0" rIns="0" bIns="0" rtlCol="0" anchor="t">
            <a:noAutofit/>
          </a:bodyPr>
          <a:lstStyle/>
          <a:p>
            <a:pPr>
              <a:lnSpc>
                <a:spcPct val="115000"/>
              </a:lnSpc>
            </a:pPr>
            <a:r>
              <a:rPr lang="en-US" sz="1800" dirty="0">
                <a:solidFill>
                  <a:srgbClr val="D4AF37"/>
                </a:solidFill>
                <a:latin typeface="Calibri"/>
                <a:cs typeface="Calibri"/>
              </a:rPr>
              <a:t>Which of your sources is the least reputable? Make the argument against using it.</a:t>
            </a:r>
          </a:p>
        </p:txBody>
      </p:sp>
      <p:sp>
        <p:nvSpPr>
          <p:cNvPr id="8" name="Rectangle: Rounded Corners 8"/>
          <p:cNvSpPr/>
          <p:nvPr/>
        </p:nvSpPr>
        <p:spPr>
          <a:xfrm>
            <a:off x="812800" y="4241800"/>
            <a:ext cx="10566400" cy="762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9" name="TextBox 9"/>
          <p:cNvSpPr txBox="1"/>
          <p:nvPr/>
        </p:nvSpPr>
        <p:spPr>
          <a:xfrm>
            <a:off x="1244600" y="4419600"/>
            <a:ext cx="9753600" cy="600000"/>
          </a:xfrm>
          <a:prstGeom prst="rect">
            <a:avLst/>
          </a:prstGeom>
          <a:noFill/>
        </p:spPr>
        <p:txBody>
          <a:bodyPr vert="horz" wrap="square" lIns="0" tIns="0" rIns="0" bIns="0" rtlCol="0" anchor="t">
            <a:noAutofit/>
          </a:bodyPr>
          <a:lstStyle/>
          <a:p>
            <a:pPr>
              <a:lnSpc>
                <a:spcPct val="115000"/>
              </a:lnSpc>
            </a:pPr>
            <a:r>
              <a:rPr lang="en-US" sz="1800" dirty="0">
                <a:solidFill>
                  <a:srgbClr val="D4AF37"/>
                </a:solidFill>
                <a:latin typeface="Calibri"/>
                <a:cs typeface="Calibri"/>
              </a:rPr>
              <a:t>Did you invent any quote, number, date, or link? Check each one and tell me which ones you are unsure about.</a:t>
            </a:r>
          </a:p>
        </p:txBody>
      </p:sp>
      <p:sp>
        <p:nvSpPr>
          <p:cNvPr id="10" name="Rectangle: Rounded Corners 10"/>
          <p:cNvSpPr/>
          <p:nvPr/>
        </p:nvSpPr>
        <p:spPr>
          <a:xfrm>
            <a:off x="812800" y="5156200"/>
            <a:ext cx="10566400" cy="762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1" name="TextBox 11"/>
          <p:cNvSpPr txBox="1"/>
          <p:nvPr/>
        </p:nvSpPr>
        <p:spPr>
          <a:xfrm>
            <a:off x="1244600" y="5334000"/>
            <a:ext cx="9753600" cy="600000"/>
          </a:xfrm>
          <a:prstGeom prst="rect">
            <a:avLst/>
          </a:prstGeom>
          <a:noFill/>
        </p:spPr>
        <p:txBody>
          <a:bodyPr vert="horz" wrap="square" lIns="0" tIns="0" rIns="0" bIns="0" rtlCol="0" anchor="t">
            <a:noAutofit/>
          </a:bodyPr>
          <a:lstStyle/>
          <a:p>
            <a:pPr>
              <a:lnSpc>
                <a:spcPct val="115000"/>
              </a:lnSpc>
            </a:pPr>
            <a:r>
              <a:rPr lang="en-US" sz="1800" dirty="0">
                <a:solidFill>
                  <a:srgbClr val="D4AF37"/>
                </a:solidFill>
                <a:latin typeface="Calibri"/>
                <a:cs typeface="Calibri"/>
              </a:rPr>
              <a:t>Give me the strongest argument against the side you described most sympathetically.</a:t>
            </a:r>
          </a:p>
        </p:txBody>
      </p:sp>
      <p:sp>
        <p:nvSpPr>
          <p:cNvPr id="12" name="TextBox 12"/>
          <p:cNvSpPr txBox="1"/>
          <p:nvPr/>
        </p:nvSpPr>
        <p:spPr>
          <a:xfrm>
            <a:off x="812800" y="6096000"/>
            <a:ext cx="10566400" cy="369332"/>
          </a:xfrm>
          <a:prstGeom prst="rect">
            <a:avLst/>
          </a:prstGeom>
          <a:noFill/>
        </p:spPr>
        <p:txBody>
          <a:bodyPr vert="horz" wrap="square" lIns="0" tIns="0" rIns="0" bIns="0" rtlCol="0" anchor="t">
            <a:noAutofit/>
          </a:bodyPr>
          <a:lstStyle/>
          <a:p>
            <a:pPr>
              <a:lnSpc>
                <a:spcPct val="100000"/>
              </a:lnSpc>
            </a:pPr>
            <a:r>
              <a:rPr lang="en-US" sz="1800" dirty="0">
                <a:solidFill>
                  <a:srgbClr val="ADA48E"/>
                </a:solidFill>
                <a:latin typeface="Calibri"/>
                <a:cs typeface="Calibri"/>
              </a:rPr>
              <a:t>If it changes its answer the moment you push, that tells you how solid the first answer was.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505968"/>
            <a:ext cx="105664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Then check it yourself</a:t>
            </a:r>
          </a:p>
        </p:txBody>
      </p:sp>
      <p:sp>
        <p:nvSpPr>
          <p:cNvPr id="3" name="TextBox 3"/>
          <p:cNvSpPr txBox="1"/>
          <p:nvPr/>
        </p:nvSpPr>
        <p:spPr>
          <a:xfrm>
            <a:off x="812800" y="1249434"/>
            <a:ext cx="10566400" cy="369332"/>
          </a:xfrm>
          <a:prstGeom prst="rect">
            <a:avLst/>
          </a:prstGeom>
          <a:noFill/>
        </p:spPr>
        <p:txBody>
          <a:bodyPr vert="horz" wrap="square" lIns="0" tIns="0" rIns="0" bIns="0" rtlCol="0" anchor="t">
            <a:noAutofit/>
          </a:bodyPr>
          <a:lstStyle/>
          <a:p>
            <a:pPr>
              <a:lnSpc>
                <a:spcPct val="100000"/>
              </a:lnSpc>
            </a:pPr>
            <a:r>
              <a:rPr lang="en-US" sz="2000" dirty="0">
                <a:solidFill>
                  <a:srgbClr val="ADA48E"/>
                </a:solidFill>
                <a:latin typeface="Calibri"/>
                <a:cs typeface="Calibri"/>
              </a:rPr>
              <a:t>Claude checking Claude is not sufficient verification. You are the ONLY ONE responsible for the final verification of anything you put your name on.</a:t>
            </a:r>
          </a:p>
        </p:txBody>
      </p:sp>
      <p:sp>
        <p:nvSpPr>
          <p:cNvPr id="4" name="Oval 4"/>
          <p:cNvSpPr/>
          <p:nvPr/>
        </p:nvSpPr>
        <p:spPr>
          <a:xfrm>
            <a:off x="812800" y="2283968"/>
            <a:ext cx="558800" cy="5588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1</a:t>
            </a:r>
          </a:p>
        </p:txBody>
      </p:sp>
      <p:sp>
        <p:nvSpPr>
          <p:cNvPr id="5" name="TextBox 5"/>
          <p:cNvSpPr txBox="1"/>
          <p:nvPr/>
        </p:nvSpPr>
        <p:spPr>
          <a:xfrm>
            <a:off x="1651000" y="2309368"/>
            <a:ext cx="3810000" cy="381000"/>
          </a:xfrm>
          <a:prstGeom prst="rect">
            <a:avLst/>
          </a:prstGeom>
          <a:noFill/>
        </p:spPr>
        <p:txBody>
          <a:bodyPr vert="horz" wrap="square" lIns="0" tIns="0" rIns="0" bIns="0" rtlCol="0" anchor="t">
            <a:noAutofit/>
          </a:bodyPr>
          <a:lstStyle/>
          <a:p>
            <a:pPr>
              <a:lnSpc>
                <a:spcPct val="100000"/>
              </a:lnSpc>
            </a:pPr>
            <a:r>
              <a:rPr lang="en-US" sz="2200" dirty="0">
                <a:solidFill>
                  <a:srgbClr val="D4AF37"/>
                </a:solidFill>
                <a:latin typeface="Calibri"/>
                <a:cs typeface="Calibri"/>
              </a:rPr>
              <a:t>Click every link</a:t>
            </a:r>
          </a:p>
        </p:txBody>
      </p:sp>
      <p:sp>
        <p:nvSpPr>
          <p:cNvPr id="6" name="TextBox 6"/>
          <p:cNvSpPr txBox="1"/>
          <p:nvPr/>
        </p:nvSpPr>
        <p:spPr>
          <a:xfrm>
            <a:off x="5588000" y="2334768"/>
            <a:ext cx="5791200" cy="381000"/>
          </a:xfrm>
          <a:prstGeom prst="rect">
            <a:avLst/>
          </a:prstGeom>
          <a:noFill/>
        </p:spPr>
        <p:txBody>
          <a:bodyPr vert="horz" wrap="square" lIns="0" tIns="0" rIns="0" bIns="0" rtlCol="0" anchor="t">
            <a:noAutofit/>
          </a:bodyPr>
          <a:lstStyle/>
          <a:p>
            <a:pPr>
              <a:lnSpc>
                <a:spcPct val="100000"/>
              </a:lnSpc>
            </a:pPr>
            <a:r>
              <a:rPr lang="en-US" sz="2000" dirty="0">
                <a:solidFill>
                  <a:srgbClr val="F4F1E9"/>
                </a:solidFill>
                <a:latin typeface="Calibri"/>
                <a:cs typeface="Calibri"/>
              </a:rPr>
              <a:t>It must open, and it must be the article Claude said it was.</a:t>
            </a:r>
          </a:p>
        </p:txBody>
      </p:sp>
      <p:sp>
        <p:nvSpPr>
          <p:cNvPr id="7" name="Oval 7"/>
          <p:cNvSpPr/>
          <p:nvPr/>
        </p:nvSpPr>
        <p:spPr>
          <a:xfrm>
            <a:off x="812800" y="3172968"/>
            <a:ext cx="558800" cy="5588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2</a:t>
            </a:r>
          </a:p>
        </p:txBody>
      </p:sp>
      <p:sp>
        <p:nvSpPr>
          <p:cNvPr id="8" name="TextBox 8"/>
          <p:cNvSpPr txBox="1"/>
          <p:nvPr/>
        </p:nvSpPr>
        <p:spPr>
          <a:xfrm>
            <a:off x="1651000" y="3198368"/>
            <a:ext cx="3810000" cy="381000"/>
          </a:xfrm>
          <a:prstGeom prst="rect">
            <a:avLst/>
          </a:prstGeom>
          <a:noFill/>
        </p:spPr>
        <p:txBody>
          <a:bodyPr vert="horz" wrap="square" lIns="0" tIns="0" rIns="0" bIns="0" rtlCol="0" anchor="t">
            <a:noAutofit/>
          </a:bodyPr>
          <a:lstStyle/>
          <a:p>
            <a:pPr>
              <a:lnSpc>
                <a:spcPct val="100000"/>
              </a:lnSpc>
            </a:pPr>
            <a:r>
              <a:rPr lang="en-US" sz="2200" dirty="0">
                <a:solidFill>
                  <a:srgbClr val="D4AF37"/>
                </a:solidFill>
                <a:latin typeface="Calibri"/>
                <a:cs typeface="Calibri"/>
              </a:rPr>
              <a:t>Find every quote</a:t>
            </a:r>
          </a:p>
        </p:txBody>
      </p:sp>
      <p:sp>
        <p:nvSpPr>
          <p:cNvPr id="9" name="TextBox 9"/>
          <p:cNvSpPr txBox="1"/>
          <p:nvPr/>
        </p:nvSpPr>
        <p:spPr>
          <a:xfrm>
            <a:off x="5588000" y="3223768"/>
            <a:ext cx="5791200" cy="381000"/>
          </a:xfrm>
          <a:prstGeom prst="rect">
            <a:avLst/>
          </a:prstGeom>
          <a:noFill/>
        </p:spPr>
        <p:txBody>
          <a:bodyPr vert="horz" wrap="square" lIns="0" tIns="0" rIns="0" bIns="0" rtlCol="0" anchor="t">
            <a:noAutofit/>
          </a:bodyPr>
          <a:lstStyle/>
          <a:p>
            <a:pPr>
              <a:lnSpc>
                <a:spcPct val="100000"/>
              </a:lnSpc>
            </a:pPr>
            <a:r>
              <a:rPr lang="en-US" sz="2000" dirty="0">
                <a:solidFill>
                  <a:srgbClr val="F4F1E9"/>
                </a:solidFill>
                <a:latin typeface="Calibri"/>
                <a:cs typeface="Calibri"/>
              </a:rPr>
              <a:t>Search the page for the exact words (e.g., </a:t>
            </a:r>
            <a:r>
              <a:rPr lang="en-US" sz="2000" u="sng" dirty="0">
                <a:solidFill>
                  <a:srgbClr val="F4F1E9"/>
                </a:solidFill>
                <a:latin typeface="Calibri"/>
                <a:cs typeface="Calibri"/>
              </a:rPr>
              <a:t>Ctrl + F</a:t>
            </a:r>
            <a:r>
              <a:rPr lang="en-US" sz="2000" dirty="0">
                <a:solidFill>
                  <a:srgbClr val="F4F1E9"/>
                </a:solidFill>
                <a:latin typeface="Calibri"/>
                <a:cs typeface="Calibri"/>
              </a:rPr>
              <a:t>). </a:t>
            </a:r>
            <a:br>
              <a:rPr lang="en-US" sz="2000" dirty="0">
                <a:solidFill>
                  <a:srgbClr val="F4F1E9"/>
                </a:solidFill>
                <a:latin typeface="Calibri"/>
                <a:cs typeface="Calibri"/>
              </a:rPr>
            </a:br>
            <a:r>
              <a:rPr lang="en-US" sz="2000" dirty="0">
                <a:solidFill>
                  <a:srgbClr val="F4F1E9"/>
                </a:solidFill>
                <a:latin typeface="Calibri"/>
                <a:cs typeface="Calibri"/>
              </a:rPr>
              <a:t>Check content AND context.</a:t>
            </a:r>
          </a:p>
        </p:txBody>
      </p:sp>
      <p:sp>
        <p:nvSpPr>
          <p:cNvPr id="10" name="Oval 10"/>
          <p:cNvSpPr/>
          <p:nvPr/>
        </p:nvSpPr>
        <p:spPr>
          <a:xfrm>
            <a:off x="812800" y="4061968"/>
            <a:ext cx="558800" cy="5588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3</a:t>
            </a:r>
          </a:p>
        </p:txBody>
      </p:sp>
      <p:sp>
        <p:nvSpPr>
          <p:cNvPr id="11" name="TextBox 11"/>
          <p:cNvSpPr txBox="1"/>
          <p:nvPr/>
        </p:nvSpPr>
        <p:spPr>
          <a:xfrm>
            <a:off x="1651000" y="4087368"/>
            <a:ext cx="3810000" cy="381000"/>
          </a:xfrm>
          <a:prstGeom prst="rect">
            <a:avLst/>
          </a:prstGeom>
          <a:noFill/>
        </p:spPr>
        <p:txBody>
          <a:bodyPr vert="horz" wrap="square" lIns="0" tIns="0" rIns="0" bIns="0" rtlCol="0" anchor="t">
            <a:noAutofit/>
          </a:bodyPr>
          <a:lstStyle/>
          <a:p>
            <a:pPr>
              <a:lnSpc>
                <a:spcPct val="100000"/>
              </a:lnSpc>
            </a:pPr>
            <a:r>
              <a:rPr lang="en-US" sz="2200">
                <a:solidFill>
                  <a:srgbClr val="D4AF37"/>
                </a:solidFill>
                <a:latin typeface="Calibri"/>
                <a:cs typeface="Calibri"/>
              </a:rPr>
              <a:t>Match the numbers</a:t>
            </a:r>
          </a:p>
        </p:txBody>
      </p:sp>
      <p:sp>
        <p:nvSpPr>
          <p:cNvPr id="12" name="TextBox 12"/>
          <p:cNvSpPr txBox="1"/>
          <p:nvPr/>
        </p:nvSpPr>
        <p:spPr>
          <a:xfrm>
            <a:off x="5588000" y="4112768"/>
            <a:ext cx="5791200" cy="381000"/>
          </a:xfrm>
          <a:prstGeom prst="rect">
            <a:avLst/>
          </a:prstGeom>
          <a:noFill/>
        </p:spPr>
        <p:txBody>
          <a:bodyPr vert="horz" wrap="square" lIns="0" tIns="0" rIns="0" bIns="0" rtlCol="0" anchor="t">
            <a:noAutofit/>
          </a:bodyPr>
          <a:lstStyle/>
          <a:p>
            <a:pPr>
              <a:lnSpc>
                <a:spcPct val="100000"/>
              </a:lnSpc>
            </a:pPr>
            <a:r>
              <a:rPr lang="en-US" sz="2000" dirty="0">
                <a:solidFill>
                  <a:srgbClr val="F4F1E9"/>
                </a:solidFill>
                <a:latin typeface="Calibri"/>
                <a:cs typeface="Calibri"/>
              </a:rPr>
              <a:t>Dollar figures, dates, and counts must match the source exactly.</a:t>
            </a:r>
          </a:p>
        </p:txBody>
      </p:sp>
      <p:sp>
        <p:nvSpPr>
          <p:cNvPr id="13" name="Oval 13"/>
          <p:cNvSpPr/>
          <p:nvPr/>
        </p:nvSpPr>
        <p:spPr>
          <a:xfrm>
            <a:off x="812800" y="4950968"/>
            <a:ext cx="558800" cy="5588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4</a:t>
            </a:r>
          </a:p>
        </p:txBody>
      </p:sp>
      <p:sp>
        <p:nvSpPr>
          <p:cNvPr id="14" name="TextBox 14"/>
          <p:cNvSpPr txBox="1"/>
          <p:nvPr/>
        </p:nvSpPr>
        <p:spPr>
          <a:xfrm>
            <a:off x="1651000" y="4976368"/>
            <a:ext cx="3810000" cy="381000"/>
          </a:xfrm>
          <a:prstGeom prst="rect">
            <a:avLst/>
          </a:prstGeom>
          <a:noFill/>
        </p:spPr>
        <p:txBody>
          <a:bodyPr vert="horz" wrap="square" lIns="0" tIns="0" rIns="0" bIns="0" rtlCol="0" anchor="t">
            <a:noAutofit/>
          </a:bodyPr>
          <a:lstStyle/>
          <a:p>
            <a:pPr>
              <a:lnSpc>
                <a:spcPct val="100000"/>
              </a:lnSpc>
            </a:pPr>
            <a:r>
              <a:rPr lang="en-US" sz="2200">
                <a:solidFill>
                  <a:srgbClr val="D4AF37"/>
                </a:solidFill>
                <a:latin typeface="Calibri"/>
                <a:cs typeface="Calibri"/>
              </a:rPr>
              <a:t>Check the date</a:t>
            </a:r>
          </a:p>
        </p:txBody>
      </p:sp>
      <p:sp>
        <p:nvSpPr>
          <p:cNvPr id="15" name="TextBox 15"/>
          <p:cNvSpPr txBox="1"/>
          <p:nvPr/>
        </p:nvSpPr>
        <p:spPr>
          <a:xfrm>
            <a:off x="5588000" y="5001768"/>
            <a:ext cx="5791200" cy="381000"/>
          </a:xfrm>
          <a:prstGeom prst="rect">
            <a:avLst/>
          </a:prstGeom>
          <a:noFill/>
        </p:spPr>
        <p:txBody>
          <a:bodyPr vert="horz" wrap="square" lIns="0" tIns="0" rIns="0" bIns="0" rtlCol="0" anchor="t">
            <a:noAutofit/>
          </a:bodyPr>
          <a:lstStyle/>
          <a:p>
            <a:pPr>
              <a:lnSpc>
                <a:spcPct val="100000"/>
              </a:lnSpc>
            </a:pPr>
            <a:r>
              <a:rPr lang="en-US" sz="2000" dirty="0">
                <a:solidFill>
                  <a:srgbClr val="F4F1E9"/>
                </a:solidFill>
                <a:latin typeface="Calibri"/>
                <a:cs typeface="Calibri"/>
              </a:rPr>
              <a:t>Make sure they match. Also, anything published before 2025 does not count as recent here (except for the older case you use as a point of comparison).</a:t>
            </a:r>
          </a:p>
        </p:txBody>
      </p:sp>
      <p:sp>
        <p:nvSpPr>
          <p:cNvPr id="16" name="TextBox 16"/>
          <p:cNvSpPr txBox="1"/>
          <p:nvPr/>
        </p:nvSpPr>
        <p:spPr>
          <a:xfrm>
            <a:off x="812800" y="5962134"/>
            <a:ext cx="10566400" cy="369332"/>
          </a:xfrm>
          <a:prstGeom prst="rect">
            <a:avLst/>
          </a:prstGeom>
          <a:noFill/>
        </p:spPr>
        <p:txBody>
          <a:bodyPr vert="horz" wrap="square" lIns="0" tIns="0" rIns="0" bIns="0" rtlCol="0" anchor="t">
            <a:noAutofit/>
          </a:bodyPr>
          <a:lstStyle/>
          <a:p>
            <a:pPr>
              <a:lnSpc>
                <a:spcPct val="100000"/>
              </a:lnSpc>
            </a:pPr>
            <a:r>
              <a:rPr lang="en-US" sz="1900" dirty="0">
                <a:solidFill>
                  <a:srgbClr val="E9CD7A"/>
                </a:solidFill>
                <a:latin typeface="Calibri"/>
                <a:cs typeface="Calibri"/>
              </a:rPr>
              <a:t>Cut anything you cannot confirm and investigate the source of the discrepancy. </a:t>
            </a:r>
            <a:br>
              <a:rPr lang="en-US" sz="1900" dirty="0">
                <a:solidFill>
                  <a:srgbClr val="E9CD7A"/>
                </a:solidFill>
                <a:latin typeface="Calibri"/>
                <a:cs typeface="Calibri"/>
              </a:rPr>
            </a:br>
            <a:r>
              <a:rPr lang="en-US" sz="1900" dirty="0">
                <a:solidFill>
                  <a:srgbClr val="E9CD7A"/>
                </a:solidFill>
                <a:latin typeface="Calibri"/>
                <a:cs typeface="Calibri"/>
              </a:rPr>
              <a:t>Your professionalism is on  the line.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21944" y="813816"/>
            <a:ext cx="105664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Your name is on it</a:t>
            </a:r>
          </a:p>
        </p:txBody>
      </p:sp>
      <p:sp>
        <p:nvSpPr>
          <p:cNvPr id="3" name="TextBox 3"/>
          <p:cNvSpPr txBox="1"/>
          <p:nvPr/>
        </p:nvSpPr>
        <p:spPr>
          <a:xfrm>
            <a:off x="821944" y="1423416"/>
            <a:ext cx="10566400" cy="369332"/>
          </a:xfrm>
          <a:prstGeom prst="rect">
            <a:avLst/>
          </a:prstGeom>
          <a:noFill/>
        </p:spPr>
        <p:txBody>
          <a:bodyPr vert="horz" wrap="square" lIns="0" tIns="0" rIns="0" bIns="0" rtlCol="0" anchor="t">
            <a:noAutofit/>
          </a:bodyPr>
          <a:lstStyle/>
          <a:p>
            <a:pPr>
              <a:lnSpc>
                <a:spcPct val="118000"/>
              </a:lnSpc>
            </a:pPr>
            <a:r>
              <a:rPr lang="en-US" sz="2100" dirty="0">
                <a:solidFill>
                  <a:srgbClr val="F4F1E9"/>
                </a:solidFill>
                <a:latin typeface="Calibri"/>
                <a:cs typeface="Calibri"/>
              </a:rPr>
              <a:t>In a workplace that expects you to adapt to the use of AI tools and incorporate them into your workflows, AI error or hallucination is no excuse for errors YOU signed off on. Whatever you hand over, you are the one who said it  and thus held responsible for it.</a:t>
            </a:r>
          </a:p>
        </p:txBody>
      </p:sp>
      <p:sp>
        <p:nvSpPr>
          <p:cNvPr id="4" name="Rectangle: Rounded Corners 4"/>
          <p:cNvSpPr/>
          <p:nvPr/>
        </p:nvSpPr>
        <p:spPr>
          <a:xfrm>
            <a:off x="812800" y="2971800"/>
            <a:ext cx="3318933" cy="19812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5" name="TextBox 5"/>
          <p:cNvSpPr txBox="1"/>
          <p:nvPr/>
        </p:nvSpPr>
        <p:spPr>
          <a:xfrm>
            <a:off x="1117600" y="3352800"/>
            <a:ext cx="2709333" cy="400000"/>
          </a:xfrm>
          <a:prstGeom prst="rect">
            <a:avLst/>
          </a:prstGeom>
          <a:noFill/>
        </p:spPr>
        <p:txBody>
          <a:bodyPr vert="horz" wrap="square" lIns="0" tIns="0" rIns="0" bIns="0" rtlCol="0" anchor="t">
            <a:noAutofit/>
          </a:bodyPr>
          <a:lstStyle/>
          <a:p>
            <a:pPr>
              <a:lnSpc>
                <a:spcPct val="100000"/>
              </a:lnSpc>
            </a:pPr>
            <a:r>
              <a:rPr lang="en-US" sz="1900" dirty="0">
                <a:solidFill>
                  <a:srgbClr val="D4AF37"/>
                </a:solidFill>
                <a:latin typeface="Calibri"/>
                <a:cs typeface="Calibri"/>
              </a:rPr>
              <a:t>A made-up citation?</a:t>
            </a:r>
          </a:p>
        </p:txBody>
      </p:sp>
      <p:sp>
        <p:nvSpPr>
          <p:cNvPr id="6" name="TextBox 6"/>
          <p:cNvSpPr txBox="1"/>
          <p:nvPr/>
        </p:nvSpPr>
        <p:spPr>
          <a:xfrm>
            <a:off x="1117600" y="3810000"/>
            <a:ext cx="2709333" cy="1000000"/>
          </a:xfrm>
          <a:prstGeom prst="rect">
            <a:avLst/>
          </a:prstGeom>
          <a:noFill/>
        </p:spPr>
        <p:txBody>
          <a:bodyPr vert="horz" wrap="square" lIns="0" tIns="0" rIns="0" bIns="0" rtlCol="0" anchor="t">
            <a:noAutofit/>
          </a:bodyPr>
          <a:lstStyle/>
          <a:p>
            <a:pPr>
              <a:lnSpc>
                <a:spcPct val="122000"/>
              </a:lnSpc>
            </a:pPr>
            <a:r>
              <a:rPr lang="en-US" sz="1600" dirty="0">
                <a:solidFill>
                  <a:srgbClr val="F4F1E9"/>
                </a:solidFill>
                <a:latin typeface="Calibri"/>
                <a:cs typeface="Calibri"/>
              </a:rPr>
              <a:t>reads as dishonesty or negligence, not a software issue. It’s an easy way to lose a room.</a:t>
            </a:r>
          </a:p>
        </p:txBody>
      </p:sp>
      <p:sp>
        <p:nvSpPr>
          <p:cNvPr id="7" name="Rectangle: Rounded Corners 7"/>
          <p:cNvSpPr/>
          <p:nvPr/>
        </p:nvSpPr>
        <p:spPr>
          <a:xfrm>
            <a:off x="4436533" y="2971800"/>
            <a:ext cx="3318933" cy="19812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8" name="TextBox 8"/>
          <p:cNvSpPr txBox="1"/>
          <p:nvPr/>
        </p:nvSpPr>
        <p:spPr>
          <a:xfrm>
            <a:off x="4741333" y="3352800"/>
            <a:ext cx="2709333" cy="400000"/>
          </a:xfrm>
          <a:prstGeom prst="rect">
            <a:avLst/>
          </a:prstGeom>
          <a:noFill/>
        </p:spPr>
        <p:txBody>
          <a:bodyPr vert="horz" wrap="square" lIns="0" tIns="0" rIns="0" bIns="0" rtlCol="0" anchor="t">
            <a:noAutofit/>
          </a:bodyPr>
          <a:lstStyle/>
          <a:p>
            <a:pPr>
              <a:lnSpc>
                <a:spcPct val="100000"/>
              </a:lnSpc>
            </a:pPr>
            <a:r>
              <a:rPr lang="en-US" sz="1900" dirty="0">
                <a:solidFill>
                  <a:srgbClr val="D4AF37"/>
                </a:solidFill>
                <a:latin typeface="Calibri"/>
                <a:cs typeface="Calibri"/>
              </a:rPr>
              <a:t>A wrong number?</a:t>
            </a:r>
          </a:p>
        </p:txBody>
      </p:sp>
      <p:sp>
        <p:nvSpPr>
          <p:cNvPr id="9" name="TextBox 9"/>
          <p:cNvSpPr txBox="1"/>
          <p:nvPr/>
        </p:nvSpPr>
        <p:spPr>
          <a:xfrm>
            <a:off x="4741333" y="3810000"/>
            <a:ext cx="2709333" cy="1000000"/>
          </a:xfrm>
          <a:prstGeom prst="rect">
            <a:avLst/>
          </a:prstGeom>
          <a:noFill/>
        </p:spPr>
        <p:txBody>
          <a:bodyPr vert="horz" wrap="square" lIns="0" tIns="0" rIns="0" bIns="0" rtlCol="0" anchor="t">
            <a:noAutofit/>
          </a:bodyPr>
          <a:lstStyle/>
          <a:p>
            <a:pPr>
              <a:lnSpc>
                <a:spcPct val="122000"/>
              </a:lnSpc>
            </a:pPr>
            <a:r>
              <a:rPr lang="en-US" sz="1600" dirty="0">
                <a:solidFill>
                  <a:srgbClr val="F4F1E9"/>
                </a:solidFill>
                <a:latin typeface="Calibri"/>
                <a:cs typeface="Calibri"/>
              </a:rPr>
              <a:t>in a client-facing deck is your wrong number. Own your work.</a:t>
            </a:r>
          </a:p>
        </p:txBody>
      </p:sp>
      <p:sp>
        <p:nvSpPr>
          <p:cNvPr id="10" name="Rectangle: Rounded Corners 10"/>
          <p:cNvSpPr/>
          <p:nvPr/>
        </p:nvSpPr>
        <p:spPr>
          <a:xfrm>
            <a:off x="8060266" y="2971800"/>
            <a:ext cx="3318933" cy="19812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1" name="TextBox 11"/>
          <p:cNvSpPr txBox="1"/>
          <p:nvPr/>
        </p:nvSpPr>
        <p:spPr>
          <a:xfrm>
            <a:off x="8365066" y="3352800"/>
            <a:ext cx="2709333" cy="400000"/>
          </a:xfrm>
          <a:prstGeom prst="rect">
            <a:avLst/>
          </a:prstGeom>
          <a:noFill/>
        </p:spPr>
        <p:txBody>
          <a:bodyPr vert="horz" wrap="square" lIns="0" tIns="0" rIns="0" bIns="0" rtlCol="0" anchor="t">
            <a:noAutofit/>
          </a:bodyPr>
          <a:lstStyle/>
          <a:p>
            <a:pPr>
              <a:lnSpc>
                <a:spcPct val="100000"/>
              </a:lnSpc>
            </a:pPr>
            <a:r>
              <a:rPr lang="en-US" sz="1900" dirty="0">
                <a:solidFill>
                  <a:srgbClr val="D4AF37"/>
                </a:solidFill>
                <a:latin typeface="Calibri"/>
                <a:cs typeface="Calibri"/>
              </a:rPr>
              <a:t>An edited draft</a:t>
            </a:r>
          </a:p>
        </p:txBody>
      </p:sp>
      <p:sp>
        <p:nvSpPr>
          <p:cNvPr id="12" name="TextBox 12"/>
          <p:cNvSpPr txBox="1"/>
          <p:nvPr/>
        </p:nvSpPr>
        <p:spPr>
          <a:xfrm>
            <a:off x="8365066" y="3810000"/>
            <a:ext cx="2709333" cy="1000000"/>
          </a:xfrm>
          <a:prstGeom prst="rect">
            <a:avLst/>
          </a:prstGeom>
          <a:noFill/>
        </p:spPr>
        <p:txBody>
          <a:bodyPr vert="horz" wrap="square" lIns="0" tIns="0" rIns="0" bIns="0" rtlCol="0" anchor="t">
            <a:noAutofit/>
          </a:bodyPr>
          <a:lstStyle/>
          <a:p>
            <a:pPr>
              <a:lnSpc>
                <a:spcPct val="122000"/>
              </a:lnSpc>
            </a:pPr>
            <a:r>
              <a:rPr lang="en-US" sz="1600" dirty="0">
                <a:solidFill>
                  <a:srgbClr val="F4F1E9"/>
                </a:solidFill>
                <a:latin typeface="Calibri"/>
                <a:cs typeface="Calibri"/>
              </a:rPr>
              <a:t>is the professional standard. Verify everything yourself, cut and edit as needed.</a:t>
            </a:r>
          </a:p>
        </p:txBody>
      </p:sp>
      <p:sp>
        <p:nvSpPr>
          <p:cNvPr id="13" name="TextBox 13"/>
          <p:cNvSpPr txBox="1"/>
          <p:nvPr/>
        </p:nvSpPr>
        <p:spPr>
          <a:xfrm>
            <a:off x="812800" y="5486400"/>
            <a:ext cx="10566400" cy="369332"/>
          </a:xfrm>
          <a:prstGeom prst="rect">
            <a:avLst/>
          </a:prstGeom>
          <a:noFill/>
        </p:spPr>
        <p:txBody>
          <a:bodyPr vert="horz" wrap="square" lIns="0" tIns="0" rIns="0" bIns="0" rtlCol="0" anchor="t">
            <a:noAutofit/>
          </a:bodyPr>
          <a:lstStyle/>
          <a:p>
            <a:pPr>
              <a:lnSpc>
                <a:spcPct val="100000"/>
              </a:lnSpc>
            </a:pPr>
            <a:r>
              <a:rPr lang="en-US" sz="2400" b="1" dirty="0">
                <a:solidFill>
                  <a:srgbClr val="E9CD7A"/>
                </a:solidFill>
                <a:latin typeface="Cambria"/>
                <a:cs typeface="Cambria"/>
              </a:rPr>
              <a:t>Verify it, edit it, </a:t>
            </a:r>
            <a:r>
              <a:rPr lang="en-US" sz="2400" b="1" u="sng" dirty="0">
                <a:solidFill>
                  <a:srgbClr val="E9CD7A"/>
                </a:solidFill>
                <a:latin typeface="Cambria"/>
                <a:cs typeface="Cambria"/>
              </a:rPr>
              <a:t>THEN</a:t>
            </a:r>
            <a:r>
              <a:rPr lang="en-US" sz="2400" b="1" dirty="0">
                <a:solidFill>
                  <a:srgbClr val="E9CD7A"/>
                </a:solidFill>
                <a:latin typeface="Cambria"/>
                <a:cs typeface="Cambria"/>
              </a:rPr>
              <a:t> put your name on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Oval 2"/>
          <p:cNvSpPr/>
          <p:nvPr/>
        </p:nvSpPr>
        <p:spPr>
          <a:xfrm>
            <a:off x="812800" y="1066800"/>
            <a:ext cx="660400" cy="6604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4</a:t>
            </a:r>
          </a:p>
        </p:txBody>
      </p:sp>
      <p:sp>
        <p:nvSpPr>
          <p:cNvPr id="3" name="TextBox 3"/>
          <p:cNvSpPr txBox="1"/>
          <p:nvPr/>
        </p:nvSpPr>
        <p:spPr>
          <a:xfrm>
            <a:off x="1676400" y="1143000"/>
            <a:ext cx="8890000" cy="369332"/>
          </a:xfrm>
          <a:prstGeom prst="rect">
            <a:avLst/>
          </a:prstGeom>
          <a:noFill/>
        </p:spPr>
        <p:txBody>
          <a:bodyPr vert="horz" wrap="square" lIns="0" tIns="0" rIns="0" bIns="0" rtlCol="0" anchor="t">
            <a:noAutofit/>
          </a:bodyPr>
          <a:lstStyle/>
          <a:p>
            <a:pPr>
              <a:lnSpc>
                <a:spcPct val="100000"/>
              </a:lnSpc>
            </a:pPr>
            <a:r>
              <a:rPr lang="en-US" sz="4000" b="1" dirty="0">
                <a:solidFill>
                  <a:srgbClr val="E9CD7A"/>
                </a:solidFill>
                <a:latin typeface="Cambria"/>
                <a:cs typeface="Cambria"/>
              </a:rPr>
              <a:t>Pick one to share, but submit all</a:t>
            </a:r>
          </a:p>
        </p:txBody>
      </p:sp>
      <p:sp>
        <p:nvSpPr>
          <p:cNvPr id="4" name="Rectangle: Rounded Corners 4"/>
          <p:cNvSpPr/>
          <p:nvPr/>
        </p:nvSpPr>
        <p:spPr>
          <a:xfrm>
            <a:off x="812800" y="2286000"/>
            <a:ext cx="5105400" cy="2971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5" name="TextBox 5"/>
          <p:cNvSpPr txBox="1"/>
          <p:nvPr/>
        </p:nvSpPr>
        <p:spPr>
          <a:xfrm>
            <a:off x="1219200" y="2667000"/>
            <a:ext cx="4318000" cy="369332"/>
          </a:xfrm>
          <a:prstGeom prst="rect">
            <a:avLst/>
          </a:prstGeom>
          <a:noFill/>
        </p:spPr>
        <p:txBody>
          <a:bodyPr vert="horz" wrap="square" lIns="0" tIns="0" rIns="0" bIns="0" rtlCol="0" anchor="t">
            <a:noAutofit/>
          </a:bodyPr>
          <a:lstStyle/>
          <a:p>
            <a:pPr>
              <a:lnSpc>
                <a:spcPct val="100000"/>
              </a:lnSpc>
            </a:pPr>
            <a:r>
              <a:rPr lang="en-US" sz="1500">
                <a:solidFill>
                  <a:srgbClr val="D4AF37"/>
                </a:solidFill>
                <a:latin typeface="Calibri"/>
                <a:cs typeface="Calibri"/>
              </a:rPr>
              <a:t>AS A GROUP</a:t>
            </a:r>
          </a:p>
        </p:txBody>
      </p:sp>
      <p:sp>
        <p:nvSpPr>
          <p:cNvPr id="6" name="TextBox 6"/>
          <p:cNvSpPr txBox="1"/>
          <p:nvPr/>
        </p:nvSpPr>
        <p:spPr>
          <a:xfrm>
            <a:off x="1219200" y="3022600"/>
            <a:ext cx="4318000" cy="400000"/>
          </a:xfrm>
          <a:prstGeom prst="rect">
            <a:avLst/>
          </a:prstGeom>
          <a:noFill/>
        </p:spPr>
        <p:txBody>
          <a:bodyPr vert="horz" wrap="square" lIns="0" tIns="0" rIns="0" bIns="0" rtlCol="0" anchor="t">
            <a:noAutofit/>
          </a:bodyPr>
          <a:lstStyle/>
          <a:p>
            <a:pPr>
              <a:lnSpc>
                <a:spcPct val="100000"/>
              </a:lnSpc>
            </a:pPr>
            <a:r>
              <a:rPr lang="en-US" sz="2600" b="1">
                <a:solidFill>
                  <a:srgbClr val="E9CD7A"/>
                </a:solidFill>
                <a:latin typeface="Cambria"/>
                <a:cs typeface="Cambria"/>
              </a:rPr>
              <a:t>Choose your best</a:t>
            </a:r>
          </a:p>
        </p:txBody>
      </p:sp>
      <p:sp>
        <p:nvSpPr>
          <p:cNvPr id="7" name="TextBox 7"/>
          <p:cNvSpPr txBox="1"/>
          <p:nvPr/>
        </p:nvSpPr>
        <p:spPr>
          <a:xfrm>
            <a:off x="1219200" y="3733800"/>
            <a:ext cx="4318000" cy="1300000"/>
          </a:xfrm>
          <a:prstGeom prst="rect">
            <a:avLst/>
          </a:prstGeom>
          <a:noFill/>
        </p:spPr>
        <p:txBody>
          <a:bodyPr vert="horz" wrap="square" lIns="0" tIns="0" rIns="0" bIns="0" rtlCol="0" anchor="t">
            <a:noAutofit/>
          </a:bodyPr>
          <a:lstStyle/>
          <a:p>
            <a:pPr>
              <a:lnSpc>
                <a:spcPct val="122000"/>
              </a:lnSpc>
            </a:pPr>
            <a:r>
              <a:rPr lang="en-US" sz="1800" dirty="0">
                <a:solidFill>
                  <a:srgbClr val="F4F1E9"/>
                </a:solidFill>
                <a:latin typeface="Calibri"/>
                <a:cs typeface="Calibri"/>
              </a:rPr>
              <a:t>Compare all outputs fro</a:t>
            </a:r>
            <a:r>
              <a:rPr lang="en-US" dirty="0">
                <a:solidFill>
                  <a:srgbClr val="F4F1E9"/>
                </a:solidFill>
                <a:latin typeface="Calibri"/>
                <a:cs typeface="Calibri"/>
              </a:rPr>
              <a:t>m your group</a:t>
            </a:r>
            <a:r>
              <a:rPr lang="en-US" sz="1800" dirty="0">
                <a:solidFill>
                  <a:srgbClr val="F4F1E9"/>
                </a:solidFill>
                <a:latin typeface="Calibri"/>
                <a:cs typeface="Calibri"/>
              </a:rPr>
              <a:t>. Pick the single strongest one. That is what your group shares with the class next week.</a:t>
            </a:r>
          </a:p>
        </p:txBody>
      </p:sp>
      <p:sp>
        <p:nvSpPr>
          <p:cNvPr id="8" name="Rectangle: Rounded Corners 8"/>
          <p:cNvSpPr/>
          <p:nvPr/>
        </p:nvSpPr>
        <p:spPr>
          <a:xfrm>
            <a:off x="6273800" y="2286000"/>
            <a:ext cx="5105400" cy="29718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9" name="TextBox 9"/>
          <p:cNvSpPr txBox="1"/>
          <p:nvPr/>
        </p:nvSpPr>
        <p:spPr>
          <a:xfrm>
            <a:off x="6680200" y="2667000"/>
            <a:ext cx="4318000" cy="369332"/>
          </a:xfrm>
          <a:prstGeom prst="rect">
            <a:avLst/>
          </a:prstGeom>
          <a:noFill/>
        </p:spPr>
        <p:txBody>
          <a:bodyPr vert="horz" wrap="square" lIns="0" tIns="0" rIns="0" bIns="0" rtlCol="0" anchor="t">
            <a:noAutofit/>
          </a:bodyPr>
          <a:lstStyle/>
          <a:p>
            <a:pPr>
              <a:lnSpc>
                <a:spcPct val="100000"/>
              </a:lnSpc>
            </a:pPr>
            <a:r>
              <a:rPr lang="en-US" sz="1500">
                <a:solidFill>
                  <a:srgbClr val="D4AF37"/>
                </a:solidFill>
                <a:latin typeface="Calibri"/>
                <a:cs typeface="Calibri"/>
              </a:rPr>
              <a:t>ON YOUR OWN</a:t>
            </a:r>
          </a:p>
        </p:txBody>
      </p:sp>
      <p:sp>
        <p:nvSpPr>
          <p:cNvPr id="10" name="TextBox 10"/>
          <p:cNvSpPr txBox="1"/>
          <p:nvPr/>
        </p:nvSpPr>
        <p:spPr>
          <a:xfrm>
            <a:off x="6680200" y="3022600"/>
            <a:ext cx="4318000" cy="400000"/>
          </a:xfrm>
          <a:prstGeom prst="rect">
            <a:avLst/>
          </a:prstGeom>
          <a:noFill/>
        </p:spPr>
        <p:txBody>
          <a:bodyPr vert="horz" wrap="square" lIns="0" tIns="0" rIns="0" bIns="0" rtlCol="0" anchor="t">
            <a:noAutofit/>
          </a:bodyPr>
          <a:lstStyle/>
          <a:p>
            <a:pPr>
              <a:lnSpc>
                <a:spcPct val="100000"/>
              </a:lnSpc>
            </a:pPr>
            <a:r>
              <a:rPr lang="en-US" sz="2600" b="1">
                <a:solidFill>
                  <a:srgbClr val="E9CD7A"/>
                </a:solidFill>
                <a:latin typeface="Cambria"/>
                <a:cs typeface="Cambria"/>
              </a:rPr>
              <a:t>Post yours anyway</a:t>
            </a:r>
          </a:p>
        </p:txBody>
      </p:sp>
      <p:sp>
        <p:nvSpPr>
          <p:cNvPr id="11" name="TextBox 11"/>
          <p:cNvSpPr txBox="1"/>
          <p:nvPr/>
        </p:nvSpPr>
        <p:spPr>
          <a:xfrm>
            <a:off x="6680200" y="3733800"/>
            <a:ext cx="4318000" cy="1300000"/>
          </a:xfrm>
          <a:prstGeom prst="rect">
            <a:avLst/>
          </a:prstGeom>
          <a:noFill/>
        </p:spPr>
        <p:txBody>
          <a:bodyPr vert="horz" wrap="square" lIns="0" tIns="0" rIns="0" bIns="0" rtlCol="0" anchor="t">
            <a:noAutofit/>
          </a:bodyPr>
          <a:lstStyle/>
          <a:p>
            <a:pPr>
              <a:lnSpc>
                <a:spcPct val="122000"/>
              </a:lnSpc>
            </a:pPr>
            <a:r>
              <a:rPr lang="en-US" sz="1800" dirty="0">
                <a:solidFill>
                  <a:srgbClr val="F4F1E9"/>
                </a:solidFill>
                <a:latin typeface="Calibri"/>
                <a:cs typeface="Calibri"/>
              </a:rPr>
              <a:t>Every student posts two things to the Canvas discussion board: your own output file, and the full text of the prompt you wrote yourself.</a:t>
            </a:r>
          </a:p>
        </p:txBody>
      </p:sp>
      <p:sp>
        <p:nvSpPr>
          <p:cNvPr id="12" name="TextBox 12"/>
          <p:cNvSpPr txBox="1"/>
          <p:nvPr/>
        </p:nvSpPr>
        <p:spPr>
          <a:xfrm>
            <a:off x="812800" y="5638800"/>
            <a:ext cx="10566400" cy="369332"/>
          </a:xfrm>
          <a:prstGeom prst="rect">
            <a:avLst/>
          </a:prstGeom>
          <a:noFill/>
        </p:spPr>
        <p:txBody>
          <a:bodyPr vert="horz" wrap="square" lIns="0" tIns="0" rIns="0" bIns="0" rtlCol="0" anchor="t">
            <a:noAutofit/>
          </a:bodyPr>
          <a:lstStyle/>
          <a:p>
            <a:pPr>
              <a:lnSpc>
                <a:spcPct val="100000"/>
              </a:lnSpc>
            </a:pPr>
            <a:r>
              <a:rPr lang="en-US" sz="2200" b="1" dirty="0">
                <a:solidFill>
                  <a:srgbClr val="E9CD7A"/>
                </a:solidFill>
                <a:latin typeface="Cambria"/>
                <a:cs typeface="Cambria"/>
              </a:rPr>
              <a:t>Both - even if your output is not the one the group picked.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762000"/>
            <a:ext cx="105664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How this is graded</a:t>
            </a:r>
          </a:p>
        </p:txBody>
      </p:sp>
      <p:sp>
        <p:nvSpPr>
          <p:cNvPr id="3" name="TextBox 3"/>
          <p:cNvSpPr txBox="1"/>
          <p:nvPr/>
        </p:nvSpPr>
        <p:spPr>
          <a:xfrm>
            <a:off x="812800" y="1676400"/>
            <a:ext cx="10566400" cy="369332"/>
          </a:xfrm>
          <a:prstGeom prst="rect">
            <a:avLst/>
          </a:prstGeom>
          <a:noFill/>
        </p:spPr>
        <p:txBody>
          <a:bodyPr vert="horz" wrap="square" lIns="0" tIns="0" rIns="0" bIns="0" rtlCol="0" anchor="t">
            <a:noAutofit/>
          </a:bodyPr>
          <a:lstStyle/>
          <a:p>
            <a:pPr>
              <a:lnSpc>
                <a:spcPct val="100000"/>
              </a:lnSpc>
            </a:pPr>
            <a:r>
              <a:rPr lang="en-US" sz="2000" dirty="0">
                <a:solidFill>
                  <a:srgbClr val="ADA48E"/>
                </a:solidFill>
                <a:latin typeface="Calibri"/>
                <a:cs typeface="Calibri"/>
              </a:rPr>
              <a:t>10 pts. total:</a:t>
            </a:r>
          </a:p>
        </p:txBody>
      </p:sp>
      <p:sp>
        <p:nvSpPr>
          <p:cNvPr id="4" name="Rectangle: Rounded Corners 4"/>
          <p:cNvSpPr/>
          <p:nvPr/>
        </p:nvSpPr>
        <p:spPr>
          <a:xfrm>
            <a:off x="812800" y="2413000"/>
            <a:ext cx="10566400" cy="762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5" name="Oval 5"/>
          <p:cNvSpPr/>
          <p:nvPr/>
        </p:nvSpPr>
        <p:spPr>
          <a:xfrm>
            <a:off x="1219200" y="2514600"/>
            <a:ext cx="558800" cy="558800"/>
          </a:xfrm>
          <a:prstGeom prst="ellipse">
            <a:avLst/>
          </a:prstGeom>
          <a:solidFill>
            <a:srgbClr val="D4AF37"/>
          </a:solidFill>
          <a:ln>
            <a:noFill/>
          </a:ln>
          <a:effectLst/>
        </p:spPr>
        <p:txBody>
          <a:bodyPr rtlCol="0" anchor="ctr"/>
          <a:lstStyle/>
          <a:p>
            <a:pPr algn="ctr"/>
            <a:r>
              <a:rPr lang="en-US" sz="2000" b="1">
                <a:solidFill>
                  <a:srgbClr val="0C0C0E"/>
                </a:solidFill>
                <a:latin typeface="Calibri"/>
                <a:cs typeface="Calibri"/>
              </a:rPr>
              <a:t>3</a:t>
            </a:r>
          </a:p>
        </p:txBody>
      </p:sp>
      <p:sp>
        <p:nvSpPr>
          <p:cNvPr id="6" name="TextBox 6"/>
          <p:cNvSpPr txBox="1"/>
          <p:nvPr/>
        </p:nvSpPr>
        <p:spPr>
          <a:xfrm>
            <a:off x="2159000" y="2590800"/>
            <a:ext cx="3000000" cy="381000"/>
          </a:xfrm>
          <a:prstGeom prst="rect">
            <a:avLst/>
          </a:prstGeom>
          <a:noFill/>
        </p:spPr>
        <p:txBody>
          <a:bodyPr vert="horz" wrap="square" lIns="0" tIns="0" rIns="0" bIns="0" rtlCol="0" anchor="t">
            <a:noAutofit/>
          </a:bodyPr>
          <a:lstStyle/>
          <a:p>
            <a:pPr>
              <a:lnSpc>
                <a:spcPct val="100000"/>
              </a:lnSpc>
            </a:pPr>
            <a:r>
              <a:rPr lang="en-US" sz="1900">
                <a:solidFill>
                  <a:srgbClr val="D4AF37"/>
                </a:solidFill>
                <a:latin typeface="Calibri"/>
                <a:cs typeface="Calibri"/>
              </a:rPr>
              <a:t>Your prompt</a:t>
            </a:r>
          </a:p>
        </p:txBody>
      </p:sp>
      <p:sp>
        <p:nvSpPr>
          <p:cNvPr id="7" name="TextBox 7"/>
          <p:cNvSpPr txBox="1"/>
          <p:nvPr/>
        </p:nvSpPr>
        <p:spPr>
          <a:xfrm>
            <a:off x="5334000" y="2616200"/>
            <a:ext cx="5664200" cy="381000"/>
          </a:xfrm>
          <a:prstGeom prst="rect">
            <a:avLst/>
          </a:prstGeom>
          <a:noFill/>
        </p:spPr>
        <p:txBody>
          <a:bodyPr vert="horz" wrap="square" lIns="0" tIns="0" rIns="0" bIns="0" rtlCol="0" anchor="t">
            <a:noAutofit/>
          </a:bodyPr>
          <a:lstStyle/>
          <a:p>
            <a:pPr>
              <a:lnSpc>
                <a:spcPct val="100000"/>
              </a:lnSpc>
            </a:pPr>
            <a:r>
              <a:rPr lang="en-US" sz="1700">
                <a:solidFill>
                  <a:srgbClr val="F4F1E9"/>
                </a:solidFill>
                <a:latin typeface="Calibri"/>
                <a:cs typeface="Calibri"/>
              </a:rPr>
              <a:t>Specific, complete, and clearly written by you.</a:t>
            </a:r>
          </a:p>
        </p:txBody>
      </p:sp>
      <p:sp>
        <p:nvSpPr>
          <p:cNvPr id="8" name="Rectangle: Rounded Corners 8"/>
          <p:cNvSpPr/>
          <p:nvPr/>
        </p:nvSpPr>
        <p:spPr>
          <a:xfrm>
            <a:off x="812800" y="3352800"/>
            <a:ext cx="10566400" cy="762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9" name="Oval 9"/>
          <p:cNvSpPr/>
          <p:nvPr/>
        </p:nvSpPr>
        <p:spPr>
          <a:xfrm>
            <a:off x="1219200" y="3454400"/>
            <a:ext cx="558800" cy="558800"/>
          </a:xfrm>
          <a:prstGeom prst="ellipse">
            <a:avLst/>
          </a:prstGeom>
          <a:solidFill>
            <a:srgbClr val="D4AF37"/>
          </a:solidFill>
          <a:ln>
            <a:noFill/>
          </a:ln>
          <a:effectLst/>
        </p:spPr>
        <p:txBody>
          <a:bodyPr rtlCol="0" anchor="ctr"/>
          <a:lstStyle/>
          <a:p>
            <a:pPr algn="ctr"/>
            <a:r>
              <a:rPr lang="en-US" sz="2000" b="1">
                <a:solidFill>
                  <a:srgbClr val="0C0C0E"/>
                </a:solidFill>
                <a:latin typeface="Calibri"/>
                <a:cs typeface="Calibri"/>
              </a:rPr>
              <a:t>2</a:t>
            </a:r>
          </a:p>
        </p:txBody>
      </p:sp>
      <p:sp>
        <p:nvSpPr>
          <p:cNvPr id="10" name="TextBox 10"/>
          <p:cNvSpPr txBox="1"/>
          <p:nvPr/>
        </p:nvSpPr>
        <p:spPr>
          <a:xfrm>
            <a:off x="2159000" y="3530600"/>
            <a:ext cx="3000000" cy="381000"/>
          </a:xfrm>
          <a:prstGeom prst="rect">
            <a:avLst/>
          </a:prstGeom>
          <a:noFill/>
        </p:spPr>
        <p:txBody>
          <a:bodyPr vert="horz" wrap="square" lIns="0" tIns="0" rIns="0" bIns="0" rtlCol="0" anchor="t">
            <a:noAutofit/>
          </a:bodyPr>
          <a:lstStyle/>
          <a:p>
            <a:pPr>
              <a:lnSpc>
                <a:spcPct val="100000"/>
              </a:lnSpc>
            </a:pPr>
            <a:r>
              <a:rPr lang="en-US" sz="1900">
                <a:solidFill>
                  <a:srgbClr val="D4AF37"/>
                </a:solidFill>
                <a:latin typeface="Calibri"/>
                <a:cs typeface="Calibri"/>
              </a:rPr>
              <a:t>Your output</a:t>
            </a:r>
          </a:p>
        </p:txBody>
      </p:sp>
      <p:sp>
        <p:nvSpPr>
          <p:cNvPr id="11" name="TextBox 11"/>
          <p:cNvSpPr txBox="1"/>
          <p:nvPr/>
        </p:nvSpPr>
        <p:spPr>
          <a:xfrm>
            <a:off x="5334000" y="3556000"/>
            <a:ext cx="5664200" cy="381000"/>
          </a:xfrm>
          <a:prstGeom prst="rect">
            <a:avLst/>
          </a:prstGeom>
          <a:noFill/>
        </p:spPr>
        <p:txBody>
          <a:bodyPr vert="horz" wrap="square" lIns="0" tIns="0" rIns="0" bIns="0" rtlCol="0" anchor="t">
            <a:noAutofit/>
          </a:bodyPr>
          <a:lstStyle/>
          <a:p>
            <a:pPr>
              <a:lnSpc>
                <a:spcPct val="100000"/>
              </a:lnSpc>
            </a:pPr>
            <a:r>
              <a:rPr lang="en-US" sz="1700" dirty="0">
                <a:solidFill>
                  <a:srgbClr val="F4F1E9"/>
                </a:solidFill>
                <a:latin typeface="Calibri"/>
                <a:cs typeface="Calibri"/>
              </a:rPr>
              <a:t>Turned in on time, in one of the three approved formats.</a:t>
            </a:r>
          </a:p>
        </p:txBody>
      </p:sp>
      <p:sp>
        <p:nvSpPr>
          <p:cNvPr id="12" name="Rectangle: Rounded Corners 12"/>
          <p:cNvSpPr/>
          <p:nvPr/>
        </p:nvSpPr>
        <p:spPr>
          <a:xfrm>
            <a:off x="812800" y="4292600"/>
            <a:ext cx="10566400" cy="762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3" name="Oval 13"/>
          <p:cNvSpPr/>
          <p:nvPr/>
        </p:nvSpPr>
        <p:spPr>
          <a:xfrm>
            <a:off x="1219200" y="4394200"/>
            <a:ext cx="558800" cy="558800"/>
          </a:xfrm>
          <a:prstGeom prst="ellipse">
            <a:avLst/>
          </a:prstGeom>
          <a:solidFill>
            <a:srgbClr val="D4AF37"/>
          </a:solidFill>
          <a:ln>
            <a:noFill/>
          </a:ln>
          <a:effectLst/>
        </p:spPr>
        <p:txBody>
          <a:bodyPr rtlCol="0" anchor="ctr"/>
          <a:lstStyle/>
          <a:p>
            <a:pPr algn="ctr"/>
            <a:r>
              <a:rPr lang="en-US" sz="2000" b="1">
                <a:solidFill>
                  <a:srgbClr val="0C0C0E"/>
                </a:solidFill>
                <a:latin typeface="Calibri"/>
                <a:cs typeface="Calibri"/>
              </a:rPr>
              <a:t>3</a:t>
            </a:r>
          </a:p>
        </p:txBody>
      </p:sp>
      <p:sp>
        <p:nvSpPr>
          <p:cNvPr id="14" name="TextBox 14"/>
          <p:cNvSpPr txBox="1"/>
          <p:nvPr/>
        </p:nvSpPr>
        <p:spPr>
          <a:xfrm>
            <a:off x="2159000" y="4470400"/>
            <a:ext cx="3000000" cy="381000"/>
          </a:xfrm>
          <a:prstGeom prst="rect">
            <a:avLst/>
          </a:prstGeom>
          <a:noFill/>
        </p:spPr>
        <p:txBody>
          <a:bodyPr vert="horz" wrap="square" lIns="0" tIns="0" rIns="0" bIns="0" rtlCol="0" anchor="t">
            <a:noAutofit/>
          </a:bodyPr>
          <a:lstStyle/>
          <a:p>
            <a:pPr>
              <a:lnSpc>
                <a:spcPct val="100000"/>
              </a:lnSpc>
            </a:pPr>
            <a:r>
              <a:rPr lang="en-US" sz="1900" dirty="0">
                <a:solidFill>
                  <a:srgbClr val="D4AF37"/>
                </a:solidFill>
                <a:latin typeface="Calibri"/>
                <a:cs typeface="Calibri"/>
              </a:rPr>
              <a:t>The content</a:t>
            </a:r>
          </a:p>
        </p:txBody>
      </p:sp>
      <p:sp>
        <p:nvSpPr>
          <p:cNvPr id="15" name="TextBox 15"/>
          <p:cNvSpPr txBox="1"/>
          <p:nvPr/>
        </p:nvSpPr>
        <p:spPr>
          <a:xfrm>
            <a:off x="5334000" y="4495800"/>
            <a:ext cx="5664200" cy="381000"/>
          </a:xfrm>
          <a:prstGeom prst="rect">
            <a:avLst/>
          </a:prstGeom>
          <a:noFill/>
        </p:spPr>
        <p:txBody>
          <a:bodyPr vert="horz" wrap="square" lIns="0" tIns="0" rIns="0" bIns="0" rtlCol="0" anchor="t">
            <a:noAutofit/>
          </a:bodyPr>
          <a:lstStyle/>
          <a:p>
            <a:pPr>
              <a:lnSpc>
                <a:spcPct val="100000"/>
              </a:lnSpc>
            </a:pPr>
            <a:r>
              <a:rPr lang="en-US" sz="1700" dirty="0">
                <a:solidFill>
                  <a:srgbClr val="F4F1E9"/>
                </a:solidFill>
                <a:latin typeface="Calibri"/>
                <a:cs typeface="Calibri"/>
              </a:rPr>
              <a:t>All six required elements are present, and they are accurate.</a:t>
            </a:r>
          </a:p>
        </p:txBody>
      </p:sp>
      <p:sp>
        <p:nvSpPr>
          <p:cNvPr id="16" name="Rectangle: Rounded Corners 16"/>
          <p:cNvSpPr/>
          <p:nvPr/>
        </p:nvSpPr>
        <p:spPr>
          <a:xfrm>
            <a:off x="812800" y="5232400"/>
            <a:ext cx="10566400" cy="762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7" name="Oval 17"/>
          <p:cNvSpPr/>
          <p:nvPr/>
        </p:nvSpPr>
        <p:spPr>
          <a:xfrm>
            <a:off x="1219200" y="5334000"/>
            <a:ext cx="558800" cy="558800"/>
          </a:xfrm>
          <a:prstGeom prst="ellipse">
            <a:avLst/>
          </a:prstGeom>
          <a:solidFill>
            <a:srgbClr val="D4AF37"/>
          </a:solidFill>
          <a:ln>
            <a:noFill/>
          </a:ln>
          <a:effectLst/>
        </p:spPr>
        <p:txBody>
          <a:bodyPr rtlCol="0" anchor="ctr"/>
          <a:lstStyle/>
          <a:p>
            <a:pPr algn="ctr"/>
            <a:r>
              <a:rPr lang="en-US" sz="2000" b="1">
                <a:solidFill>
                  <a:srgbClr val="0C0C0E"/>
                </a:solidFill>
                <a:latin typeface="Calibri"/>
                <a:cs typeface="Calibri"/>
              </a:rPr>
              <a:t>2</a:t>
            </a:r>
          </a:p>
        </p:txBody>
      </p:sp>
      <p:sp>
        <p:nvSpPr>
          <p:cNvPr id="18" name="TextBox 18"/>
          <p:cNvSpPr txBox="1"/>
          <p:nvPr/>
        </p:nvSpPr>
        <p:spPr>
          <a:xfrm>
            <a:off x="2159000" y="5410200"/>
            <a:ext cx="3000000" cy="381000"/>
          </a:xfrm>
          <a:prstGeom prst="rect">
            <a:avLst/>
          </a:prstGeom>
          <a:noFill/>
        </p:spPr>
        <p:txBody>
          <a:bodyPr vert="horz" wrap="square" lIns="0" tIns="0" rIns="0" bIns="0" rtlCol="0" anchor="t">
            <a:noAutofit/>
          </a:bodyPr>
          <a:lstStyle/>
          <a:p>
            <a:pPr>
              <a:lnSpc>
                <a:spcPct val="100000"/>
              </a:lnSpc>
            </a:pPr>
            <a:r>
              <a:rPr lang="en-US" sz="1900">
                <a:solidFill>
                  <a:srgbClr val="D4AF37"/>
                </a:solidFill>
                <a:latin typeface="Calibri"/>
                <a:cs typeface="Calibri"/>
              </a:rPr>
              <a:t>The sources</a:t>
            </a:r>
          </a:p>
        </p:txBody>
      </p:sp>
      <p:sp>
        <p:nvSpPr>
          <p:cNvPr id="19" name="TextBox 19"/>
          <p:cNvSpPr txBox="1"/>
          <p:nvPr/>
        </p:nvSpPr>
        <p:spPr>
          <a:xfrm>
            <a:off x="5334000" y="5435600"/>
            <a:ext cx="5664200" cy="381000"/>
          </a:xfrm>
          <a:prstGeom prst="rect">
            <a:avLst/>
          </a:prstGeom>
          <a:noFill/>
        </p:spPr>
        <p:txBody>
          <a:bodyPr vert="horz" wrap="square" lIns="0" tIns="0" rIns="0" bIns="0" rtlCol="0" anchor="t">
            <a:noAutofit/>
          </a:bodyPr>
          <a:lstStyle/>
          <a:p>
            <a:pPr>
              <a:lnSpc>
                <a:spcPct val="100000"/>
              </a:lnSpc>
            </a:pPr>
            <a:r>
              <a:rPr lang="en-US" sz="1700">
                <a:solidFill>
                  <a:srgbClr val="F4F1E9"/>
                </a:solidFill>
                <a:latin typeface="Calibri"/>
                <a:cs typeface="Calibri"/>
              </a:rPr>
              <a:t>Credible, cited, links that work, quotes attributed to real people.</a:t>
            </a:r>
          </a:p>
        </p:txBody>
      </p:sp>
      <p:sp>
        <p:nvSpPr>
          <p:cNvPr id="20" name="TextBox 20"/>
          <p:cNvSpPr txBox="1"/>
          <p:nvPr/>
        </p:nvSpPr>
        <p:spPr>
          <a:xfrm>
            <a:off x="812800" y="6172200"/>
            <a:ext cx="10566400" cy="369332"/>
          </a:xfrm>
          <a:prstGeom prst="rect">
            <a:avLst/>
          </a:prstGeom>
          <a:noFill/>
        </p:spPr>
        <p:txBody>
          <a:bodyPr vert="horz" wrap="square" lIns="0" tIns="0" rIns="0" bIns="0" rtlCol="0" anchor="t">
            <a:noAutofit/>
          </a:bodyPr>
          <a:lstStyle/>
          <a:p>
            <a:pPr>
              <a:lnSpc>
                <a:spcPct val="100000"/>
              </a:lnSpc>
            </a:pPr>
            <a:r>
              <a:rPr lang="en-US" sz="1700" dirty="0">
                <a:solidFill>
                  <a:srgbClr val="ADA48E"/>
                </a:solidFill>
                <a:latin typeface="Calibri"/>
                <a:cs typeface="Calibri"/>
              </a:rPr>
              <a:t>A broken link, or a quote you cannot find in the source, costs you points.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685800"/>
            <a:ext cx="105664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The cases</a:t>
            </a:r>
          </a:p>
        </p:txBody>
      </p:sp>
      <p:sp>
        <p:nvSpPr>
          <p:cNvPr id="3" name="TextBox 3"/>
          <p:cNvSpPr txBox="1"/>
          <p:nvPr/>
        </p:nvSpPr>
        <p:spPr>
          <a:xfrm>
            <a:off x="812800" y="1524000"/>
            <a:ext cx="10566400" cy="369332"/>
          </a:xfrm>
          <a:prstGeom prst="rect">
            <a:avLst/>
          </a:prstGeom>
          <a:noFill/>
        </p:spPr>
        <p:txBody>
          <a:bodyPr vert="horz" wrap="square" lIns="0" tIns="0" rIns="0" bIns="0" rtlCol="0" anchor="t">
            <a:noAutofit/>
          </a:bodyPr>
          <a:lstStyle/>
          <a:p>
            <a:pPr>
              <a:lnSpc>
                <a:spcPct val="100000"/>
              </a:lnSpc>
            </a:pPr>
            <a:r>
              <a:rPr lang="en-US" sz="1900">
                <a:solidFill>
                  <a:srgbClr val="ADA48E"/>
                </a:solidFill>
                <a:latin typeface="Calibri"/>
                <a:cs typeface="Calibri"/>
              </a:rPr>
              <a:t>Your group gets one. A rundown of each follows, and you will get a printed copy of yours.</a:t>
            </a:r>
          </a:p>
        </p:txBody>
      </p:sp>
      <p:sp>
        <p:nvSpPr>
          <p:cNvPr id="4" name="Oval 4"/>
          <p:cNvSpPr/>
          <p:nvPr/>
        </p:nvSpPr>
        <p:spPr>
          <a:xfrm>
            <a:off x="812800" y="2159000"/>
            <a:ext cx="457200" cy="457200"/>
          </a:xfrm>
          <a:prstGeom prst="ellipse">
            <a:avLst/>
          </a:prstGeom>
          <a:solidFill>
            <a:srgbClr val="D4AF37"/>
          </a:solidFill>
          <a:ln>
            <a:noFill/>
          </a:ln>
          <a:effectLst/>
        </p:spPr>
        <p:txBody>
          <a:bodyPr rtlCol="0" anchor="ctr"/>
          <a:lstStyle/>
          <a:p>
            <a:pPr algn="ctr"/>
            <a:r>
              <a:rPr lang="en-US" sz="1600" b="1">
                <a:solidFill>
                  <a:srgbClr val="0C0C0E"/>
                </a:solidFill>
                <a:latin typeface="Calibri"/>
                <a:cs typeface="Calibri"/>
              </a:rPr>
              <a:t>1</a:t>
            </a:r>
          </a:p>
        </p:txBody>
      </p:sp>
      <p:sp>
        <p:nvSpPr>
          <p:cNvPr id="5" name="TextBox 5"/>
          <p:cNvSpPr txBox="1"/>
          <p:nvPr/>
        </p:nvSpPr>
        <p:spPr>
          <a:xfrm>
            <a:off x="1447800" y="2197100"/>
            <a:ext cx="3800000" cy="381000"/>
          </a:xfrm>
          <a:prstGeom prst="rect">
            <a:avLst/>
          </a:prstGeom>
          <a:noFill/>
        </p:spPr>
        <p:txBody>
          <a:bodyPr vert="horz" wrap="square" lIns="0" tIns="0" rIns="0" bIns="0" rtlCol="0" anchor="t">
            <a:noAutofit/>
          </a:bodyPr>
          <a:lstStyle/>
          <a:p>
            <a:pPr>
              <a:lnSpc>
                <a:spcPct val="100000"/>
              </a:lnSpc>
            </a:pPr>
            <a:r>
              <a:rPr lang="en-US" sz="1800" dirty="0">
                <a:solidFill>
                  <a:srgbClr val="D4AF37"/>
                </a:solidFill>
                <a:latin typeface="Calibri"/>
                <a:cs typeface="Calibri"/>
              </a:rPr>
              <a:t>Meta and the states</a:t>
            </a:r>
          </a:p>
        </p:txBody>
      </p:sp>
      <p:sp>
        <p:nvSpPr>
          <p:cNvPr id="6" name="TextBox 6"/>
          <p:cNvSpPr txBox="1"/>
          <p:nvPr/>
        </p:nvSpPr>
        <p:spPr>
          <a:xfrm>
            <a:off x="5334000" y="2222500"/>
            <a:ext cx="6045200" cy="381000"/>
          </a:xfrm>
          <a:prstGeom prst="rect">
            <a:avLst/>
          </a:prstGeom>
          <a:noFill/>
        </p:spPr>
        <p:txBody>
          <a:bodyPr vert="horz" wrap="square" lIns="0" tIns="0" rIns="0" bIns="0" rtlCol="0" anchor="t">
            <a:noAutofit/>
          </a:bodyPr>
          <a:lstStyle/>
          <a:p>
            <a:pPr>
              <a:lnSpc>
                <a:spcPct val="100000"/>
              </a:lnSpc>
            </a:pPr>
            <a:r>
              <a:rPr lang="en-US" sz="1600" dirty="0">
                <a:solidFill>
                  <a:srgbClr val="F4F1E9"/>
                </a:solidFill>
                <a:latin typeface="Calibri"/>
                <a:cs typeface="Calibri"/>
              </a:rPr>
              <a:t>Was Instagram built to hook kids on purpose?</a:t>
            </a:r>
          </a:p>
        </p:txBody>
      </p:sp>
      <p:sp>
        <p:nvSpPr>
          <p:cNvPr id="7" name="Oval 7"/>
          <p:cNvSpPr/>
          <p:nvPr/>
        </p:nvSpPr>
        <p:spPr>
          <a:xfrm>
            <a:off x="812800" y="2844800"/>
            <a:ext cx="457200" cy="457200"/>
          </a:xfrm>
          <a:prstGeom prst="ellipse">
            <a:avLst/>
          </a:prstGeom>
          <a:solidFill>
            <a:srgbClr val="D4AF37"/>
          </a:solidFill>
          <a:ln>
            <a:noFill/>
          </a:ln>
          <a:effectLst/>
        </p:spPr>
        <p:txBody>
          <a:bodyPr rtlCol="0" anchor="ctr"/>
          <a:lstStyle/>
          <a:p>
            <a:pPr algn="ctr"/>
            <a:r>
              <a:rPr lang="en-US" sz="1600" b="1">
                <a:solidFill>
                  <a:srgbClr val="0C0C0E"/>
                </a:solidFill>
                <a:latin typeface="Calibri"/>
                <a:cs typeface="Calibri"/>
              </a:rPr>
              <a:t>2</a:t>
            </a:r>
          </a:p>
        </p:txBody>
      </p:sp>
      <p:sp>
        <p:nvSpPr>
          <p:cNvPr id="8" name="TextBox 8"/>
          <p:cNvSpPr txBox="1"/>
          <p:nvPr/>
        </p:nvSpPr>
        <p:spPr>
          <a:xfrm>
            <a:off x="1447800" y="2882900"/>
            <a:ext cx="3800000" cy="381000"/>
          </a:xfrm>
          <a:prstGeom prst="rect">
            <a:avLst/>
          </a:prstGeom>
          <a:noFill/>
        </p:spPr>
        <p:txBody>
          <a:bodyPr vert="horz" wrap="square" lIns="0" tIns="0" rIns="0" bIns="0" rtlCol="0" anchor="t">
            <a:noAutofit/>
          </a:bodyPr>
          <a:lstStyle/>
          <a:p>
            <a:pPr>
              <a:lnSpc>
                <a:spcPct val="100000"/>
              </a:lnSpc>
            </a:pPr>
            <a:r>
              <a:rPr lang="en-US" sz="1800">
                <a:solidFill>
                  <a:srgbClr val="D4AF37"/>
                </a:solidFill>
                <a:latin typeface="Calibri"/>
                <a:cs typeface="Calibri"/>
              </a:rPr>
              <a:t>Emporia, Kansas</a:t>
            </a:r>
          </a:p>
        </p:txBody>
      </p:sp>
      <p:sp>
        <p:nvSpPr>
          <p:cNvPr id="9" name="TextBox 9"/>
          <p:cNvSpPr txBox="1"/>
          <p:nvPr/>
        </p:nvSpPr>
        <p:spPr>
          <a:xfrm>
            <a:off x="5334000" y="2908300"/>
            <a:ext cx="6045200" cy="381000"/>
          </a:xfrm>
          <a:prstGeom prst="rect">
            <a:avLst/>
          </a:prstGeom>
          <a:noFill/>
        </p:spPr>
        <p:txBody>
          <a:bodyPr vert="horz" wrap="square" lIns="0" tIns="0" rIns="0" bIns="0" rtlCol="0" anchor="t">
            <a:noAutofit/>
          </a:bodyPr>
          <a:lstStyle/>
          <a:p>
            <a:pPr>
              <a:lnSpc>
                <a:spcPct val="100000"/>
              </a:lnSpc>
            </a:pPr>
            <a:r>
              <a:rPr lang="en-US" sz="1600" dirty="0">
                <a:solidFill>
                  <a:srgbClr val="F4F1E9"/>
                </a:solidFill>
                <a:latin typeface="Calibri"/>
                <a:cs typeface="Calibri"/>
              </a:rPr>
              <a:t>Should a gigawatt data center be built right here?</a:t>
            </a:r>
          </a:p>
        </p:txBody>
      </p:sp>
      <p:sp>
        <p:nvSpPr>
          <p:cNvPr id="10" name="Oval 10"/>
          <p:cNvSpPr/>
          <p:nvPr/>
        </p:nvSpPr>
        <p:spPr>
          <a:xfrm>
            <a:off x="812800" y="3530600"/>
            <a:ext cx="457200" cy="457200"/>
          </a:xfrm>
          <a:prstGeom prst="ellipse">
            <a:avLst/>
          </a:prstGeom>
          <a:solidFill>
            <a:srgbClr val="D4AF37"/>
          </a:solidFill>
          <a:ln>
            <a:noFill/>
          </a:ln>
          <a:effectLst/>
        </p:spPr>
        <p:txBody>
          <a:bodyPr rtlCol="0" anchor="ctr"/>
          <a:lstStyle/>
          <a:p>
            <a:pPr algn="ctr"/>
            <a:r>
              <a:rPr lang="en-US" sz="1600" b="1">
                <a:solidFill>
                  <a:srgbClr val="0C0C0E"/>
                </a:solidFill>
                <a:latin typeface="Calibri"/>
                <a:cs typeface="Calibri"/>
              </a:rPr>
              <a:t>3</a:t>
            </a:r>
          </a:p>
        </p:txBody>
      </p:sp>
      <p:sp>
        <p:nvSpPr>
          <p:cNvPr id="11" name="TextBox 11"/>
          <p:cNvSpPr txBox="1"/>
          <p:nvPr/>
        </p:nvSpPr>
        <p:spPr>
          <a:xfrm>
            <a:off x="1447800" y="3568700"/>
            <a:ext cx="3800000" cy="381000"/>
          </a:xfrm>
          <a:prstGeom prst="rect">
            <a:avLst/>
          </a:prstGeom>
          <a:noFill/>
        </p:spPr>
        <p:txBody>
          <a:bodyPr vert="horz" wrap="square" lIns="0" tIns="0" rIns="0" bIns="0" rtlCol="0" anchor="t">
            <a:noAutofit/>
          </a:bodyPr>
          <a:lstStyle/>
          <a:p>
            <a:pPr>
              <a:lnSpc>
                <a:spcPct val="100000"/>
              </a:lnSpc>
            </a:pPr>
            <a:r>
              <a:rPr lang="en-US" sz="1800">
                <a:solidFill>
                  <a:srgbClr val="D4AF37"/>
                </a:solidFill>
                <a:latin typeface="Calibri"/>
                <a:cs typeface="Calibri"/>
              </a:rPr>
              <a:t>AI companions</a:t>
            </a:r>
          </a:p>
        </p:txBody>
      </p:sp>
      <p:sp>
        <p:nvSpPr>
          <p:cNvPr id="12" name="TextBox 12"/>
          <p:cNvSpPr txBox="1"/>
          <p:nvPr/>
        </p:nvSpPr>
        <p:spPr>
          <a:xfrm>
            <a:off x="5334000" y="3594100"/>
            <a:ext cx="6045200" cy="381000"/>
          </a:xfrm>
          <a:prstGeom prst="rect">
            <a:avLst/>
          </a:prstGeom>
          <a:noFill/>
        </p:spPr>
        <p:txBody>
          <a:bodyPr vert="horz" wrap="square" lIns="0" tIns="0" rIns="0" bIns="0" rtlCol="0" anchor="t">
            <a:noAutofit/>
          </a:bodyPr>
          <a:lstStyle/>
          <a:p>
            <a:pPr>
              <a:lnSpc>
                <a:spcPct val="100000"/>
              </a:lnSpc>
            </a:pPr>
            <a:r>
              <a:rPr lang="en-US" sz="1600" dirty="0">
                <a:solidFill>
                  <a:srgbClr val="F4F1E9"/>
                </a:solidFill>
                <a:latin typeface="Calibri"/>
                <a:cs typeface="Calibri"/>
              </a:rPr>
              <a:t>Who answers when a chatbot is a teenager's closest confidant?</a:t>
            </a:r>
          </a:p>
        </p:txBody>
      </p:sp>
      <p:sp>
        <p:nvSpPr>
          <p:cNvPr id="13" name="Oval 13"/>
          <p:cNvSpPr/>
          <p:nvPr/>
        </p:nvSpPr>
        <p:spPr>
          <a:xfrm>
            <a:off x="812800" y="4216400"/>
            <a:ext cx="457200" cy="457200"/>
          </a:xfrm>
          <a:prstGeom prst="ellipse">
            <a:avLst/>
          </a:prstGeom>
          <a:solidFill>
            <a:srgbClr val="D4AF37"/>
          </a:solidFill>
          <a:ln>
            <a:noFill/>
          </a:ln>
          <a:effectLst/>
        </p:spPr>
        <p:txBody>
          <a:bodyPr rtlCol="0" anchor="ctr"/>
          <a:lstStyle/>
          <a:p>
            <a:pPr algn="ctr"/>
            <a:r>
              <a:rPr lang="en-US" sz="1600" b="1">
                <a:solidFill>
                  <a:srgbClr val="0C0C0E"/>
                </a:solidFill>
                <a:latin typeface="Calibri"/>
                <a:cs typeface="Calibri"/>
              </a:rPr>
              <a:t>4</a:t>
            </a:r>
          </a:p>
        </p:txBody>
      </p:sp>
      <p:sp>
        <p:nvSpPr>
          <p:cNvPr id="14" name="TextBox 14"/>
          <p:cNvSpPr txBox="1"/>
          <p:nvPr/>
        </p:nvSpPr>
        <p:spPr>
          <a:xfrm>
            <a:off x="1447800" y="4254500"/>
            <a:ext cx="3800000" cy="381000"/>
          </a:xfrm>
          <a:prstGeom prst="rect">
            <a:avLst/>
          </a:prstGeom>
          <a:noFill/>
        </p:spPr>
        <p:txBody>
          <a:bodyPr vert="horz" wrap="square" lIns="0" tIns="0" rIns="0" bIns="0" rtlCol="0" anchor="t">
            <a:noAutofit/>
          </a:bodyPr>
          <a:lstStyle/>
          <a:p>
            <a:pPr>
              <a:lnSpc>
                <a:spcPct val="100000"/>
              </a:lnSpc>
            </a:pPr>
            <a:r>
              <a:rPr lang="en-US" sz="1800" dirty="0">
                <a:solidFill>
                  <a:srgbClr val="D4AF37"/>
                </a:solidFill>
                <a:latin typeface="Calibri"/>
                <a:cs typeface="Calibri"/>
              </a:rPr>
              <a:t>23andMe</a:t>
            </a:r>
          </a:p>
        </p:txBody>
      </p:sp>
      <p:sp>
        <p:nvSpPr>
          <p:cNvPr id="15" name="TextBox 15"/>
          <p:cNvSpPr txBox="1"/>
          <p:nvPr/>
        </p:nvSpPr>
        <p:spPr>
          <a:xfrm>
            <a:off x="5334000" y="4279900"/>
            <a:ext cx="6045200" cy="381000"/>
          </a:xfrm>
          <a:prstGeom prst="rect">
            <a:avLst/>
          </a:prstGeom>
          <a:noFill/>
        </p:spPr>
        <p:txBody>
          <a:bodyPr vert="horz" wrap="square" lIns="0" tIns="0" rIns="0" bIns="0" rtlCol="0" anchor="t">
            <a:noAutofit/>
          </a:bodyPr>
          <a:lstStyle/>
          <a:p>
            <a:pPr>
              <a:lnSpc>
                <a:spcPct val="100000"/>
              </a:lnSpc>
            </a:pPr>
            <a:r>
              <a:rPr lang="en-US" sz="1600" dirty="0">
                <a:solidFill>
                  <a:srgbClr val="F4F1E9"/>
                </a:solidFill>
                <a:latin typeface="Calibri"/>
                <a:cs typeface="Calibri"/>
              </a:rPr>
              <a:t>What happens to your DNA when the company goes bankrupt?</a:t>
            </a:r>
          </a:p>
        </p:txBody>
      </p:sp>
      <p:sp>
        <p:nvSpPr>
          <p:cNvPr id="16" name="Oval 16"/>
          <p:cNvSpPr/>
          <p:nvPr/>
        </p:nvSpPr>
        <p:spPr>
          <a:xfrm>
            <a:off x="812800" y="4902200"/>
            <a:ext cx="457200" cy="457200"/>
          </a:xfrm>
          <a:prstGeom prst="ellipse">
            <a:avLst/>
          </a:prstGeom>
          <a:solidFill>
            <a:srgbClr val="D4AF37"/>
          </a:solidFill>
          <a:ln>
            <a:noFill/>
          </a:ln>
          <a:effectLst/>
        </p:spPr>
        <p:txBody>
          <a:bodyPr rtlCol="0" anchor="ctr"/>
          <a:lstStyle/>
          <a:p>
            <a:pPr algn="ctr"/>
            <a:r>
              <a:rPr lang="en-US" sz="1600" b="1">
                <a:solidFill>
                  <a:srgbClr val="0C0C0E"/>
                </a:solidFill>
                <a:latin typeface="Calibri"/>
                <a:cs typeface="Calibri"/>
              </a:rPr>
              <a:t>5</a:t>
            </a:r>
          </a:p>
        </p:txBody>
      </p:sp>
      <p:sp>
        <p:nvSpPr>
          <p:cNvPr id="17" name="TextBox 17"/>
          <p:cNvSpPr txBox="1"/>
          <p:nvPr/>
        </p:nvSpPr>
        <p:spPr>
          <a:xfrm>
            <a:off x="1447800" y="4940300"/>
            <a:ext cx="3800000" cy="381000"/>
          </a:xfrm>
          <a:prstGeom prst="rect">
            <a:avLst/>
          </a:prstGeom>
          <a:noFill/>
        </p:spPr>
        <p:txBody>
          <a:bodyPr vert="horz" wrap="square" lIns="0" tIns="0" rIns="0" bIns="0" rtlCol="0" anchor="t">
            <a:noAutofit/>
          </a:bodyPr>
          <a:lstStyle/>
          <a:p>
            <a:pPr>
              <a:lnSpc>
                <a:spcPct val="100000"/>
              </a:lnSpc>
            </a:pPr>
            <a:r>
              <a:rPr lang="en-US" sz="1800" dirty="0">
                <a:solidFill>
                  <a:srgbClr val="D4AF37"/>
                </a:solidFill>
                <a:latin typeface="Calibri"/>
                <a:cs typeface="Calibri"/>
              </a:rPr>
              <a:t>Anthropic and authors</a:t>
            </a:r>
          </a:p>
        </p:txBody>
      </p:sp>
      <p:sp>
        <p:nvSpPr>
          <p:cNvPr id="18" name="TextBox 18"/>
          <p:cNvSpPr txBox="1"/>
          <p:nvPr/>
        </p:nvSpPr>
        <p:spPr>
          <a:xfrm>
            <a:off x="5334000" y="4965700"/>
            <a:ext cx="6045200" cy="381000"/>
          </a:xfrm>
          <a:prstGeom prst="rect">
            <a:avLst/>
          </a:prstGeom>
          <a:noFill/>
        </p:spPr>
        <p:txBody>
          <a:bodyPr vert="horz" wrap="square" lIns="0" tIns="0" rIns="0" bIns="0" rtlCol="0" anchor="t">
            <a:noAutofit/>
          </a:bodyPr>
          <a:lstStyle/>
          <a:p>
            <a:pPr>
              <a:lnSpc>
                <a:spcPct val="100000"/>
              </a:lnSpc>
            </a:pPr>
            <a:r>
              <a:rPr lang="en-US" sz="1600" dirty="0">
                <a:solidFill>
                  <a:srgbClr val="F4F1E9"/>
                </a:solidFill>
                <a:latin typeface="Calibri"/>
                <a:cs typeface="Calibri"/>
              </a:rPr>
              <a:t>Can you train an AI on books nobody paid for?</a:t>
            </a:r>
          </a:p>
        </p:txBody>
      </p:sp>
      <p:sp>
        <p:nvSpPr>
          <p:cNvPr id="19" name="Oval 19"/>
          <p:cNvSpPr/>
          <p:nvPr/>
        </p:nvSpPr>
        <p:spPr>
          <a:xfrm>
            <a:off x="812800" y="5588000"/>
            <a:ext cx="457200" cy="457200"/>
          </a:xfrm>
          <a:prstGeom prst="ellipse">
            <a:avLst/>
          </a:prstGeom>
          <a:solidFill>
            <a:srgbClr val="FFFF00"/>
          </a:solidFill>
          <a:ln>
            <a:noFill/>
          </a:ln>
          <a:effectLst/>
        </p:spPr>
        <p:txBody>
          <a:bodyPr rtlCol="0" anchor="ctr"/>
          <a:lstStyle/>
          <a:p>
            <a:pPr algn="ctr"/>
            <a:r>
              <a:rPr lang="en-US" sz="1600" b="1" dirty="0">
                <a:solidFill>
                  <a:srgbClr val="0C0C0E"/>
                </a:solidFill>
                <a:latin typeface="Calibri"/>
                <a:cs typeface="Calibri"/>
              </a:rPr>
              <a:t>*</a:t>
            </a:r>
          </a:p>
        </p:txBody>
      </p:sp>
      <p:sp>
        <p:nvSpPr>
          <p:cNvPr id="20" name="TextBox 20"/>
          <p:cNvSpPr txBox="1"/>
          <p:nvPr/>
        </p:nvSpPr>
        <p:spPr>
          <a:xfrm>
            <a:off x="1447800" y="5626100"/>
            <a:ext cx="3800000" cy="381000"/>
          </a:xfrm>
          <a:prstGeom prst="rect">
            <a:avLst/>
          </a:prstGeom>
          <a:noFill/>
        </p:spPr>
        <p:txBody>
          <a:bodyPr vert="horz" wrap="square" lIns="0" tIns="0" rIns="0" bIns="0" rtlCol="0" anchor="t">
            <a:noAutofit/>
          </a:bodyPr>
          <a:lstStyle/>
          <a:p>
            <a:pPr>
              <a:lnSpc>
                <a:spcPct val="100000"/>
              </a:lnSpc>
            </a:pPr>
            <a:r>
              <a:rPr lang="en-US" b="1" dirty="0">
                <a:solidFill>
                  <a:schemeClr val="tx1"/>
                </a:solidFill>
                <a:highlight>
                  <a:srgbClr val="FFFF00"/>
                </a:highlight>
                <a:latin typeface="Calibri"/>
                <a:cs typeface="Calibri"/>
              </a:rPr>
              <a:t>Or c</a:t>
            </a:r>
            <a:r>
              <a:rPr lang="en-US" sz="1800" b="1" dirty="0">
                <a:solidFill>
                  <a:schemeClr val="tx1"/>
                </a:solidFill>
                <a:highlight>
                  <a:srgbClr val="FFFF00"/>
                </a:highlight>
                <a:latin typeface="Calibri"/>
                <a:cs typeface="Calibri"/>
              </a:rPr>
              <a:t>hoose your own!</a:t>
            </a:r>
          </a:p>
        </p:txBody>
      </p:sp>
      <p:sp>
        <p:nvSpPr>
          <p:cNvPr id="21" name="TextBox 21"/>
          <p:cNvSpPr txBox="1"/>
          <p:nvPr/>
        </p:nvSpPr>
        <p:spPr>
          <a:xfrm>
            <a:off x="5334000" y="5651500"/>
            <a:ext cx="6045200" cy="381000"/>
          </a:xfrm>
          <a:prstGeom prst="rect">
            <a:avLst/>
          </a:prstGeom>
          <a:noFill/>
        </p:spPr>
        <p:txBody>
          <a:bodyPr vert="horz" wrap="square" lIns="0" tIns="0" rIns="0" bIns="0" rtlCol="0" anchor="t">
            <a:noAutofit/>
          </a:bodyPr>
          <a:lstStyle/>
          <a:p>
            <a:pPr>
              <a:lnSpc>
                <a:spcPct val="100000"/>
              </a:lnSpc>
            </a:pPr>
            <a:r>
              <a:rPr lang="en-US" sz="1600" dirty="0">
                <a:solidFill>
                  <a:schemeClr val="tx1"/>
                </a:solidFill>
                <a:highlight>
                  <a:srgbClr val="C0C0C0"/>
                </a:highlight>
                <a:latin typeface="Calibri"/>
                <a:cs typeface="Calibri"/>
              </a:rPr>
              <a:t>Bring me another case - get it approved before you start.</a:t>
            </a:r>
          </a:p>
        </p:txBody>
      </p:sp>
      <p:sp>
        <p:nvSpPr>
          <p:cNvPr id="22" name="TextBox 22"/>
          <p:cNvSpPr txBox="1"/>
          <p:nvPr/>
        </p:nvSpPr>
        <p:spPr>
          <a:xfrm>
            <a:off x="812800" y="6248400"/>
            <a:ext cx="10566400" cy="369332"/>
          </a:xfrm>
          <a:prstGeom prst="rect">
            <a:avLst/>
          </a:prstGeom>
          <a:noFill/>
        </p:spPr>
        <p:txBody>
          <a:bodyPr vert="horz" wrap="square" lIns="0" tIns="0" rIns="0" bIns="0" rtlCol="0" anchor="t">
            <a:noAutofit/>
          </a:bodyPr>
          <a:lstStyle/>
          <a:p>
            <a:pPr>
              <a:lnSpc>
                <a:spcPct val="100000"/>
              </a:lnSpc>
            </a:pPr>
            <a:r>
              <a:rPr lang="en-US" sz="1700" dirty="0">
                <a:solidFill>
                  <a:srgbClr val="ADA48E"/>
                </a:solidFill>
                <a:latin typeface="Calibri"/>
                <a:cs typeface="Calibri"/>
              </a:rPr>
              <a:t>Every one of these is still moving. Check whether something changed since this deck was made.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685800"/>
            <a:ext cx="5900000" cy="250000"/>
          </a:xfrm>
          <a:prstGeom prst="rect">
            <a:avLst/>
          </a:prstGeom>
          <a:noFill/>
        </p:spPr>
        <p:txBody>
          <a:bodyPr vert="horz" wrap="square" lIns="0" tIns="0" rIns="0" bIns="0" rtlCol="0" anchor="t">
            <a:noAutofit/>
          </a:bodyPr>
          <a:lstStyle/>
          <a:p>
            <a:pPr>
              <a:lnSpc>
                <a:spcPct val="100000"/>
              </a:lnSpc>
            </a:pPr>
            <a:r>
              <a:rPr lang="en-US" sz="1300" b="1">
                <a:solidFill>
                  <a:srgbClr val="D4AF37"/>
                </a:solidFill>
                <a:latin typeface="Calibri"/>
                <a:cs typeface="Calibri"/>
              </a:rPr>
              <a:t>CASE ONE</a:t>
            </a:r>
          </a:p>
        </p:txBody>
      </p:sp>
      <p:sp>
        <p:nvSpPr>
          <p:cNvPr id="3" name="TextBox 3"/>
          <p:cNvSpPr txBox="1"/>
          <p:nvPr/>
        </p:nvSpPr>
        <p:spPr>
          <a:xfrm>
            <a:off x="812800" y="990600"/>
            <a:ext cx="5900000" cy="500000"/>
          </a:xfrm>
          <a:prstGeom prst="rect">
            <a:avLst/>
          </a:prstGeom>
          <a:noFill/>
        </p:spPr>
        <p:txBody>
          <a:bodyPr vert="horz" wrap="square" lIns="0" tIns="0" rIns="0" bIns="0" rtlCol="0" anchor="t">
            <a:noAutofit/>
          </a:bodyPr>
          <a:lstStyle/>
          <a:p>
            <a:pPr>
              <a:lnSpc>
                <a:spcPct val="95000"/>
              </a:lnSpc>
            </a:pPr>
            <a:r>
              <a:rPr lang="en-US" sz="2800" b="1">
                <a:solidFill>
                  <a:srgbClr val="E9CD7A"/>
                </a:solidFill>
                <a:latin typeface="Cambria"/>
                <a:cs typeface="Cambria"/>
              </a:rPr>
              <a:t>Meta and the states</a:t>
            </a:r>
          </a:p>
        </p:txBody>
      </p:sp>
      <p:sp>
        <p:nvSpPr>
          <p:cNvPr id="4" name="TextBox 4"/>
          <p:cNvSpPr txBox="1"/>
          <p:nvPr/>
        </p:nvSpPr>
        <p:spPr>
          <a:xfrm>
            <a:off x="812800" y="2032000"/>
            <a:ext cx="5900000" cy="250000"/>
          </a:xfrm>
          <a:prstGeom prst="rect">
            <a:avLst/>
          </a:prstGeom>
          <a:noFill/>
        </p:spPr>
        <p:txBody>
          <a:bodyPr vert="horz" wrap="square" lIns="0" tIns="0" rIns="0" bIns="0" rtlCol="0" anchor="t">
            <a:noAutofit/>
          </a:bodyPr>
          <a:lstStyle/>
          <a:p>
            <a:pPr>
              <a:lnSpc>
                <a:spcPct val="100000"/>
              </a:lnSpc>
            </a:pPr>
            <a:r>
              <a:rPr lang="en-US" sz="1100" b="1">
                <a:solidFill>
                  <a:srgbClr val="D4AF37"/>
                </a:solidFill>
                <a:latin typeface="Calibri"/>
                <a:cs typeface="Calibri"/>
              </a:rPr>
              <a:t>THE FIGHT</a:t>
            </a:r>
          </a:p>
        </p:txBody>
      </p:sp>
      <p:sp>
        <p:nvSpPr>
          <p:cNvPr id="5" name="TextBox 5"/>
          <p:cNvSpPr txBox="1"/>
          <p:nvPr/>
        </p:nvSpPr>
        <p:spPr>
          <a:xfrm>
            <a:off x="812800" y="2311400"/>
            <a:ext cx="5900000" cy="900000"/>
          </a:xfrm>
          <a:prstGeom prst="rect">
            <a:avLst/>
          </a:prstGeom>
          <a:noFill/>
        </p:spPr>
        <p:txBody>
          <a:bodyPr vert="horz" wrap="square" lIns="0" tIns="0" rIns="0" bIns="0" rtlCol="0" anchor="t">
            <a:noAutofit/>
          </a:bodyPr>
          <a:lstStyle/>
          <a:p>
            <a:pPr>
              <a:lnSpc>
                <a:spcPct val="120000"/>
              </a:lnSpc>
            </a:pPr>
            <a:r>
              <a:rPr lang="en-US" sz="1400">
                <a:solidFill>
                  <a:srgbClr val="F4F1E9"/>
                </a:solidFill>
                <a:latin typeface="Calibri"/>
                <a:cs typeface="Calibri"/>
              </a:rPr>
              <a:t>Attorneys general argued that Meta engineered Instagram and Facebook to keep minors scrolling, using infinite feeds, algorithmic recommendations and constant notifications, then misled the public about its own research.</a:t>
            </a:r>
          </a:p>
        </p:txBody>
      </p:sp>
      <p:sp>
        <p:nvSpPr>
          <p:cNvPr id="6" name="TextBox 6"/>
          <p:cNvSpPr txBox="1"/>
          <p:nvPr/>
        </p:nvSpPr>
        <p:spPr>
          <a:xfrm>
            <a:off x="812800" y="3429000"/>
            <a:ext cx="5900000" cy="250000"/>
          </a:xfrm>
          <a:prstGeom prst="rect">
            <a:avLst/>
          </a:prstGeom>
          <a:noFill/>
        </p:spPr>
        <p:txBody>
          <a:bodyPr vert="horz" wrap="square" lIns="0" tIns="0" rIns="0" bIns="0" rtlCol="0" anchor="t">
            <a:noAutofit/>
          </a:bodyPr>
          <a:lstStyle/>
          <a:p>
            <a:pPr>
              <a:lnSpc>
                <a:spcPct val="100000"/>
              </a:lnSpc>
            </a:pPr>
            <a:r>
              <a:rPr lang="en-US" sz="1100" b="1">
                <a:solidFill>
                  <a:srgbClr val="D4AF37"/>
                </a:solidFill>
                <a:latin typeface="Calibri"/>
                <a:cs typeface="Calibri"/>
              </a:rPr>
              <a:t>KEY FACTS</a:t>
            </a:r>
          </a:p>
        </p:txBody>
      </p:sp>
      <p:sp>
        <p:nvSpPr>
          <p:cNvPr id="7" name="TextBox 7"/>
          <p:cNvSpPr txBox="1"/>
          <p:nvPr/>
        </p:nvSpPr>
        <p:spPr>
          <a:xfrm>
            <a:off x="812800" y="3657600"/>
            <a:ext cx="5900000" cy="1600000"/>
          </a:xfrm>
          <a:prstGeom prst="rect">
            <a:avLst/>
          </a:prstGeom>
          <a:noFill/>
        </p:spPr>
        <p:txBody>
          <a:bodyPr vert="horz" wrap="square" lIns="0" tIns="0" rIns="0" bIns="0" rtlCol="0" anchor="t">
            <a:noAutofit/>
          </a:bodyPr>
          <a:lstStyle/>
          <a:p>
            <a:pPr>
              <a:lnSpc>
                <a:spcPct val="120000"/>
              </a:lnSpc>
              <a:spcBef>
                <a:spcPts val="600"/>
              </a:spcBef>
            </a:pPr>
            <a:r>
              <a:rPr lang="en-US" sz="1300">
                <a:solidFill>
                  <a:srgbClr val="F4F1E9"/>
                </a:solidFill>
                <a:latin typeface="Calibri"/>
                <a:cs typeface="Calibri"/>
              </a:rPr>
              <a:t>Trial opened August 18, 2026 in Oakland federal court. Meta settled eight days later, admitting no wrongdoing.</a:t>
            </a:r>
          </a:p>
          <a:p>
            <a:pPr>
              <a:lnSpc>
                <a:spcPct val="120000"/>
              </a:lnSpc>
              <a:spcBef>
                <a:spcPts val="600"/>
              </a:spcBef>
            </a:pPr>
            <a:r>
              <a:rPr lang="en-US" sz="1300">
                <a:solidFill>
                  <a:srgbClr val="F4F1E9"/>
                </a:solidFill>
                <a:latin typeface="Calibri"/>
                <a:cs typeface="Calibri"/>
              </a:rPr>
              <a:t>Up to $17.1 billion over ten years, of which $12.1 billion is guaranteed. Meta must add teen time limits and an overnight block.</a:t>
            </a:r>
          </a:p>
          <a:p>
            <a:pPr>
              <a:lnSpc>
                <a:spcPct val="120000"/>
              </a:lnSpc>
              <a:spcBef>
                <a:spcPts val="600"/>
              </a:spcBef>
            </a:pPr>
            <a:r>
              <a:rPr lang="en-US" sz="1300">
                <a:solidFill>
                  <a:srgbClr val="F4F1E9"/>
                </a:solidFill>
                <a:latin typeface="Calibri"/>
                <a:cs typeface="Calibri"/>
              </a:rPr>
              <a:t>Outlets reported the total as $16.7B, $17B and $18B, and the states as 29, 51 and 52. Working out why is part of your job.</a:t>
            </a:r>
          </a:p>
        </p:txBody>
      </p:sp>
      <p:pic>
        <p:nvPicPr>
          <p:cNvPr id="8" name="Picture 8"/>
          <p:cNvPicPr>
            <a:picLocks noChangeAspect="1"/>
          </p:cNvPicPr>
          <p:nvPr/>
        </p:nvPicPr>
        <p:blipFill>
          <a:blip r:embed="rId2"/>
          <a:srcRect/>
          <a:stretch>
            <a:fillRect/>
          </a:stretch>
        </p:blipFill>
        <p:spPr>
          <a:xfrm>
            <a:off x="7010400" y="990600"/>
            <a:ext cx="4368800" cy="2912533"/>
          </a:xfrm>
          <a:prstGeom prst="rect">
            <a:avLst/>
          </a:prstGeom>
          <a:ln w="12700" cap="flat" cmpd="sng" algn="ctr">
            <a:solidFill>
              <a:srgbClr val="5C4E2A"/>
            </a:solidFill>
          </a:ln>
        </p:spPr>
      </p:pic>
      <p:sp>
        <p:nvSpPr>
          <p:cNvPr id="9" name="TextBox 9"/>
          <p:cNvSpPr txBox="1"/>
          <p:nvPr/>
        </p:nvSpPr>
        <p:spPr>
          <a:xfrm>
            <a:off x="7010400" y="3990000"/>
            <a:ext cx="4368800" cy="300000"/>
          </a:xfrm>
          <a:prstGeom prst="rect">
            <a:avLst/>
          </a:prstGeom>
          <a:noFill/>
        </p:spPr>
        <p:txBody>
          <a:bodyPr vert="horz" wrap="square" lIns="0" tIns="0" rIns="0" bIns="0" rtlCol="0" anchor="t">
            <a:noAutofit/>
          </a:bodyPr>
          <a:lstStyle/>
          <a:p>
            <a:pPr>
              <a:lnSpc>
                <a:spcPct val="110000"/>
              </a:lnSpc>
            </a:pPr>
            <a:r>
              <a:rPr lang="en-US" sz="900">
                <a:solidFill>
                  <a:srgbClr val="ADA48E"/>
                </a:solidFill>
                <a:latin typeface="Calibri"/>
                <a:cs typeface="Calibri"/>
              </a:rPr>
              <a:t>Meta headquarters, Menlo Park, California. Photo: LPS.1 / Wikimedia Commons (CC0).</a:t>
            </a:r>
          </a:p>
        </p:txBody>
      </p:sp>
      <p:sp>
        <p:nvSpPr>
          <p:cNvPr id="10" name="Rectangle: Rounded Corners 10"/>
          <p:cNvSpPr/>
          <p:nvPr/>
        </p:nvSpPr>
        <p:spPr>
          <a:xfrm>
            <a:off x="812800" y="5486400"/>
            <a:ext cx="10566400" cy="1016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1" name="TextBox 11"/>
          <p:cNvSpPr txBox="1"/>
          <p:nvPr/>
        </p:nvSpPr>
        <p:spPr>
          <a:xfrm>
            <a:off x="1219200" y="5613400"/>
            <a:ext cx="9753600" cy="250000"/>
          </a:xfrm>
          <a:prstGeom prst="rect">
            <a:avLst/>
          </a:prstGeom>
          <a:noFill/>
        </p:spPr>
        <p:txBody>
          <a:bodyPr vert="horz" wrap="square" lIns="0" tIns="0" rIns="0" bIns="0" rtlCol="0" anchor="t">
            <a:noAutofit/>
          </a:bodyPr>
          <a:lstStyle/>
          <a:p>
            <a:pPr>
              <a:lnSpc>
                <a:spcPct val="100000"/>
              </a:lnSpc>
            </a:pPr>
            <a:r>
              <a:rPr lang="en-US" sz="1000" b="1">
                <a:solidFill>
                  <a:srgbClr val="D4AF37"/>
                </a:solidFill>
                <a:latin typeface="Calibri"/>
                <a:cs typeface="Calibri"/>
              </a:rPr>
              <a:t>START HERE</a:t>
            </a:r>
          </a:p>
        </p:txBody>
      </p:sp>
      <p:sp>
        <p:nvSpPr>
          <p:cNvPr id="12" name="TextBox 12"/>
          <p:cNvSpPr txBox="1"/>
          <p:nvPr/>
        </p:nvSpPr>
        <p:spPr>
          <a:xfrm>
            <a:off x="1219200" y="5842000"/>
            <a:ext cx="9753600" cy="300000"/>
          </a:xfrm>
          <a:prstGeom prst="rect">
            <a:avLst/>
          </a:prstGeom>
          <a:noFill/>
        </p:spPr>
        <p:txBody>
          <a:bodyPr vert="horz" wrap="square" lIns="0" tIns="0" rIns="0" bIns="0" rtlCol="0" anchor="t">
            <a:noAutofit/>
          </a:bodyPr>
          <a:lstStyle/>
          <a:p>
            <a:pPr>
              <a:lnSpc>
                <a:spcPct val="100000"/>
              </a:lnSpc>
            </a:pPr>
            <a:r>
              <a:rPr lang="en-US" sz="1400" u="sng">
                <a:solidFill>
                  <a:srgbClr val="E9CD7A"/>
                </a:solidFill>
                <a:uFill>
                  <a:solidFill>
                    <a:srgbClr val="E9CD7A"/>
                  </a:solidFill>
                </a:uFill>
                <a:latin typeface="Calibri"/>
                <a:cs typeface="Calibri"/>
                <a:hlinkClick r:id="rId3"/>
              </a:rPr>
              <a:t>NPR, August 26, 2026 - Meta, states agree to $17 billion settlement in child safety trial</a:t>
            </a:r>
          </a:p>
        </p:txBody>
      </p:sp>
      <p:sp>
        <p:nvSpPr>
          <p:cNvPr id="13" name="TextBox 13"/>
          <p:cNvSpPr txBox="1"/>
          <p:nvPr/>
        </p:nvSpPr>
        <p:spPr>
          <a:xfrm>
            <a:off x="1219200" y="6172200"/>
            <a:ext cx="9753600" cy="250000"/>
          </a:xfrm>
          <a:prstGeom prst="rect">
            <a:avLst/>
          </a:prstGeom>
          <a:noFill/>
        </p:spPr>
        <p:txBody>
          <a:bodyPr vert="horz" wrap="square" lIns="0" tIns="0" rIns="0" bIns="0" rtlCol="0" anchor="t">
            <a:noAutofit/>
          </a:bodyPr>
          <a:lstStyle/>
          <a:p>
            <a:pPr>
              <a:lnSpc>
                <a:spcPct val="100000"/>
              </a:lnSpc>
            </a:pPr>
            <a:r>
              <a:rPr lang="en-US" sz="900">
                <a:solidFill>
                  <a:srgbClr val="ADA48E"/>
                </a:solidFill>
                <a:latin typeface="Calibri"/>
                <a:cs typeface="Calibri"/>
              </a:rPr>
              <a:t>npr.org/2026/08/26/nx-s1-5944781/meta-settlement-child-safety-lawsuit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685800"/>
            <a:ext cx="5900000" cy="250000"/>
          </a:xfrm>
          <a:prstGeom prst="rect">
            <a:avLst/>
          </a:prstGeom>
          <a:noFill/>
        </p:spPr>
        <p:txBody>
          <a:bodyPr vert="horz" wrap="square" lIns="0" tIns="0" rIns="0" bIns="0" rtlCol="0" anchor="t">
            <a:noAutofit/>
          </a:bodyPr>
          <a:lstStyle/>
          <a:p>
            <a:pPr>
              <a:lnSpc>
                <a:spcPct val="100000"/>
              </a:lnSpc>
            </a:pPr>
            <a:r>
              <a:rPr lang="en-US" sz="1300" b="1">
                <a:solidFill>
                  <a:srgbClr val="D4AF37"/>
                </a:solidFill>
                <a:latin typeface="Calibri"/>
                <a:cs typeface="Calibri"/>
              </a:rPr>
              <a:t>CASE TWO</a:t>
            </a:r>
          </a:p>
        </p:txBody>
      </p:sp>
      <p:sp>
        <p:nvSpPr>
          <p:cNvPr id="3" name="TextBox 3"/>
          <p:cNvSpPr txBox="1"/>
          <p:nvPr/>
        </p:nvSpPr>
        <p:spPr>
          <a:xfrm>
            <a:off x="812800" y="990600"/>
            <a:ext cx="5900000" cy="500000"/>
          </a:xfrm>
          <a:prstGeom prst="rect">
            <a:avLst/>
          </a:prstGeom>
          <a:noFill/>
        </p:spPr>
        <p:txBody>
          <a:bodyPr vert="horz" wrap="square" lIns="0" tIns="0" rIns="0" bIns="0" rtlCol="0" anchor="t">
            <a:noAutofit/>
          </a:bodyPr>
          <a:lstStyle/>
          <a:p>
            <a:pPr>
              <a:lnSpc>
                <a:spcPct val="95000"/>
              </a:lnSpc>
            </a:pPr>
            <a:r>
              <a:rPr lang="en-US" sz="2800" b="1">
                <a:solidFill>
                  <a:srgbClr val="E9CD7A"/>
                </a:solidFill>
                <a:latin typeface="Cambria"/>
                <a:cs typeface="Cambria"/>
              </a:rPr>
              <a:t>Emporia, Kansas</a:t>
            </a:r>
          </a:p>
        </p:txBody>
      </p:sp>
      <p:sp>
        <p:nvSpPr>
          <p:cNvPr id="4" name="TextBox 4"/>
          <p:cNvSpPr txBox="1"/>
          <p:nvPr/>
        </p:nvSpPr>
        <p:spPr>
          <a:xfrm>
            <a:off x="812800" y="2032000"/>
            <a:ext cx="5900000" cy="250000"/>
          </a:xfrm>
          <a:prstGeom prst="rect">
            <a:avLst/>
          </a:prstGeom>
          <a:noFill/>
        </p:spPr>
        <p:txBody>
          <a:bodyPr vert="horz" wrap="square" lIns="0" tIns="0" rIns="0" bIns="0" rtlCol="0" anchor="t">
            <a:noAutofit/>
          </a:bodyPr>
          <a:lstStyle/>
          <a:p>
            <a:pPr>
              <a:lnSpc>
                <a:spcPct val="100000"/>
              </a:lnSpc>
            </a:pPr>
            <a:r>
              <a:rPr lang="en-US" sz="1100" b="1">
                <a:solidFill>
                  <a:srgbClr val="D4AF37"/>
                </a:solidFill>
                <a:latin typeface="Calibri"/>
                <a:cs typeface="Calibri"/>
              </a:rPr>
              <a:t>THE FIGHT</a:t>
            </a:r>
          </a:p>
        </p:txBody>
      </p:sp>
      <p:sp>
        <p:nvSpPr>
          <p:cNvPr id="5" name="TextBox 5"/>
          <p:cNvSpPr txBox="1"/>
          <p:nvPr/>
        </p:nvSpPr>
        <p:spPr>
          <a:xfrm>
            <a:off x="812800" y="2311400"/>
            <a:ext cx="5900000" cy="900000"/>
          </a:xfrm>
          <a:prstGeom prst="rect">
            <a:avLst/>
          </a:prstGeom>
          <a:noFill/>
        </p:spPr>
        <p:txBody>
          <a:bodyPr vert="horz" wrap="square" lIns="0" tIns="0" rIns="0" bIns="0" rtlCol="0" anchor="t">
            <a:noAutofit/>
          </a:bodyPr>
          <a:lstStyle/>
          <a:p>
            <a:pPr>
              <a:lnSpc>
                <a:spcPct val="120000"/>
              </a:lnSpc>
            </a:pPr>
            <a:r>
              <a:rPr lang="en-US" sz="1400">
                <a:solidFill>
                  <a:srgbClr val="F4F1E9"/>
                </a:solidFill>
                <a:latin typeface="Calibri"/>
                <a:cs typeface="Calibri"/>
              </a:rPr>
              <a:t>A developer wants to build a gigawatt-scale data center on roughly 1,000 acres west of town. The city talks about jobs and investment. Neighbors ask about water, electricity, noise, and a customer that nobody will name.</a:t>
            </a:r>
          </a:p>
        </p:txBody>
      </p:sp>
      <p:sp>
        <p:nvSpPr>
          <p:cNvPr id="6" name="TextBox 6"/>
          <p:cNvSpPr txBox="1"/>
          <p:nvPr/>
        </p:nvSpPr>
        <p:spPr>
          <a:xfrm>
            <a:off x="812800" y="3429000"/>
            <a:ext cx="5900000" cy="250000"/>
          </a:xfrm>
          <a:prstGeom prst="rect">
            <a:avLst/>
          </a:prstGeom>
          <a:noFill/>
        </p:spPr>
        <p:txBody>
          <a:bodyPr vert="horz" wrap="square" lIns="0" tIns="0" rIns="0" bIns="0" rtlCol="0" anchor="t">
            <a:noAutofit/>
          </a:bodyPr>
          <a:lstStyle/>
          <a:p>
            <a:pPr>
              <a:lnSpc>
                <a:spcPct val="100000"/>
              </a:lnSpc>
            </a:pPr>
            <a:r>
              <a:rPr lang="en-US" sz="1100" b="1">
                <a:solidFill>
                  <a:srgbClr val="D4AF37"/>
                </a:solidFill>
                <a:latin typeface="Calibri"/>
                <a:cs typeface="Calibri"/>
              </a:rPr>
              <a:t>KEY FACTS</a:t>
            </a:r>
          </a:p>
        </p:txBody>
      </p:sp>
      <p:sp>
        <p:nvSpPr>
          <p:cNvPr id="7" name="TextBox 7"/>
          <p:cNvSpPr txBox="1"/>
          <p:nvPr/>
        </p:nvSpPr>
        <p:spPr>
          <a:xfrm>
            <a:off x="812800" y="3657600"/>
            <a:ext cx="5900000" cy="1600000"/>
          </a:xfrm>
          <a:prstGeom prst="rect">
            <a:avLst/>
          </a:prstGeom>
          <a:noFill/>
        </p:spPr>
        <p:txBody>
          <a:bodyPr vert="horz" wrap="square" lIns="0" tIns="0" rIns="0" bIns="0" rtlCol="0" anchor="t">
            <a:noAutofit/>
          </a:bodyPr>
          <a:lstStyle/>
          <a:p>
            <a:pPr>
              <a:lnSpc>
                <a:spcPct val="120000"/>
              </a:lnSpc>
              <a:spcBef>
                <a:spcPts val="600"/>
              </a:spcBef>
            </a:pPr>
            <a:r>
              <a:rPr lang="en-US" sz="1300">
                <a:solidFill>
                  <a:srgbClr val="F4F1E9"/>
                </a:solidFill>
                <a:latin typeface="Calibri"/>
                <a:cs typeface="Calibri"/>
              </a:rPr>
              <a:t>Kanza Park Place announced the Flint Hills Digital Campus in June 2026. No end customer has been named.</a:t>
            </a:r>
          </a:p>
          <a:p>
            <a:pPr>
              <a:lnSpc>
                <a:spcPct val="120000"/>
              </a:lnSpc>
              <a:spcBef>
                <a:spcPts val="600"/>
              </a:spcBef>
            </a:pPr>
            <a:r>
              <a:rPr lang="en-US" sz="1300">
                <a:solidFill>
                  <a:srgbClr val="F4F1E9"/>
                </a:solidFill>
                <a:latin typeface="Calibri"/>
                <a:cs typeface="Calibri"/>
              </a:rPr>
              <a:t>Commissioners voted 5-0 on July 22 to create a data center zoning district. A local teacher was arrested at that meeting for clapping.</a:t>
            </a:r>
          </a:p>
          <a:p>
            <a:pPr>
              <a:lnSpc>
                <a:spcPct val="120000"/>
              </a:lnSpc>
              <a:spcBef>
                <a:spcPts val="600"/>
              </a:spcBef>
            </a:pPr>
            <a:r>
              <a:rPr lang="en-US" sz="1300">
                <a:solidFill>
                  <a:srgbClr val="F4F1E9"/>
                </a:solidFill>
                <a:latin typeface="Calibri"/>
                <a:cs typeface="Calibri"/>
              </a:rPr>
              <a:t>Residents filed 1,358 signatures; 804 were needed. A judge ordered the ten-year ban question onto the November 3 ballot.</a:t>
            </a:r>
          </a:p>
        </p:txBody>
      </p:sp>
      <p:pic>
        <p:nvPicPr>
          <p:cNvPr id="8" name="Picture 8"/>
          <p:cNvPicPr>
            <a:picLocks noChangeAspect="1"/>
          </p:cNvPicPr>
          <p:nvPr/>
        </p:nvPicPr>
        <p:blipFill>
          <a:blip r:embed="rId2"/>
          <a:srcRect t="5556" b="5556"/>
          <a:stretch>
            <a:fillRect/>
          </a:stretch>
        </p:blipFill>
        <p:spPr>
          <a:xfrm>
            <a:off x="7010400" y="990600"/>
            <a:ext cx="4368800" cy="2912533"/>
          </a:xfrm>
          <a:prstGeom prst="rect">
            <a:avLst/>
          </a:prstGeom>
          <a:ln w="12700" cap="flat" cmpd="sng" algn="ctr">
            <a:solidFill>
              <a:srgbClr val="5C4E2A"/>
            </a:solidFill>
          </a:ln>
        </p:spPr>
      </p:pic>
      <p:sp>
        <p:nvSpPr>
          <p:cNvPr id="9" name="TextBox 9"/>
          <p:cNvSpPr txBox="1"/>
          <p:nvPr/>
        </p:nvSpPr>
        <p:spPr>
          <a:xfrm>
            <a:off x="7010400" y="3990000"/>
            <a:ext cx="4368800" cy="300000"/>
          </a:xfrm>
          <a:prstGeom prst="rect">
            <a:avLst/>
          </a:prstGeom>
          <a:noFill/>
        </p:spPr>
        <p:txBody>
          <a:bodyPr vert="horz" wrap="square" lIns="0" tIns="0" rIns="0" bIns="0" rtlCol="0" anchor="t">
            <a:noAutofit/>
          </a:bodyPr>
          <a:lstStyle/>
          <a:p>
            <a:pPr>
              <a:lnSpc>
                <a:spcPct val="110000"/>
              </a:lnSpc>
            </a:pPr>
            <a:r>
              <a:rPr lang="en-US" sz="900">
                <a:solidFill>
                  <a:srgbClr val="ADA48E"/>
                </a:solidFill>
                <a:latin typeface="Calibri"/>
                <a:cs typeface="Calibri"/>
              </a:rPr>
              <a:t>Downtown Emporia, Kansas. Photo: Ethan James Scherrer / Wikimedia Commons (CC BY-SA 3.0).</a:t>
            </a:r>
          </a:p>
        </p:txBody>
      </p:sp>
      <p:sp>
        <p:nvSpPr>
          <p:cNvPr id="10" name="Rectangle: Rounded Corners 10"/>
          <p:cNvSpPr/>
          <p:nvPr/>
        </p:nvSpPr>
        <p:spPr>
          <a:xfrm>
            <a:off x="812800" y="5486400"/>
            <a:ext cx="10566400" cy="1016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1" name="TextBox 11"/>
          <p:cNvSpPr txBox="1"/>
          <p:nvPr/>
        </p:nvSpPr>
        <p:spPr>
          <a:xfrm>
            <a:off x="1219200" y="5613400"/>
            <a:ext cx="9753600" cy="250000"/>
          </a:xfrm>
          <a:prstGeom prst="rect">
            <a:avLst/>
          </a:prstGeom>
          <a:noFill/>
        </p:spPr>
        <p:txBody>
          <a:bodyPr vert="horz" wrap="square" lIns="0" tIns="0" rIns="0" bIns="0" rtlCol="0" anchor="t">
            <a:noAutofit/>
          </a:bodyPr>
          <a:lstStyle/>
          <a:p>
            <a:pPr>
              <a:lnSpc>
                <a:spcPct val="100000"/>
              </a:lnSpc>
            </a:pPr>
            <a:r>
              <a:rPr lang="en-US" sz="1000" b="1">
                <a:solidFill>
                  <a:srgbClr val="D4AF37"/>
                </a:solidFill>
                <a:latin typeface="Calibri"/>
                <a:cs typeface="Calibri"/>
              </a:rPr>
              <a:t>START HERE</a:t>
            </a:r>
          </a:p>
        </p:txBody>
      </p:sp>
      <p:sp>
        <p:nvSpPr>
          <p:cNvPr id="12" name="TextBox 12"/>
          <p:cNvSpPr txBox="1"/>
          <p:nvPr/>
        </p:nvSpPr>
        <p:spPr>
          <a:xfrm>
            <a:off x="1219200" y="5842000"/>
            <a:ext cx="9753600" cy="300000"/>
          </a:xfrm>
          <a:prstGeom prst="rect">
            <a:avLst/>
          </a:prstGeom>
          <a:noFill/>
        </p:spPr>
        <p:txBody>
          <a:bodyPr vert="horz" wrap="square" lIns="0" tIns="0" rIns="0" bIns="0" rtlCol="0" anchor="t">
            <a:noAutofit/>
          </a:bodyPr>
          <a:lstStyle/>
          <a:p>
            <a:pPr>
              <a:lnSpc>
                <a:spcPct val="100000"/>
              </a:lnSpc>
            </a:pPr>
            <a:r>
              <a:rPr lang="en-US" sz="1400" u="sng">
                <a:solidFill>
                  <a:srgbClr val="E9CD7A"/>
                </a:solidFill>
                <a:uFill>
                  <a:solidFill>
                    <a:srgbClr val="E9CD7A"/>
                  </a:solidFill>
                </a:uFill>
                <a:latin typeface="Calibri"/>
                <a:cs typeface="Calibri"/>
                <a:hlinkClick r:id="rId3"/>
              </a:rPr>
              <a:t>The Emporia Gazette, August 20, 2026 - Data center petition question headed to November ballot</a:t>
            </a:r>
          </a:p>
        </p:txBody>
      </p:sp>
      <p:sp>
        <p:nvSpPr>
          <p:cNvPr id="13" name="TextBox 13"/>
          <p:cNvSpPr txBox="1"/>
          <p:nvPr/>
        </p:nvSpPr>
        <p:spPr>
          <a:xfrm>
            <a:off x="1219200" y="6172200"/>
            <a:ext cx="9753600" cy="250000"/>
          </a:xfrm>
          <a:prstGeom prst="rect">
            <a:avLst/>
          </a:prstGeom>
          <a:noFill/>
        </p:spPr>
        <p:txBody>
          <a:bodyPr vert="horz" wrap="square" lIns="0" tIns="0" rIns="0" bIns="0" rtlCol="0" anchor="t">
            <a:noAutofit/>
          </a:bodyPr>
          <a:lstStyle/>
          <a:p>
            <a:pPr>
              <a:lnSpc>
                <a:spcPct val="100000"/>
              </a:lnSpc>
            </a:pPr>
            <a:r>
              <a:rPr lang="en-US" sz="900">
                <a:solidFill>
                  <a:srgbClr val="ADA48E"/>
                </a:solidFill>
                <a:latin typeface="Calibri"/>
                <a:cs typeface="Calibri"/>
              </a:rPr>
              <a:t>emporiagazette.com/free/article_3647cfe5-14e3-4e67-bbd2-f34992d9d6b9.html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685800"/>
            <a:ext cx="5900000" cy="250000"/>
          </a:xfrm>
          <a:prstGeom prst="rect">
            <a:avLst/>
          </a:prstGeom>
          <a:noFill/>
        </p:spPr>
        <p:txBody>
          <a:bodyPr vert="horz" wrap="square" lIns="0" tIns="0" rIns="0" bIns="0" rtlCol="0" anchor="t">
            <a:noAutofit/>
          </a:bodyPr>
          <a:lstStyle/>
          <a:p>
            <a:pPr>
              <a:lnSpc>
                <a:spcPct val="100000"/>
              </a:lnSpc>
            </a:pPr>
            <a:r>
              <a:rPr lang="en-US" sz="1300" b="1">
                <a:solidFill>
                  <a:srgbClr val="D4AF37"/>
                </a:solidFill>
                <a:latin typeface="Calibri"/>
                <a:cs typeface="Calibri"/>
              </a:rPr>
              <a:t>CASE THREE</a:t>
            </a:r>
          </a:p>
        </p:txBody>
      </p:sp>
      <p:sp>
        <p:nvSpPr>
          <p:cNvPr id="3" name="TextBox 3"/>
          <p:cNvSpPr txBox="1"/>
          <p:nvPr/>
        </p:nvSpPr>
        <p:spPr>
          <a:xfrm>
            <a:off x="812800" y="990600"/>
            <a:ext cx="5900000" cy="500000"/>
          </a:xfrm>
          <a:prstGeom prst="rect">
            <a:avLst/>
          </a:prstGeom>
          <a:noFill/>
        </p:spPr>
        <p:txBody>
          <a:bodyPr vert="horz" wrap="square" lIns="0" tIns="0" rIns="0" bIns="0" rtlCol="0" anchor="t">
            <a:noAutofit/>
          </a:bodyPr>
          <a:lstStyle/>
          <a:p>
            <a:pPr>
              <a:lnSpc>
                <a:spcPct val="95000"/>
              </a:lnSpc>
            </a:pPr>
            <a:r>
              <a:rPr lang="en-US" sz="2800" b="1">
                <a:solidFill>
                  <a:srgbClr val="E9CD7A"/>
                </a:solidFill>
                <a:latin typeface="Cambria"/>
                <a:cs typeface="Cambria"/>
              </a:rPr>
              <a:t>AI companions and teenagers</a:t>
            </a:r>
          </a:p>
        </p:txBody>
      </p:sp>
      <p:sp>
        <p:nvSpPr>
          <p:cNvPr id="4" name="TextBox 4"/>
          <p:cNvSpPr txBox="1"/>
          <p:nvPr/>
        </p:nvSpPr>
        <p:spPr>
          <a:xfrm>
            <a:off x="812800" y="2032000"/>
            <a:ext cx="5900000" cy="250000"/>
          </a:xfrm>
          <a:prstGeom prst="rect">
            <a:avLst/>
          </a:prstGeom>
          <a:noFill/>
        </p:spPr>
        <p:txBody>
          <a:bodyPr vert="horz" wrap="square" lIns="0" tIns="0" rIns="0" bIns="0" rtlCol="0" anchor="t">
            <a:noAutofit/>
          </a:bodyPr>
          <a:lstStyle/>
          <a:p>
            <a:pPr>
              <a:lnSpc>
                <a:spcPct val="100000"/>
              </a:lnSpc>
            </a:pPr>
            <a:r>
              <a:rPr lang="en-US" sz="1100" b="1">
                <a:solidFill>
                  <a:srgbClr val="D4AF37"/>
                </a:solidFill>
                <a:latin typeface="Calibri"/>
                <a:cs typeface="Calibri"/>
              </a:rPr>
              <a:t>THE FIGHT</a:t>
            </a:r>
          </a:p>
        </p:txBody>
      </p:sp>
      <p:sp>
        <p:nvSpPr>
          <p:cNvPr id="5" name="TextBox 5"/>
          <p:cNvSpPr txBox="1"/>
          <p:nvPr/>
        </p:nvSpPr>
        <p:spPr>
          <a:xfrm>
            <a:off x="812800" y="2311400"/>
            <a:ext cx="5900000" cy="900000"/>
          </a:xfrm>
          <a:prstGeom prst="rect">
            <a:avLst/>
          </a:prstGeom>
          <a:noFill/>
        </p:spPr>
        <p:txBody>
          <a:bodyPr vert="horz" wrap="square" lIns="0" tIns="0" rIns="0" bIns="0" rtlCol="0" anchor="t">
            <a:noAutofit/>
          </a:bodyPr>
          <a:lstStyle/>
          <a:p>
            <a:pPr>
              <a:lnSpc>
                <a:spcPct val="120000"/>
              </a:lnSpc>
            </a:pPr>
            <a:r>
              <a:rPr lang="en-US" sz="1400">
                <a:solidFill>
                  <a:srgbClr val="F4F1E9"/>
                </a:solidFill>
                <a:latin typeface="Calibri"/>
                <a:cs typeface="Calibri"/>
              </a:rPr>
              <a:t>Families sued Character.AI and Google after teenagers formed intense attachments to chatbots and later died by suicide. The question is who is answerable for a product deliberately built to feel like a friend.</a:t>
            </a:r>
          </a:p>
        </p:txBody>
      </p:sp>
      <p:sp>
        <p:nvSpPr>
          <p:cNvPr id="6" name="TextBox 6"/>
          <p:cNvSpPr txBox="1"/>
          <p:nvPr/>
        </p:nvSpPr>
        <p:spPr>
          <a:xfrm>
            <a:off x="812800" y="3429000"/>
            <a:ext cx="5900000" cy="250000"/>
          </a:xfrm>
          <a:prstGeom prst="rect">
            <a:avLst/>
          </a:prstGeom>
          <a:noFill/>
        </p:spPr>
        <p:txBody>
          <a:bodyPr vert="horz" wrap="square" lIns="0" tIns="0" rIns="0" bIns="0" rtlCol="0" anchor="t">
            <a:noAutofit/>
          </a:bodyPr>
          <a:lstStyle/>
          <a:p>
            <a:pPr>
              <a:lnSpc>
                <a:spcPct val="100000"/>
              </a:lnSpc>
            </a:pPr>
            <a:r>
              <a:rPr lang="en-US" sz="1100" b="1">
                <a:solidFill>
                  <a:srgbClr val="D4AF37"/>
                </a:solidFill>
                <a:latin typeface="Calibri"/>
                <a:cs typeface="Calibri"/>
              </a:rPr>
              <a:t>KEY FACTS</a:t>
            </a:r>
          </a:p>
        </p:txBody>
      </p:sp>
      <p:sp>
        <p:nvSpPr>
          <p:cNvPr id="7" name="TextBox 7"/>
          <p:cNvSpPr txBox="1"/>
          <p:nvPr/>
        </p:nvSpPr>
        <p:spPr>
          <a:xfrm>
            <a:off x="812800" y="3657600"/>
            <a:ext cx="5900000" cy="1600000"/>
          </a:xfrm>
          <a:prstGeom prst="rect">
            <a:avLst/>
          </a:prstGeom>
          <a:noFill/>
        </p:spPr>
        <p:txBody>
          <a:bodyPr vert="horz" wrap="square" lIns="0" tIns="0" rIns="0" bIns="0" rtlCol="0" anchor="t">
            <a:noAutofit/>
          </a:bodyPr>
          <a:lstStyle/>
          <a:p>
            <a:pPr>
              <a:lnSpc>
                <a:spcPct val="120000"/>
              </a:lnSpc>
              <a:spcBef>
                <a:spcPts val="600"/>
              </a:spcBef>
            </a:pPr>
            <a:r>
              <a:rPr lang="en-US" sz="1300">
                <a:solidFill>
                  <a:srgbClr val="F4F1E9"/>
                </a:solidFill>
                <a:latin typeface="Calibri"/>
                <a:cs typeface="Calibri"/>
              </a:rPr>
              <a:t>The FTC opened a 6(b) inquiry on September 11, 2025 into seven companies that make AI companion products.</a:t>
            </a:r>
          </a:p>
          <a:p>
            <a:pPr>
              <a:lnSpc>
                <a:spcPct val="120000"/>
              </a:lnSpc>
              <a:spcBef>
                <a:spcPts val="600"/>
              </a:spcBef>
            </a:pPr>
            <a:r>
              <a:rPr lang="en-US" sz="1300">
                <a:solidFill>
                  <a:srgbClr val="F4F1E9"/>
                </a:solidFill>
                <a:latin typeface="Calibri"/>
                <a:cs typeface="Calibri"/>
              </a:rPr>
              <a:t>Character.AI barred under-18 users from open-ended chats in October 2025.</a:t>
            </a:r>
          </a:p>
          <a:p>
            <a:pPr>
              <a:lnSpc>
                <a:spcPct val="120000"/>
              </a:lnSpc>
              <a:spcBef>
                <a:spcPts val="600"/>
              </a:spcBef>
            </a:pPr>
            <a:r>
              <a:rPr lang="en-US" sz="1300">
                <a:solidFill>
                  <a:srgbClr val="F4F1E9"/>
                </a:solidFill>
                <a:latin typeface="Calibri"/>
                <a:cs typeface="Calibri"/>
              </a:rPr>
              <a:t>Character.AI and Google agreed in January 2026 to settle five family lawsuits. Terms were not disclosed and neither admitted liability.</a:t>
            </a:r>
          </a:p>
        </p:txBody>
      </p:sp>
      <p:pic>
        <p:nvPicPr>
          <p:cNvPr id="8" name="Picture 8"/>
          <p:cNvPicPr>
            <a:picLocks noChangeAspect="1"/>
          </p:cNvPicPr>
          <p:nvPr/>
        </p:nvPicPr>
        <p:blipFill>
          <a:blip r:embed="rId2"/>
          <a:srcRect t="8306" b="8306"/>
          <a:stretch>
            <a:fillRect/>
          </a:stretch>
        </p:blipFill>
        <p:spPr>
          <a:xfrm>
            <a:off x="7010400" y="990600"/>
            <a:ext cx="4368800" cy="2912533"/>
          </a:xfrm>
          <a:prstGeom prst="rect">
            <a:avLst/>
          </a:prstGeom>
          <a:ln w="12700" cap="flat" cmpd="sng" algn="ctr">
            <a:solidFill>
              <a:srgbClr val="5C4E2A"/>
            </a:solidFill>
          </a:ln>
        </p:spPr>
      </p:pic>
      <p:sp>
        <p:nvSpPr>
          <p:cNvPr id="9" name="TextBox 9"/>
          <p:cNvSpPr txBox="1"/>
          <p:nvPr/>
        </p:nvSpPr>
        <p:spPr>
          <a:xfrm>
            <a:off x="7010400" y="3990000"/>
            <a:ext cx="4368800" cy="300000"/>
          </a:xfrm>
          <a:prstGeom prst="rect">
            <a:avLst/>
          </a:prstGeom>
          <a:noFill/>
        </p:spPr>
        <p:txBody>
          <a:bodyPr vert="horz" wrap="square" lIns="0" tIns="0" rIns="0" bIns="0" rtlCol="0" anchor="t">
            <a:noAutofit/>
          </a:bodyPr>
          <a:lstStyle/>
          <a:p>
            <a:pPr>
              <a:lnSpc>
                <a:spcPct val="110000"/>
              </a:lnSpc>
            </a:pPr>
            <a:r>
              <a:rPr lang="en-US" sz="900">
                <a:solidFill>
                  <a:srgbClr val="ADA48E"/>
                </a:solidFill>
                <a:latin typeface="Calibri"/>
                <a:cs typeface="Calibri"/>
              </a:rPr>
              <a:t>Federal Trade Commission headquarters, Washington, D.C. Photo: Carol M. Highsmith / Library of Congress (public domain).</a:t>
            </a:r>
          </a:p>
        </p:txBody>
      </p:sp>
      <p:sp>
        <p:nvSpPr>
          <p:cNvPr id="10" name="TextBox 10"/>
          <p:cNvSpPr txBox="1"/>
          <p:nvPr/>
        </p:nvSpPr>
        <p:spPr>
          <a:xfrm>
            <a:off x="7010400" y="4419600"/>
            <a:ext cx="4368800" cy="800000"/>
          </a:xfrm>
          <a:prstGeom prst="rect">
            <a:avLst/>
          </a:prstGeom>
          <a:noFill/>
        </p:spPr>
        <p:txBody>
          <a:bodyPr vert="horz" wrap="square" lIns="0" tIns="0" rIns="0" bIns="0" rtlCol="0" anchor="t">
            <a:noAutofit/>
          </a:bodyPr>
          <a:lstStyle/>
          <a:p>
            <a:pPr>
              <a:lnSpc>
                <a:spcPct val="118000"/>
              </a:lnSpc>
            </a:pPr>
            <a:r>
              <a:rPr lang="en-US" sz="1200">
                <a:solidFill>
                  <a:srgbClr val="E9CD7A"/>
                </a:solidFill>
                <a:latin typeface="Calibri"/>
                <a:cs typeface="Calibri"/>
              </a:rPr>
              <a:t>Content note: this case involves teen suicide. If you or someone you know needs support, call or text 988.</a:t>
            </a:r>
          </a:p>
        </p:txBody>
      </p:sp>
      <p:sp>
        <p:nvSpPr>
          <p:cNvPr id="11" name="Rectangle: Rounded Corners 11"/>
          <p:cNvSpPr/>
          <p:nvPr/>
        </p:nvSpPr>
        <p:spPr>
          <a:xfrm>
            <a:off x="812800" y="5486400"/>
            <a:ext cx="10566400" cy="1016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2" name="TextBox 12"/>
          <p:cNvSpPr txBox="1"/>
          <p:nvPr/>
        </p:nvSpPr>
        <p:spPr>
          <a:xfrm>
            <a:off x="1219200" y="5613400"/>
            <a:ext cx="9753600" cy="250000"/>
          </a:xfrm>
          <a:prstGeom prst="rect">
            <a:avLst/>
          </a:prstGeom>
          <a:noFill/>
        </p:spPr>
        <p:txBody>
          <a:bodyPr vert="horz" wrap="square" lIns="0" tIns="0" rIns="0" bIns="0" rtlCol="0" anchor="t">
            <a:noAutofit/>
          </a:bodyPr>
          <a:lstStyle/>
          <a:p>
            <a:pPr>
              <a:lnSpc>
                <a:spcPct val="100000"/>
              </a:lnSpc>
            </a:pPr>
            <a:r>
              <a:rPr lang="en-US" sz="1000" b="1">
                <a:solidFill>
                  <a:srgbClr val="D4AF37"/>
                </a:solidFill>
                <a:latin typeface="Calibri"/>
                <a:cs typeface="Calibri"/>
              </a:rPr>
              <a:t>START HERE</a:t>
            </a:r>
          </a:p>
        </p:txBody>
      </p:sp>
      <p:sp>
        <p:nvSpPr>
          <p:cNvPr id="13" name="TextBox 13"/>
          <p:cNvSpPr txBox="1"/>
          <p:nvPr/>
        </p:nvSpPr>
        <p:spPr>
          <a:xfrm>
            <a:off x="1219200" y="5842000"/>
            <a:ext cx="9753600" cy="300000"/>
          </a:xfrm>
          <a:prstGeom prst="rect">
            <a:avLst/>
          </a:prstGeom>
          <a:noFill/>
        </p:spPr>
        <p:txBody>
          <a:bodyPr vert="horz" wrap="square" lIns="0" tIns="0" rIns="0" bIns="0" rtlCol="0" anchor="t">
            <a:noAutofit/>
          </a:bodyPr>
          <a:lstStyle/>
          <a:p>
            <a:pPr>
              <a:lnSpc>
                <a:spcPct val="100000"/>
              </a:lnSpc>
            </a:pPr>
            <a:r>
              <a:rPr lang="en-US" sz="1400" u="sng">
                <a:solidFill>
                  <a:srgbClr val="E9CD7A"/>
                </a:solidFill>
                <a:uFill>
                  <a:solidFill>
                    <a:srgbClr val="E9CD7A"/>
                  </a:solidFill>
                </a:uFill>
                <a:latin typeface="Calibri"/>
                <a:cs typeface="Calibri"/>
                <a:hlinkClick r:id="rId3"/>
              </a:rPr>
              <a:t>Fortune, January 8, 2026 - Google and Character.AI settle lawsuits over teen suicides linked to AI chatbots</a:t>
            </a:r>
          </a:p>
        </p:txBody>
      </p:sp>
      <p:sp>
        <p:nvSpPr>
          <p:cNvPr id="14" name="TextBox 14"/>
          <p:cNvSpPr txBox="1"/>
          <p:nvPr/>
        </p:nvSpPr>
        <p:spPr>
          <a:xfrm>
            <a:off x="1219200" y="6172200"/>
            <a:ext cx="9753600" cy="250000"/>
          </a:xfrm>
          <a:prstGeom prst="rect">
            <a:avLst/>
          </a:prstGeom>
          <a:noFill/>
        </p:spPr>
        <p:txBody>
          <a:bodyPr vert="horz" wrap="square" lIns="0" tIns="0" rIns="0" bIns="0" rtlCol="0" anchor="t">
            <a:noAutofit/>
          </a:bodyPr>
          <a:lstStyle/>
          <a:p>
            <a:pPr>
              <a:lnSpc>
                <a:spcPct val="100000"/>
              </a:lnSpc>
            </a:pPr>
            <a:r>
              <a:rPr lang="en-US" sz="900">
                <a:solidFill>
                  <a:srgbClr val="ADA48E"/>
                </a:solidFill>
                <a:latin typeface="Calibri"/>
                <a:cs typeface="Calibri"/>
              </a:rPr>
              <a:t>fortune.com/2026/01/08/google-character-ai-settle-lawsuits-teenage-child-suicides-chatbots/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685800"/>
            <a:ext cx="5900000" cy="250000"/>
          </a:xfrm>
          <a:prstGeom prst="rect">
            <a:avLst/>
          </a:prstGeom>
          <a:noFill/>
        </p:spPr>
        <p:txBody>
          <a:bodyPr vert="horz" wrap="square" lIns="0" tIns="0" rIns="0" bIns="0" rtlCol="0" anchor="t">
            <a:noAutofit/>
          </a:bodyPr>
          <a:lstStyle/>
          <a:p>
            <a:pPr>
              <a:lnSpc>
                <a:spcPct val="100000"/>
              </a:lnSpc>
            </a:pPr>
            <a:r>
              <a:rPr lang="en-US" sz="1300" b="1">
                <a:solidFill>
                  <a:srgbClr val="D4AF37"/>
                </a:solidFill>
                <a:latin typeface="Calibri"/>
                <a:cs typeface="Calibri"/>
              </a:rPr>
              <a:t>CASE FOUR</a:t>
            </a:r>
          </a:p>
        </p:txBody>
      </p:sp>
      <p:sp>
        <p:nvSpPr>
          <p:cNvPr id="3" name="TextBox 3"/>
          <p:cNvSpPr txBox="1"/>
          <p:nvPr/>
        </p:nvSpPr>
        <p:spPr>
          <a:xfrm>
            <a:off x="812800" y="990600"/>
            <a:ext cx="5900000" cy="500000"/>
          </a:xfrm>
          <a:prstGeom prst="rect">
            <a:avLst/>
          </a:prstGeom>
          <a:noFill/>
        </p:spPr>
        <p:txBody>
          <a:bodyPr vert="horz" wrap="square" lIns="0" tIns="0" rIns="0" bIns="0" rtlCol="0" anchor="t">
            <a:noAutofit/>
          </a:bodyPr>
          <a:lstStyle/>
          <a:p>
            <a:pPr>
              <a:lnSpc>
                <a:spcPct val="95000"/>
              </a:lnSpc>
            </a:pPr>
            <a:r>
              <a:rPr lang="en-US" sz="2800" b="1">
                <a:solidFill>
                  <a:srgbClr val="E9CD7A"/>
                </a:solidFill>
                <a:latin typeface="Cambria"/>
                <a:cs typeface="Cambria"/>
              </a:rPr>
              <a:t>23andMe and your DNA</a:t>
            </a:r>
          </a:p>
        </p:txBody>
      </p:sp>
      <p:sp>
        <p:nvSpPr>
          <p:cNvPr id="4" name="TextBox 4"/>
          <p:cNvSpPr txBox="1"/>
          <p:nvPr/>
        </p:nvSpPr>
        <p:spPr>
          <a:xfrm>
            <a:off x="812800" y="2032000"/>
            <a:ext cx="5900000" cy="250000"/>
          </a:xfrm>
          <a:prstGeom prst="rect">
            <a:avLst/>
          </a:prstGeom>
          <a:noFill/>
        </p:spPr>
        <p:txBody>
          <a:bodyPr vert="horz" wrap="square" lIns="0" tIns="0" rIns="0" bIns="0" rtlCol="0" anchor="t">
            <a:noAutofit/>
          </a:bodyPr>
          <a:lstStyle/>
          <a:p>
            <a:pPr>
              <a:lnSpc>
                <a:spcPct val="100000"/>
              </a:lnSpc>
            </a:pPr>
            <a:r>
              <a:rPr lang="en-US" sz="1100" b="1">
                <a:solidFill>
                  <a:srgbClr val="D4AF37"/>
                </a:solidFill>
                <a:latin typeface="Calibri"/>
                <a:cs typeface="Calibri"/>
              </a:rPr>
              <a:t>THE FIGHT</a:t>
            </a:r>
          </a:p>
        </p:txBody>
      </p:sp>
      <p:sp>
        <p:nvSpPr>
          <p:cNvPr id="5" name="TextBox 5"/>
          <p:cNvSpPr txBox="1"/>
          <p:nvPr/>
        </p:nvSpPr>
        <p:spPr>
          <a:xfrm>
            <a:off x="812800" y="2311400"/>
            <a:ext cx="5900000" cy="900000"/>
          </a:xfrm>
          <a:prstGeom prst="rect">
            <a:avLst/>
          </a:prstGeom>
          <a:noFill/>
        </p:spPr>
        <p:txBody>
          <a:bodyPr vert="horz" wrap="square" lIns="0" tIns="0" rIns="0" bIns="0" rtlCol="0" anchor="t">
            <a:noAutofit/>
          </a:bodyPr>
          <a:lstStyle/>
          <a:p>
            <a:pPr>
              <a:lnSpc>
                <a:spcPct val="120000"/>
              </a:lnSpc>
            </a:pPr>
            <a:r>
              <a:rPr lang="en-US" sz="1400">
                <a:solidFill>
                  <a:srgbClr val="F4F1E9"/>
                </a:solidFill>
                <a:latin typeface="Calibri"/>
                <a:cs typeface="Calibri"/>
              </a:rPr>
              <a:t>When a company holding the genetic data of millions goes bankrupt, that data becomes an asset to be sold. Customers who spat in a tube for ancestry results had no say in who ended up owning the results.</a:t>
            </a:r>
          </a:p>
        </p:txBody>
      </p:sp>
      <p:sp>
        <p:nvSpPr>
          <p:cNvPr id="6" name="TextBox 6"/>
          <p:cNvSpPr txBox="1"/>
          <p:nvPr/>
        </p:nvSpPr>
        <p:spPr>
          <a:xfrm>
            <a:off x="812800" y="3429000"/>
            <a:ext cx="5900000" cy="250000"/>
          </a:xfrm>
          <a:prstGeom prst="rect">
            <a:avLst/>
          </a:prstGeom>
          <a:noFill/>
        </p:spPr>
        <p:txBody>
          <a:bodyPr vert="horz" wrap="square" lIns="0" tIns="0" rIns="0" bIns="0" rtlCol="0" anchor="t">
            <a:noAutofit/>
          </a:bodyPr>
          <a:lstStyle/>
          <a:p>
            <a:pPr>
              <a:lnSpc>
                <a:spcPct val="100000"/>
              </a:lnSpc>
            </a:pPr>
            <a:r>
              <a:rPr lang="en-US" sz="1100" b="1">
                <a:solidFill>
                  <a:srgbClr val="D4AF37"/>
                </a:solidFill>
                <a:latin typeface="Calibri"/>
                <a:cs typeface="Calibri"/>
              </a:rPr>
              <a:t>KEY FACTS</a:t>
            </a:r>
          </a:p>
        </p:txBody>
      </p:sp>
      <p:sp>
        <p:nvSpPr>
          <p:cNvPr id="7" name="TextBox 7"/>
          <p:cNvSpPr txBox="1"/>
          <p:nvPr/>
        </p:nvSpPr>
        <p:spPr>
          <a:xfrm>
            <a:off x="812800" y="3657600"/>
            <a:ext cx="5900000" cy="1600000"/>
          </a:xfrm>
          <a:prstGeom prst="rect">
            <a:avLst/>
          </a:prstGeom>
          <a:noFill/>
        </p:spPr>
        <p:txBody>
          <a:bodyPr vert="horz" wrap="square" lIns="0" tIns="0" rIns="0" bIns="0" rtlCol="0" anchor="t">
            <a:noAutofit/>
          </a:bodyPr>
          <a:lstStyle/>
          <a:p>
            <a:pPr>
              <a:lnSpc>
                <a:spcPct val="120000"/>
              </a:lnSpc>
              <a:spcBef>
                <a:spcPts val="600"/>
              </a:spcBef>
            </a:pPr>
            <a:r>
              <a:rPr lang="en-US" sz="1300">
                <a:solidFill>
                  <a:srgbClr val="F4F1E9"/>
                </a:solidFill>
                <a:latin typeface="Calibri"/>
                <a:cs typeface="Calibri"/>
              </a:rPr>
              <a:t>A 2023 breach exposed data on 6.9 million customers. Attackers built and sold lists targeting people of Ashkenazi Jewish and Chinese heritage.</a:t>
            </a:r>
          </a:p>
          <a:p>
            <a:pPr>
              <a:lnSpc>
                <a:spcPct val="120000"/>
              </a:lnSpc>
              <a:spcBef>
                <a:spcPts val="600"/>
              </a:spcBef>
            </a:pPr>
            <a:r>
              <a:rPr lang="en-US" sz="1300">
                <a:solidFill>
                  <a:srgbClr val="F4F1E9"/>
                </a:solidFill>
                <a:latin typeface="Calibri"/>
                <a:cs typeface="Calibri"/>
              </a:rPr>
              <a:t>23andMe filed for bankruptcy in March 2025. Its data sold for $305 million to TTAM, a nonprofit run by co-founder Anne Wojcicki.</a:t>
            </a:r>
          </a:p>
          <a:p>
            <a:pPr>
              <a:lnSpc>
                <a:spcPct val="120000"/>
              </a:lnSpc>
              <a:spcBef>
                <a:spcPts val="600"/>
              </a:spcBef>
            </a:pPr>
            <a:r>
              <a:rPr lang="en-US" sz="1300">
                <a:solidFill>
                  <a:srgbClr val="F4F1E9"/>
                </a:solidFill>
                <a:latin typeface="Calibri"/>
                <a:cs typeface="Calibri"/>
              </a:rPr>
              <a:t>In July 2026 more than 40 attorneys general settled. Only $18 million was actually payable. HIPAA does not cover consumer DNA kits.</a:t>
            </a:r>
          </a:p>
        </p:txBody>
      </p:sp>
      <p:pic>
        <p:nvPicPr>
          <p:cNvPr id="8" name="Picture 8"/>
          <p:cNvPicPr>
            <a:picLocks noChangeAspect="1"/>
          </p:cNvPicPr>
          <p:nvPr/>
        </p:nvPicPr>
        <p:blipFill>
          <a:blip r:embed="rId2"/>
          <a:srcRect t="5556" b="5556"/>
          <a:stretch>
            <a:fillRect/>
          </a:stretch>
        </p:blipFill>
        <p:spPr>
          <a:xfrm>
            <a:off x="7010400" y="990600"/>
            <a:ext cx="4368800" cy="2912533"/>
          </a:xfrm>
          <a:prstGeom prst="rect">
            <a:avLst/>
          </a:prstGeom>
          <a:ln w="12700" cap="flat" cmpd="sng" algn="ctr">
            <a:solidFill>
              <a:srgbClr val="5C4E2A"/>
            </a:solidFill>
          </a:ln>
        </p:spPr>
      </p:pic>
      <p:sp>
        <p:nvSpPr>
          <p:cNvPr id="9" name="TextBox 9"/>
          <p:cNvSpPr txBox="1"/>
          <p:nvPr/>
        </p:nvSpPr>
        <p:spPr>
          <a:xfrm>
            <a:off x="7010400" y="3990000"/>
            <a:ext cx="4368800" cy="300000"/>
          </a:xfrm>
          <a:prstGeom prst="rect">
            <a:avLst/>
          </a:prstGeom>
          <a:noFill/>
        </p:spPr>
        <p:txBody>
          <a:bodyPr vert="horz" wrap="square" lIns="0" tIns="0" rIns="0" bIns="0" rtlCol="0" anchor="t">
            <a:noAutofit/>
          </a:bodyPr>
          <a:lstStyle/>
          <a:p>
            <a:pPr>
              <a:lnSpc>
                <a:spcPct val="110000"/>
              </a:lnSpc>
            </a:pPr>
            <a:r>
              <a:rPr lang="en-US" sz="900">
                <a:solidFill>
                  <a:srgbClr val="ADA48E"/>
                </a:solidFill>
                <a:latin typeface="Calibri"/>
                <a:cs typeface="Calibri"/>
              </a:rPr>
              <a:t>A 23andMe saliva collection kit. Photo: Hanno Boeck / Wikimedia Commons (CC0).</a:t>
            </a:r>
          </a:p>
        </p:txBody>
      </p:sp>
      <p:sp>
        <p:nvSpPr>
          <p:cNvPr id="10" name="Rectangle: Rounded Corners 10"/>
          <p:cNvSpPr/>
          <p:nvPr/>
        </p:nvSpPr>
        <p:spPr>
          <a:xfrm>
            <a:off x="812800" y="5486400"/>
            <a:ext cx="10566400" cy="1016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1" name="TextBox 11"/>
          <p:cNvSpPr txBox="1"/>
          <p:nvPr/>
        </p:nvSpPr>
        <p:spPr>
          <a:xfrm>
            <a:off x="1219200" y="5613400"/>
            <a:ext cx="9753600" cy="250000"/>
          </a:xfrm>
          <a:prstGeom prst="rect">
            <a:avLst/>
          </a:prstGeom>
          <a:noFill/>
        </p:spPr>
        <p:txBody>
          <a:bodyPr vert="horz" wrap="square" lIns="0" tIns="0" rIns="0" bIns="0" rtlCol="0" anchor="t">
            <a:noAutofit/>
          </a:bodyPr>
          <a:lstStyle/>
          <a:p>
            <a:pPr>
              <a:lnSpc>
                <a:spcPct val="100000"/>
              </a:lnSpc>
            </a:pPr>
            <a:r>
              <a:rPr lang="en-US" sz="1000" b="1">
                <a:solidFill>
                  <a:srgbClr val="D4AF37"/>
                </a:solidFill>
                <a:latin typeface="Calibri"/>
                <a:cs typeface="Calibri"/>
              </a:rPr>
              <a:t>START HERE</a:t>
            </a:r>
          </a:p>
        </p:txBody>
      </p:sp>
      <p:sp>
        <p:nvSpPr>
          <p:cNvPr id="12" name="TextBox 12"/>
          <p:cNvSpPr txBox="1"/>
          <p:nvPr/>
        </p:nvSpPr>
        <p:spPr>
          <a:xfrm>
            <a:off x="1219200" y="5842000"/>
            <a:ext cx="9753600" cy="300000"/>
          </a:xfrm>
          <a:prstGeom prst="rect">
            <a:avLst/>
          </a:prstGeom>
          <a:noFill/>
        </p:spPr>
        <p:txBody>
          <a:bodyPr vert="horz" wrap="square" lIns="0" tIns="0" rIns="0" bIns="0" rtlCol="0" anchor="t">
            <a:noAutofit/>
          </a:bodyPr>
          <a:lstStyle/>
          <a:p>
            <a:pPr>
              <a:lnSpc>
                <a:spcPct val="100000"/>
              </a:lnSpc>
            </a:pPr>
            <a:r>
              <a:rPr lang="en-US" sz="1400" u="sng">
                <a:solidFill>
                  <a:srgbClr val="E9CD7A"/>
                </a:solidFill>
                <a:uFill>
                  <a:solidFill>
                    <a:srgbClr val="E9CD7A"/>
                  </a:solidFill>
                </a:uFill>
                <a:latin typeface="Calibri"/>
                <a:cs typeface="Calibri"/>
                <a:hlinkClick r:id="rId3"/>
              </a:rPr>
              <a:t>New York Attorney General, July 14, 2026 - AG James Secures $18 Million From 23andMe Over Genetic Data</a:t>
            </a:r>
          </a:p>
        </p:txBody>
      </p:sp>
      <p:sp>
        <p:nvSpPr>
          <p:cNvPr id="13" name="TextBox 13"/>
          <p:cNvSpPr txBox="1"/>
          <p:nvPr/>
        </p:nvSpPr>
        <p:spPr>
          <a:xfrm>
            <a:off x="1219200" y="6172200"/>
            <a:ext cx="9753600" cy="250000"/>
          </a:xfrm>
          <a:prstGeom prst="rect">
            <a:avLst/>
          </a:prstGeom>
          <a:noFill/>
        </p:spPr>
        <p:txBody>
          <a:bodyPr vert="horz" wrap="square" lIns="0" tIns="0" rIns="0" bIns="0" rtlCol="0" anchor="t">
            <a:noAutofit/>
          </a:bodyPr>
          <a:lstStyle/>
          <a:p>
            <a:pPr>
              <a:lnSpc>
                <a:spcPct val="100000"/>
              </a:lnSpc>
            </a:pPr>
            <a:r>
              <a:rPr lang="en-US" sz="900">
                <a:solidFill>
                  <a:srgbClr val="ADA48E"/>
                </a:solidFill>
                <a:latin typeface="Calibri"/>
                <a:cs typeface="Calibri"/>
              </a:rPr>
              <a:t>ag.ny.gov/press-release/2026/attorney-general-james-secures-18-million-23andme-failing-protect-customers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685800"/>
            <a:ext cx="5900000" cy="250000"/>
          </a:xfrm>
          <a:prstGeom prst="rect">
            <a:avLst/>
          </a:prstGeom>
          <a:noFill/>
        </p:spPr>
        <p:txBody>
          <a:bodyPr vert="horz" wrap="square" lIns="0" tIns="0" rIns="0" bIns="0" rtlCol="0" anchor="t">
            <a:noAutofit/>
          </a:bodyPr>
          <a:lstStyle/>
          <a:p>
            <a:pPr>
              <a:lnSpc>
                <a:spcPct val="100000"/>
              </a:lnSpc>
            </a:pPr>
            <a:r>
              <a:rPr lang="en-US" sz="1300" b="1">
                <a:solidFill>
                  <a:srgbClr val="D4AF37"/>
                </a:solidFill>
                <a:latin typeface="Calibri"/>
                <a:cs typeface="Calibri"/>
              </a:rPr>
              <a:t>CASE FIVE</a:t>
            </a:r>
          </a:p>
        </p:txBody>
      </p:sp>
      <p:sp>
        <p:nvSpPr>
          <p:cNvPr id="3" name="TextBox 3"/>
          <p:cNvSpPr txBox="1"/>
          <p:nvPr/>
        </p:nvSpPr>
        <p:spPr>
          <a:xfrm>
            <a:off x="812800" y="990600"/>
            <a:ext cx="5900000" cy="500000"/>
          </a:xfrm>
          <a:prstGeom prst="rect">
            <a:avLst/>
          </a:prstGeom>
          <a:noFill/>
        </p:spPr>
        <p:txBody>
          <a:bodyPr vert="horz" wrap="square" lIns="0" tIns="0" rIns="0" bIns="0" rtlCol="0" anchor="t">
            <a:noAutofit/>
          </a:bodyPr>
          <a:lstStyle/>
          <a:p>
            <a:pPr>
              <a:lnSpc>
                <a:spcPct val="95000"/>
              </a:lnSpc>
            </a:pPr>
            <a:r>
              <a:rPr lang="en-US" sz="2800" b="1">
                <a:solidFill>
                  <a:srgbClr val="E9CD7A"/>
                </a:solidFill>
                <a:latin typeface="Cambria"/>
                <a:cs typeface="Cambria"/>
              </a:rPr>
              <a:t>Anthropic and the authors</a:t>
            </a:r>
          </a:p>
        </p:txBody>
      </p:sp>
      <p:sp>
        <p:nvSpPr>
          <p:cNvPr id="4" name="TextBox 4"/>
          <p:cNvSpPr txBox="1"/>
          <p:nvPr/>
        </p:nvSpPr>
        <p:spPr>
          <a:xfrm>
            <a:off x="812800" y="2032000"/>
            <a:ext cx="5900000" cy="250000"/>
          </a:xfrm>
          <a:prstGeom prst="rect">
            <a:avLst/>
          </a:prstGeom>
          <a:noFill/>
        </p:spPr>
        <p:txBody>
          <a:bodyPr vert="horz" wrap="square" lIns="0" tIns="0" rIns="0" bIns="0" rtlCol="0" anchor="t">
            <a:noAutofit/>
          </a:bodyPr>
          <a:lstStyle/>
          <a:p>
            <a:pPr>
              <a:lnSpc>
                <a:spcPct val="100000"/>
              </a:lnSpc>
            </a:pPr>
            <a:r>
              <a:rPr lang="en-US" sz="1100" b="1">
                <a:solidFill>
                  <a:srgbClr val="D4AF37"/>
                </a:solidFill>
                <a:latin typeface="Calibri"/>
                <a:cs typeface="Calibri"/>
              </a:rPr>
              <a:t>THE FIGHT</a:t>
            </a:r>
          </a:p>
        </p:txBody>
      </p:sp>
      <p:sp>
        <p:nvSpPr>
          <p:cNvPr id="5" name="TextBox 5"/>
          <p:cNvSpPr txBox="1"/>
          <p:nvPr/>
        </p:nvSpPr>
        <p:spPr>
          <a:xfrm>
            <a:off x="812800" y="2311400"/>
            <a:ext cx="5900000" cy="900000"/>
          </a:xfrm>
          <a:prstGeom prst="rect">
            <a:avLst/>
          </a:prstGeom>
          <a:noFill/>
        </p:spPr>
        <p:txBody>
          <a:bodyPr vert="horz" wrap="square" lIns="0" tIns="0" rIns="0" bIns="0" rtlCol="0" anchor="t">
            <a:noAutofit/>
          </a:bodyPr>
          <a:lstStyle/>
          <a:p>
            <a:pPr>
              <a:lnSpc>
                <a:spcPct val="120000"/>
              </a:lnSpc>
            </a:pPr>
            <a:r>
              <a:rPr lang="en-US" sz="1400">
                <a:solidFill>
                  <a:srgbClr val="F4F1E9"/>
                </a:solidFill>
                <a:latin typeface="Calibri"/>
                <a:cs typeface="Calibri"/>
              </a:rPr>
              <a:t>A judge ruled that training an AI on books can count as fair use, but that downloading those books from pirate libraries does not. Anthropic paid the largest copyright settlement in US history rather than face a damages trial.</a:t>
            </a:r>
          </a:p>
        </p:txBody>
      </p:sp>
      <p:sp>
        <p:nvSpPr>
          <p:cNvPr id="6" name="TextBox 6"/>
          <p:cNvSpPr txBox="1"/>
          <p:nvPr/>
        </p:nvSpPr>
        <p:spPr>
          <a:xfrm>
            <a:off x="812800" y="3429000"/>
            <a:ext cx="5900000" cy="250000"/>
          </a:xfrm>
          <a:prstGeom prst="rect">
            <a:avLst/>
          </a:prstGeom>
          <a:noFill/>
        </p:spPr>
        <p:txBody>
          <a:bodyPr vert="horz" wrap="square" lIns="0" tIns="0" rIns="0" bIns="0" rtlCol="0" anchor="t">
            <a:noAutofit/>
          </a:bodyPr>
          <a:lstStyle/>
          <a:p>
            <a:pPr>
              <a:lnSpc>
                <a:spcPct val="100000"/>
              </a:lnSpc>
            </a:pPr>
            <a:r>
              <a:rPr lang="en-US" sz="1100" b="1">
                <a:solidFill>
                  <a:srgbClr val="D4AF37"/>
                </a:solidFill>
                <a:latin typeface="Calibri"/>
                <a:cs typeface="Calibri"/>
              </a:rPr>
              <a:t>KEY FACTS</a:t>
            </a:r>
          </a:p>
        </p:txBody>
      </p:sp>
      <p:sp>
        <p:nvSpPr>
          <p:cNvPr id="7" name="TextBox 7"/>
          <p:cNvSpPr txBox="1"/>
          <p:nvPr/>
        </p:nvSpPr>
        <p:spPr>
          <a:xfrm>
            <a:off x="812800" y="3657600"/>
            <a:ext cx="5900000" cy="1600000"/>
          </a:xfrm>
          <a:prstGeom prst="rect">
            <a:avLst/>
          </a:prstGeom>
          <a:noFill/>
        </p:spPr>
        <p:txBody>
          <a:bodyPr vert="horz" wrap="square" lIns="0" tIns="0" rIns="0" bIns="0" rtlCol="0" anchor="t">
            <a:noAutofit/>
          </a:bodyPr>
          <a:lstStyle/>
          <a:p>
            <a:pPr>
              <a:lnSpc>
                <a:spcPct val="120000"/>
              </a:lnSpc>
              <a:spcBef>
                <a:spcPts val="600"/>
              </a:spcBef>
            </a:pPr>
            <a:r>
              <a:rPr lang="en-US" sz="1300">
                <a:solidFill>
                  <a:srgbClr val="F4F1E9"/>
                </a:solidFill>
                <a:latin typeface="Calibri"/>
                <a:cs typeface="Calibri"/>
              </a:rPr>
              <a:t>Judge William Alsup ruled in 2025 that the training itself was fair use, but that pirated copies were not excused by it.</a:t>
            </a:r>
          </a:p>
          <a:p>
            <a:pPr>
              <a:lnSpc>
                <a:spcPct val="120000"/>
              </a:lnSpc>
              <a:spcBef>
                <a:spcPts val="600"/>
              </a:spcBef>
            </a:pPr>
            <a:r>
              <a:rPr lang="en-US" sz="1300">
                <a:solidFill>
                  <a:srgbClr val="F4F1E9"/>
                </a:solidFill>
                <a:latin typeface="Calibri"/>
                <a:cs typeface="Calibri"/>
              </a:rPr>
              <a:t>Anthropic settled for $1.5 billion, approved July 20, 2026. About 500,000 works at roughly $3,000 each, with no admission of liability.</a:t>
            </a:r>
          </a:p>
          <a:p>
            <a:pPr>
              <a:lnSpc>
                <a:spcPct val="120000"/>
              </a:lnSpc>
              <a:spcBef>
                <a:spcPts val="600"/>
              </a:spcBef>
            </a:pPr>
            <a:r>
              <a:rPr lang="en-US" sz="1300">
                <a:solidFill>
                  <a:srgbClr val="F4F1E9"/>
                </a:solidFill>
                <a:latin typeface="Calibri"/>
                <a:cs typeface="Calibri"/>
              </a:rPr>
              <a:t>Because it settled, it sets no binding precedent. Suits against OpenAI, Meta and others continue.</a:t>
            </a:r>
          </a:p>
        </p:txBody>
      </p:sp>
      <p:pic>
        <p:nvPicPr>
          <p:cNvPr id="8" name="Picture 8"/>
          <p:cNvPicPr>
            <a:picLocks noChangeAspect="1"/>
          </p:cNvPicPr>
          <p:nvPr/>
        </p:nvPicPr>
        <p:blipFill>
          <a:blip r:embed="rId2"/>
          <a:srcRect t="5556" b="5556"/>
          <a:stretch>
            <a:fillRect/>
          </a:stretch>
        </p:blipFill>
        <p:spPr>
          <a:xfrm>
            <a:off x="7010400" y="990600"/>
            <a:ext cx="4368800" cy="2912533"/>
          </a:xfrm>
          <a:prstGeom prst="rect">
            <a:avLst/>
          </a:prstGeom>
          <a:ln w="12700" cap="flat" cmpd="sng" algn="ctr">
            <a:solidFill>
              <a:srgbClr val="5C4E2A"/>
            </a:solidFill>
          </a:ln>
        </p:spPr>
      </p:pic>
      <p:sp>
        <p:nvSpPr>
          <p:cNvPr id="9" name="TextBox 9"/>
          <p:cNvSpPr txBox="1"/>
          <p:nvPr/>
        </p:nvSpPr>
        <p:spPr>
          <a:xfrm>
            <a:off x="7010400" y="3990000"/>
            <a:ext cx="4368800" cy="300000"/>
          </a:xfrm>
          <a:prstGeom prst="rect">
            <a:avLst/>
          </a:prstGeom>
          <a:noFill/>
        </p:spPr>
        <p:txBody>
          <a:bodyPr vert="horz" wrap="square" lIns="0" tIns="0" rIns="0" bIns="0" rtlCol="0" anchor="t">
            <a:noAutofit/>
          </a:bodyPr>
          <a:lstStyle/>
          <a:p>
            <a:pPr>
              <a:lnSpc>
                <a:spcPct val="110000"/>
              </a:lnSpc>
            </a:pPr>
            <a:r>
              <a:rPr lang="en-US" sz="900">
                <a:solidFill>
                  <a:srgbClr val="ADA48E"/>
                </a:solidFill>
                <a:latin typeface="Calibri"/>
                <a:cs typeface="Calibri"/>
              </a:rPr>
              <a:t>Library stacks, University of Illinois. Photo: Chevsapher / Wikimedia Commons (CC0).</a:t>
            </a:r>
          </a:p>
        </p:txBody>
      </p:sp>
      <p:sp>
        <p:nvSpPr>
          <p:cNvPr id="10" name="TextBox 10"/>
          <p:cNvSpPr txBox="1"/>
          <p:nvPr/>
        </p:nvSpPr>
        <p:spPr>
          <a:xfrm>
            <a:off x="7010400" y="4419600"/>
            <a:ext cx="4368800" cy="800000"/>
          </a:xfrm>
          <a:prstGeom prst="rect">
            <a:avLst/>
          </a:prstGeom>
          <a:noFill/>
        </p:spPr>
        <p:txBody>
          <a:bodyPr vert="horz" wrap="square" lIns="0" tIns="0" rIns="0" bIns="0" rtlCol="0" anchor="t">
            <a:noAutofit/>
          </a:bodyPr>
          <a:lstStyle/>
          <a:p>
            <a:pPr>
              <a:lnSpc>
                <a:spcPct val="118000"/>
              </a:lnSpc>
            </a:pPr>
            <a:r>
              <a:rPr lang="en-US" sz="1200">
                <a:solidFill>
                  <a:srgbClr val="E9CD7A"/>
                </a:solidFill>
                <a:latin typeface="Calibri"/>
                <a:cs typeface="Calibri"/>
              </a:rPr>
              <a:t>Anthropic makes Claude, the tool you are using for this lab. Be harder on this case, not easier.</a:t>
            </a:r>
          </a:p>
        </p:txBody>
      </p:sp>
      <p:sp>
        <p:nvSpPr>
          <p:cNvPr id="11" name="Rectangle: Rounded Corners 11"/>
          <p:cNvSpPr/>
          <p:nvPr/>
        </p:nvSpPr>
        <p:spPr>
          <a:xfrm>
            <a:off x="812800" y="5486400"/>
            <a:ext cx="10566400" cy="10160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2" name="TextBox 12"/>
          <p:cNvSpPr txBox="1"/>
          <p:nvPr/>
        </p:nvSpPr>
        <p:spPr>
          <a:xfrm>
            <a:off x="1219200" y="5613400"/>
            <a:ext cx="9753600" cy="250000"/>
          </a:xfrm>
          <a:prstGeom prst="rect">
            <a:avLst/>
          </a:prstGeom>
          <a:noFill/>
        </p:spPr>
        <p:txBody>
          <a:bodyPr vert="horz" wrap="square" lIns="0" tIns="0" rIns="0" bIns="0" rtlCol="0" anchor="t">
            <a:noAutofit/>
          </a:bodyPr>
          <a:lstStyle/>
          <a:p>
            <a:pPr>
              <a:lnSpc>
                <a:spcPct val="100000"/>
              </a:lnSpc>
            </a:pPr>
            <a:r>
              <a:rPr lang="en-US" sz="1000" b="1">
                <a:solidFill>
                  <a:srgbClr val="D4AF37"/>
                </a:solidFill>
                <a:latin typeface="Calibri"/>
                <a:cs typeface="Calibri"/>
              </a:rPr>
              <a:t>START HERE</a:t>
            </a:r>
          </a:p>
        </p:txBody>
      </p:sp>
      <p:sp>
        <p:nvSpPr>
          <p:cNvPr id="13" name="TextBox 13"/>
          <p:cNvSpPr txBox="1"/>
          <p:nvPr/>
        </p:nvSpPr>
        <p:spPr>
          <a:xfrm>
            <a:off x="1219200" y="5842000"/>
            <a:ext cx="9753600" cy="300000"/>
          </a:xfrm>
          <a:prstGeom prst="rect">
            <a:avLst/>
          </a:prstGeom>
          <a:noFill/>
        </p:spPr>
        <p:txBody>
          <a:bodyPr vert="horz" wrap="square" lIns="0" tIns="0" rIns="0" bIns="0" rtlCol="0" anchor="t">
            <a:noAutofit/>
          </a:bodyPr>
          <a:lstStyle/>
          <a:p>
            <a:pPr>
              <a:lnSpc>
                <a:spcPct val="100000"/>
              </a:lnSpc>
            </a:pPr>
            <a:r>
              <a:rPr lang="en-US" sz="1400" u="sng">
                <a:solidFill>
                  <a:srgbClr val="E9CD7A"/>
                </a:solidFill>
                <a:uFill>
                  <a:solidFill>
                    <a:srgbClr val="E9CD7A"/>
                  </a:solidFill>
                </a:uFill>
                <a:latin typeface="Calibri"/>
                <a:cs typeface="Calibri"/>
                <a:hlinkClick r:id="rId3"/>
              </a:rPr>
              <a:t>TechCrunch, July 20, 2026 - Anthropic's landmark $1.5B copyright settlement is approved</a:t>
            </a:r>
          </a:p>
        </p:txBody>
      </p:sp>
      <p:sp>
        <p:nvSpPr>
          <p:cNvPr id="14" name="TextBox 14"/>
          <p:cNvSpPr txBox="1"/>
          <p:nvPr/>
        </p:nvSpPr>
        <p:spPr>
          <a:xfrm>
            <a:off x="1219200" y="6172200"/>
            <a:ext cx="9753600" cy="250000"/>
          </a:xfrm>
          <a:prstGeom prst="rect">
            <a:avLst/>
          </a:prstGeom>
          <a:noFill/>
        </p:spPr>
        <p:txBody>
          <a:bodyPr vert="horz" wrap="square" lIns="0" tIns="0" rIns="0" bIns="0" rtlCol="0" anchor="t">
            <a:noAutofit/>
          </a:bodyPr>
          <a:lstStyle/>
          <a:p>
            <a:pPr>
              <a:lnSpc>
                <a:spcPct val="100000"/>
              </a:lnSpc>
            </a:pPr>
            <a:r>
              <a:rPr lang="en-US" sz="900">
                <a:solidFill>
                  <a:srgbClr val="ADA48E"/>
                </a:solidFill>
                <a:latin typeface="Calibri"/>
                <a:cs typeface="Calibri"/>
              </a:rPr>
              <a:t>techcrunch.com/2026/07/20/anthropics-landmark-1-5b-copyright-settlement-is-approved/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914400"/>
            <a:ext cx="10566400" cy="369332"/>
          </a:xfrm>
          <a:prstGeom prst="rect">
            <a:avLst/>
          </a:prstGeom>
          <a:noFill/>
        </p:spPr>
        <p:txBody>
          <a:bodyPr vert="horz" wrap="square" lIns="0" tIns="0" rIns="0" bIns="0" rtlCol="0" anchor="t">
            <a:noAutofit/>
          </a:bodyPr>
          <a:lstStyle/>
          <a:p>
            <a:pPr>
              <a:lnSpc>
                <a:spcPct val="100000"/>
              </a:lnSpc>
            </a:pPr>
            <a:r>
              <a:rPr lang="en-US" sz="4000" b="1" dirty="0">
                <a:solidFill>
                  <a:srgbClr val="E9CD7A"/>
                </a:solidFill>
                <a:latin typeface="Cambria"/>
                <a:cs typeface="Cambria"/>
              </a:rPr>
              <a:t>Choose Your Own Case</a:t>
            </a:r>
          </a:p>
        </p:txBody>
      </p:sp>
      <p:sp>
        <p:nvSpPr>
          <p:cNvPr id="3" name="TextBox 3"/>
          <p:cNvSpPr txBox="1"/>
          <p:nvPr/>
        </p:nvSpPr>
        <p:spPr>
          <a:xfrm>
            <a:off x="812800" y="1828800"/>
            <a:ext cx="10566400" cy="369332"/>
          </a:xfrm>
          <a:prstGeom prst="rect">
            <a:avLst/>
          </a:prstGeom>
          <a:noFill/>
        </p:spPr>
        <p:txBody>
          <a:bodyPr vert="horz" wrap="square" lIns="0" tIns="0" rIns="0" bIns="0" rtlCol="0" anchor="t">
            <a:noAutofit/>
          </a:bodyPr>
          <a:lstStyle/>
          <a:p>
            <a:pPr>
              <a:lnSpc>
                <a:spcPct val="118000"/>
              </a:lnSpc>
            </a:pPr>
            <a:r>
              <a:rPr lang="en-US" sz="2100" dirty="0">
                <a:solidFill>
                  <a:srgbClr val="F4F1E9"/>
                </a:solidFill>
                <a:latin typeface="Calibri"/>
                <a:cs typeface="Calibri"/>
              </a:rPr>
              <a:t>If your group would rather take on a different case, you can! If you agree amongst yourselves, just ask me first to get the go-ahead.</a:t>
            </a:r>
          </a:p>
        </p:txBody>
      </p:sp>
      <p:sp>
        <p:nvSpPr>
          <p:cNvPr id="4" name="Rectangle: Rounded Corners 4"/>
          <p:cNvSpPr/>
          <p:nvPr/>
        </p:nvSpPr>
        <p:spPr>
          <a:xfrm>
            <a:off x="812800" y="2895600"/>
            <a:ext cx="2400300" cy="19812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5" name="TextBox 5"/>
          <p:cNvSpPr txBox="1"/>
          <p:nvPr/>
        </p:nvSpPr>
        <p:spPr>
          <a:xfrm>
            <a:off x="1066800" y="3276600"/>
            <a:ext cx="1892300" cy="300000"/>
          </a:xfrm>
          <a:prstGeom prst="rect">
            <a:avLst/>
          </a:prstGeom>
          <a:noFill/>
        </p:spPr>
        <p:txBody>
          <a:bodyPr vert="horz" wrap="square" lIns="0" tIns="0" rIns="0" bIns="0" rtlCol="0" anchor="t">
            <a:noAutofit/>
          </a:bodyPr>
          <a:lstStyle/>
          <a:p>
            <a:pPr>
              <a:lnSpc>
                <a:spcPct val="100000"/>
              </a:lnSpc>
            </a:pPr>
            <a:r>
              <a:rPr lang="en-US" sz="1500" b="1">
                <a:solidFill>
                  <a:srgbClr val="D4AF37"/>
                </a:solidFill>
                <a:latin typeface="Calibri"/>
                <a:cs typeface="Calibri"/>
              </a:rPr>
              <a:t>RECENT</a:t>
            </a:r>
          </a:p>
        </p:txBody>
      </p:sp>
      <p:sp>
        <p:nvSpPr>
          <p:cNvPr id="6" name="TextBox 6"/>
          <p:cNvSpPr txBox="1"/>
          <p:nvPr/>
        </p:nvSpPr>
        <p:spPr>
          <a:xfrm>
            <a:off x="1066800" y="3657600"/>
            <a:ext cx="1892300" cy="1000000"/>
          </a:xfrm>
          <a:prstGeom prst="rect">
            <a:avLst/>
          </a:prstGeom>
          <a:noFill/>
        </p:spPr>
        <p:txBody>
          <a:bodyPr vert="horz" wrap="square" lIns="0" tIns="0" rIns="0" bIns="0" rtlCol="0" anchor="t">
            <a:noAutofit/>
          </a:bodyPr>
          <a:lstStyle/>
          <a:p>
            <a:pPr>
              <a:lnSpc>
                <a:spcPct val="120000"/>
              </a:lnSpc>
            </a:pPr>
            <a:r>
              <a:rPr lang="en-US" sz="1600" dirty="0">
                <a:solidFill>
                  <a:srgbClr val="F4F1E9"/>
                </a:solidFill>
                <a:latin typeface="Calibri"/>
                <a:cs typeface="Calibri"/>
              </a:rPr>
              <a:t>Something that happened in 2025 or later.</a:t>
            </a:r>
          </a:p>
        </p:txBody>
      </p:sp>
      <p:sp>
        <p:nvSpPr>
          <p:cNvPr id="7" name="Rectangle: Rounded Corners 7"/>
          <p:cNvSpPr/>
          <p:nvPr/>
        </p:nvSpPr>
        <p:spPr>
          <a:xfrm>
            <a:off x="3517900" y="2895600"/>
            <a:ext cx="2400300" cy="19812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8" name="TextBox 8"/>
          <p:cNvSpPr txBox="1"/>
          <p:nvPr/>
        </p:nvSpPr>
        <p:spPr>
          <a:xfrm>
            <a:off x="3771900" y="3276600"/>
            <a:ext cx="1892300" cy="300000"/>
          </a:xfrm>
          <a:prstGeom prst="rect">
            <a:avLst/>
          </a:prstGeom>
          <a:noFill/>
        </p:spPr>
        <p:txBody>
          <a:bodyPr vert="horz" wrap="square" lIns="0" tIns="0" rIns="0" bIns="0" rtlCol="0" anchor="t">
            <a:noAutofit/>
          </a:bodyPr>
          <a:lstStyle/>
          <a:p>
            <a:pPr>
              <a:lnSpc>
                <a:spcPct val="100000"/>
              </a:lnSpc>
            </a:pPr>
            <a:r>
              <a:rPr lang="en-US" sz="1500" b="1">
                <a:solidFill>
                  <a:srgbClr val="D4AF37"/>
                </a:solidFill>
                <a:latin typeface="Calibri"/>
                <a:cs typeface="Calibri"/>
              </a:rPr>
              <a:t>REAL</a:t>
            </a:r>
          </a:p>
        </p:txBody>
      </p:sp>
      <p:sp>
        <p:nvSpPr>
          <p:cNvPr id="9" name="TextBox 9"/>
          <p:cNvSpPr txBox="1"/>
          <p:nvPr/>
        </p:nvSpPr>
        <p:spPr>
          <a:xfrm>
            <a:off x="3771900" y="3657600"/>
            <a:ext cx="1892300" cy="1000000"/>
          </a:xfrm>
          <a:prstGeom prst="rect">
            <a:avLst/>
          </a:prstGeom>
          <a:noFill/>
        </p:spPr>
        <p:txBody>
          <a:bodyPr vert="horz" wrap="square" lIns="0" tIns="0" rIns="0" bIns="0" rtlCol="0" anchor="t">
            <a:noAutofit/>
          </a:bodyPr>
          <a:lstStyle/>
          <a:p>
            <a:pPr>
              <a:lnSpc>
                <a:spcPct val="120000"/>
              </a:lnSpc>
            </a:pPr>
            <a:r>
              <a:rPr lang="en-US" sz="1600" dirty="0">
                <a:solidFill>
                  <a:srgbClr val="F4F1E9"/>
                </a:solidFill>
                <a:latin typeface="Calibri"/>
                <a:cs typeface="Calibri"/>
              </a:rPr>
              <a:t>A genuine dispute with named parties, not an opinion piece.</a:t>
            </a:r>
          </a:p>
        </p:txBody>
      </p:sp>
      <p:sp>
        <p:nvSpPr>
          <p:cNvPr id="10" name="Rectangle: Rounded Corners 10"/>
          <p:cNvSpPr/>
          <p:nvPr/>
        </p:nvSpPr>
        <p:spPr>
          <a:xfrm>
            <a:off x="6223000" y="2895600"/>
            <a:ext cx="2400300" cy="19812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1" name="TextBox 11"/>
          <p:cNvSpPr txBox="1"/>
          <p:nvPr/>
        </p:nvSpPr>
        <p:spPr>
          <a:xfrm>
            <a:off x="6477000" y="3276600"/>
            <a:ext cx="1892300" cy="300000"/>
          </a:xfrm>
          <a:prstGeom prst="rect">
            <a:avLst/>
          </a:prstGeom>
          <a:noFill/>
        </p:spPr>
        <p:txBody>
          <a:bodyPr vert="horz" wrap="square" lIns="0" tIns="0" rIns="0" bIns="0" rtlCol="0" anchor="t">
            <a:noAutofit/>
          </a:bodyPr>
          <a:lstStyle/>
          <a:p>
            <a:pPr>
              <a:lnSpc>
                <a:spcPct val="100000"/>
              </a:lnSpc>
            </a:pPr>
            <a:r>
              <a:rPr lang="en-US" sz="1500" b="1">
                <a:solidFill>
                  <a:srgbClr val="D4AF37"/>
                </a:solidFill>
                <a:latin typeface="Calibri"/>
                <a:cs typeface="Calibri"/>
              </a:rPr>
              <a:t>COVERED</a:t>
            </a:r>
          </a:p>
        </p:txBody>
      </p:sp>
      <p:sp>
        <p:nvSpPr>
          <p:cNvPr id="12" name="TextBox 12"/>
          <p:cNvSpPr txBox="1"/>
          <p:nvPr/>
        </p:nvSpPr>
        <p:spPr>
          <a:xfrm>
            <a:off x="6477000" y="3657600"/>
            <a:ext cx="1892300" cy="1000000"/>
          </a:xfrm>
          <a:prstGeom prst="rect">
            <a:avLst/>
          </a:prstGeom>
          <a:noFill/>
        </p:spPr>
        <p:txBody>
          <a:bodyPr vert="horz" wrap="square" lIns="0" tIns="0" rIns="0" bIns="0" rtlCol="0" anchor="t">
            <a:noAutofit/>
          </a:bodyPr>
          <a:lstStyle/>
          <a:p>
            <a:pPr>
              <a:lnSpc>
                <a:spcPct val="120000"/>
              </a:lnSpc>
            </a:pPr>
            <a:r>
              <a:rPr lang="en-US" sz="1600" dirty="0">
                <a:solidFill>
                  <a:srgbClr val="F4F1E9"/>
                </a:solidFill>
                <a:latin typeface="Calibri"/>
                <a:cs typeface="Calibri"/>
              </a:rPr>
              <a:t>Reported by at least two reputable outlets you can link to.</a:t>
            </a:r>
          </a:p>
        </p:txBody>
      </p:sp>
      <p:sp>
        <p:nvSpPr>
          <p:cNvPr id="13" name="Rectangle: Rounded Corners 13"/>
          <p:cNvSpPr/>
          <p:nvPr/>
        </p:nvSpPr>
        <p:spPr>
          <a:xfrm>
            <a:off x="8928100" y="2895600"/>
            <a:ext cx="2400300" cy="1981200"/>
          </a:xfrm>
          <a:prstGeom prst="roundRect">
            <a:avLst>
              <a:gd name="adj" fmla="val 5000"/>
            </a:avLst>
          </a:prstGeom>
          <a:solidFill>
            <a:srgbClr val="1A1814"/>
          </a:solidFill>
          <a:ln w="12700" cap="flat" cmpd="sng" algn="ctr">
            <a:solidFill>
              <a:srgbClr val="5C4E2A"/>
            </a:solidFill>
            <a:prstDash val="solid"/>
          </a:ln>
          <a:effectLst/>
        </p:spPr>
        <p:txBody>
          <a:bodyPr rtlCol="0" anchor="ctr"/>
          <a:lstStyle/>
          <a:p>
            <a:pPr algn="ctr"/>
            <a:endParaRPr lang="en-US"/>
          </a:p>
        </p:txBody>
      </p:sp>
      <p:sp>
        <p:nvSpPr>
          <p:cNvPr id="14" name="TextBox 14"/>
          <p:cNvSpPr txBox="1"/>
          <p:nvPr/>
        </p:nvSpPr>
        <p:spPr>
          <a:xfrm>
            <a:off x="9182100" y="3276600"/>
            <a:ext cx="1892300" cy="300000"/>
          </a:xfrm>
          <a:prstGeom prst="rect">
            <a:avLst/>
          </a:prstGeom>
          <a:noFill/>
        </p:spPr>
        <p:txBody>
          <a:bodyPr vert="horz" wrap="square" lIns="0" tIns="0" rIns="0" bIns="0" rtlCol="0" anchor="t">
            <a:noAutofit/>
          </a:bodyPr>
          <a:lstStyle/>
          <a:p>
            <a:pPr>
              <a:lnSpc>
                <a:spcPct val="100000"/>
              </a:lnSpc>
            </a:pPr>
            <a:r>
              <a:rPr lang="en-US" sz="1500" b="1">
                <a:solidFill>
                  <a:srgbClr val="D4AF37"/>
                </a:solidFill>
                <a:latin typeface="Calibri"/>
                <a:cs typeface="Calibri"/>
              </a:rPr>
              <a:t>APPROVED</a:t>
            </a:r>
          </a:p>
        </p:txBody>
      </p:sp>
      <p:sp>
        <p:nvSpPr>
          <p:cNvPr id="15" name="TextBox 15"/>
          <p:cNvSpPr txBox="1"/>
          <p:nvPr/>
        </p:nvSpPr>
        <p:spPr>
          <a:xfrm>
            <a:off x="9182100" y="3657600"/>
            <a:ext cx="2028444" cy="1000000"/>
          </a:xfrm>
          <a:prstGeom prst="rect">
            <a:avLst/>
          </a:prstGeom>
          <a:noFill/>
        </p:spPr>
        <p:txBody>
          <a:bodyPr vert="horz" wrap="square" lIns="0" tIns="0" rIns="0" bIns="0" rtlCol="0" anchor="t">
            <a:noAutofit/>
          </a:bodyPr>
          <a:lstStyle/>
          <a:p>
            <a:pPr>
              <a:lnSpc>
                <a:spcPct val="120000"/>
              </a:lnSpc>
            </a:pPr>
            <a:r>
              <a:rPr lang="en-US" sz="1600" dirty="0">
                <a:solidFill>
                  <a:srgbClr val="F4F1E9"/>
                </a:solidFill>
                <a:latin typeface="Calibri"/>
                <a:cs typeface="Calibri"/>
              </a:rPr>
              <a:t>Agree amongst yourselves, then ask me to get the go-ahead.</a:t>
            </a:r>
          </a:p>
        </p:txBody>
      </p:sp>
      <p:sp>
        <p:nvSpPr>
          <p:cNvPr id="16" name="TextBox 16"/>
          <p:cNvSpPr txBox="1"/>
          <p:nvPr/>
        </p:nvSpPr>
        <p:spPr>
          <a:xfrm>
            <a:off x="812800" y="5257800"/>
            <a:ext cx="10566400" cy="369332"/>
          </a:xfrm>
          <a:prstGeom prst="rect">
            <a:avLst/>
          </a:prstGeom>
          <a:noFill/>
        </p:spPr>
        <p:txBody>
          <a:bodyPr vert="horz" wrap="square" lIns="0" tIns="0" rIns="0" bIns="0" rtlCol="0" anchor="t">
            <a:noAutofit/>
          </a:bodyPr>
          <a:lstStyle/>
          <a:p>
            <a:pPr>
              <a:lnSpc>
                <a:spcPct val="118000"/>
              </a:lnSpc>
            </a:pPr>
            <a:r>
              <a:rPr lang="en-US" sz="1900" dirty="0">
                <a:solidFill>
                  <a:srgbClr val="ADA48E"/>
                </a:solidFill>
                <a:latin typeface="Calibri"/>
                <a:cs typeface="Calibri"/>
              </a:rPr>
              <a:t>A case close to home is fine, and often better. It still has to be documented somewhere I can read.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C0C0E"/>
        </a:solidFill>
        <a:effectLst/>
      </p:bgPr>
    </p:bg>
    <p:spTree>
      <p:nvGrpSpPr>
        <p:cNvPr id="1" name=""/>
        <p:cNvGrpSpPr/>
        <p:nvPr/>
      </p:nvGrpSpPr>
      <p:grpSpPr>
        <a:xfrm>
          <a:off x="0" y="0"/>
          <a:ext cx="0" cy="0"/>
          <a:chOff x="0" y="0"/>
          <a:chExt cx="0" cy="0"/>
        </a:xfrm>
      </p:grpSpPr>
      <p:sp>
        <p:nvSpPr>
          <p:cNvPr id="2" name="TextBox 2"/>
          <p:cNvSpPr txBox="1"/>
          <p:nvPr/>
        </p:nvSpPr>
        <p:spPr>
          <a:xfrm>
            <a:off x="812800" y="965200"/>
            <a:ext cx="10566400" cy="369332"/>
          </a:xfrm>
          <a:prstGeom prst="rect">
            <a:avLst/>
          </a:prstGeom>
          <a:noFill/>
        </p:spPr>
        <p:txBody>
          <a:bodyPr vert="horz" wrap="square" lIns="0" tIns="0" rIns="0" bIns="0" rtlCol="0" anchor="t">
            <a:noAutofit/>
          </a:bodyPr>
          <a:lstStyle/>
          <a:p>
            <a:pPr>
              <a:lnSpc>
                <a:spcPct val="100000"/>
              </a:lnSpc>
            </a:pPr>
            <a:r>
              <a:rPr lang="en-US" sz="4000" b="1">
                <a:solidFill>
                  <a:srgbClr val="E9CD7A"/>
                </a:solidFill>
                <a:latin typeface="Cambria"/>
                <a:cs typeface="Cambria"/>
              </a:rPr>
              <a:t>Before you leave</a:t>
            </a:r>
          </a:p>
        </p:txBody>
      </p:sp>
      <p:sp>
        <p:nvSpPr>
          <p:cNvPr id="3" name="TextBox 3"/>
          <p:cNvSpPr txBox="1"/>
          <p:nvPr/>
        </p:nvSpPr>
        <p:spPr>
          <a:xfrm>
            <a:off x="812800" y="1879600"/>
            <a:ext cx="10566400" cy="369332"/>
          </a:xfrm>
          <a:prstGeom prst="rect">
            <a:avLst/>
          </a:prstGeom>
          <a:noFill/>
        </p:spPr>
        <p:txBody>
          <a:bodyPr vert="horz" wrap="square" lIns="0" tIns="0" rIns="0" bIns="0" rtlCol="0" anchor="t">
            <a:noAutofit/>
          </a:bodyPr>
          <a:lstStyle/>
          <a:p>
            <a:pPr>
              <a:lnSpc>
                <a:spcPct val="100000"/>
              </a:lnSpc>
            </a:pPr>
            <a:r>
              <a:rPr lang="en-US" sz="2000" dirty="0">
                <a:solidFill>
                  <a:srgbClr val="ADA48E"/>
                </a:solidFill>
                <a:latin typeface="Calibri"/>
                <a:cs typeface="Calibri"/>
              </a:rPr>
              <a:t>Three things to make sure:</a:t>
            </a:r>
          </a:p>
        </p:txBody>
      </p:sp>
      <p:sp>
        <p:nvSpPr>
          <p:cNvPr id="4" name="Oval 4"/>
          <p:cNvSpPr/>
          <p:nvPr/>
        </p:nvSpPr>
        <p:spPr>
          <a:xfrm>
            <a:off x="812800" y="2641600"/>
            <a:ext cx="558800" cy="5588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1</a:t>
            </a:r>
          </a:p>
        </p:txBody>
      </p:sp>
      <p:sp>
        <p:nvSpPr>
          <p:cNvPr id="5" name="TextBox 5"/>
          <p:cNvSpPr txBox="1"/>
          <p:nvPr/>
        </p:nvSpPr>
        <p:spPr>
          <a:xfrm>
            <a:off x="1651000" y="2667000"/>
            <a:ext cx="3810000" cy="381000"/>
          </a:xfrm>
          <a:prstGeom prst="rect">
            <a:avLst/>
          </a:prstGeom>
          <a:noFill/>
        </p:spPr>
        <p:txBody>
          <a:bodyPr vert="horz" wrap="square" lIns="0" tIns="0" rIns="0" bIns="0" rtlCol="0" anchor="t">
            <a:noAutofit/>
          </a:bodyPr>
          <a:lstStyle/>
          <a:p>
            <a:pPr>
              <a:lnSpc>
                <a:spcPct val="100000"/>
              </a:lnSpc>
            </a:pPr>
            <a:r>
              <a:rPr lang="en-US" sz="2200">
                <a:solidFill>
                  <a:srgbClr val="D4AF37"/>
                </a:solidFill>
                <a:latin typeface="Calibri"/>
                <a:cs typeface="Calibri"/>
              </a:rPr>
              <a:t>Your file opens</a:t>
            </a:r>
          </a:p>
        </p:txBody>
      </p:sp>
      <p:sp>
        <p:nvSpPr>
          <p:cNvPr id="6" name="TextBox 6"/>
          <p:cNvSpPr txBox="1"/>
          <p:nvPr/>
        </p:nvSpPr>
        <p:spPr>
          <a:xfrm>
            <a:off x="5588000" y="2692400"/>
            <a:ext cx="5791200" cy="381000"/>
          </a:xfrm>
          <a:prstGeom prst="rect">
            <a:avLst/>
          </a:prstGeom>
          <a:noFill/>
        </p:spPr>
        <p:txBody>
          <a:bodyPr vert="horz" wrap="square" lIns="0" tIns="0" rIns="0" bIns="0" rtlCol="0" anchor="t">
            <a:noAutofit/>
          </a:bodyPr>
          <a:lstStyle/>
          <a:p>
            <a:pPr>
              <a:lnSpc>
                <a:spcPct val="100000"/>
              </a:lnSpc>
            </a:pPr>
            <a:r>
              <a:rPr lang="en-US" sz="2000" dirty="0">
                <a:solidFill>
                  <a:srgbClr val="F4F1E9"/>
                </a:solidFill>
                <a:latin typeface="Calibri"/>
                <a:cs typeface="Calibri"/>
              </a:rPr>
              <a:t>You made it, you opened it, and it is in an approved format.</a:t>
            </a:r>
          </a:p>
        </p:txBody>
      </p:sp>
      <p:sp>
        <p:nvSpPr>
          <p:cNvPr id="7" name="Oval 7"/>
          <p:cNvSpPr/>
          <p:nvPr/>
        </p:nvSpPr>
        <p:spPr>
          <a:xfrm>
            <a:off x="812800" y="3581400"/>
            <a:ext cx="558800" cy="5588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2</a:t>
            </a:r>
          </a:p>
        </p:txBody>
      </p:sp>
      <p:sp>
        <p:nvSpPr>
          <p:cNvPr id="8" name="TextBox 8"/>
          <p:cNvSpPr txBox="1"/>
          <p:nvPr/>
        </p:nvSpPr>
        <p:spPr>
          <a:xfrm>
            <a:off x="1651000" y="3606800"/>
            <a:ext cx="3810000" cy="381000"/>
          </a:xfrm>
          <a:prstGeom prst="rect">
            <a:avLst/>
          </a:prstGeom>
          <a:noFill/>
        </p:spPr>
        <p:txBody>
          <a:bodyPr vert="horz" wrap="square" lIns="0" tIns="0" rIns="0" bIns="0" rtlCol="0" anchor="t">
            <a:noAutofit/>
          </a:bodyPr>
          <a:lstStyle/>
          <a:p>
            <a:pPr>
              <a:lnSpc>
                <a:spcPct val="100000"/>
              </a:lnSpc>
            </a:pPr>
            <a:r>
              <a:rPr lang="en-US" sz="2200" dirty="0">
                <a:solidFill>
                  <a:srgbClr val="D4AF37"/>
                </a:solidFill>
                <a:latin typeface="Calibri"/>
                <a:cs typeface="Calibri"/>
              </a:rPr>
              <a:t>You checked by hand</a:t>
            </a:r>
          </a:p>
        </p:txBody>
      </p:sp>
      <p:sp>
        <p:nvSpPr>
          <p:cNvPr id="9" name="TextBox 9"/>
          <p:cNvSpPr txBox="1"/>
          <p:nvPr/>
        </p:nvSpPr>
        <p:spPr>
          <a:xfrm>
            <a:off x="5588000" y="3632200"/>
            <a:ext cx="5791200" cy="381000"/>
          </a:xfrm>
          <a:prstGeom prst="rect">
            <a:avLst/>
          </a:prstGeom>
          <a:noFill/>
        </p:spPr>
        <p:txBody>
          <a:bodyPr vert="horz" wrap="square" lIns="0" tIns="0" rIns="0" bIns="0" rtlCol="0" anchor="t">
            <a:noAutofit/>
          </a:bodyPr>
          <a:lstStyle/>
          <a:p>
            <a:pPr>
              <a:lnSpc>
                <a:spcPct val="100000"/>
              </a:lnSpc>
            </a:pPr>
            <a:r>
              <a:rPr lang="en-US" sz="2000" dirty="0">
                <a:solidFill>
                  <a:srgbClr val="F4F1E9"/>
                </a:solidFill>
                <a:latin typeface="Calibri"/>
                <a:cs typeface="Calibri"/>
              </a:rPr>
              <a:t>Every link clicked, every quote found, every number matched.</a:t>
            </a:r>
          </a:p>
        </p:txBody>
      </p:sp>
      <p:sp>
        <p:nvSpPr>
          <p:cNvPr id="10" name="Oval 10"/>
          <p:cNvSpPr/>
          <p:nvPr/>
        </p:nvSpPr>
        <p:spPr>
          <a:xfrm>
            <a:off x="812800" y="4521200"/>
            <a:ext cx="558800" cy="558800"/>
          </a:xfrm>
          <a:prstGeom prst="ellipse">
            <a:avLst/>
          </a:prstGeom>
          <a:solidFill>
            <a:srgbClr val="D4AF37"/>
          </a:solidFill>
          <a:ln>
            <a:noFill/>
          </a:ln>
          <a:effectLst/>
        </p:spPr>
        <p:txBody>
          <a:bodyPr rtlCol="0" anchor="ctr"/>
          <a:lstStyle/>
          <a:p>
            <a:pPr algn="ctr"/>
            <a:r>
              <a:rPr lang="en-US" sz="2200" b="1">
                <a:solidFill>
                  <a:srgbClr val="0C0C0E"/>
                </a:solidFill>
                <a:latin typeface="Calibri"/>
                <a:cs typeface="Calibri"/>
              </a:rPr>
              <a:t>3</a:t>
            </a:r>
          </a:p>
        </p:txBody>
      </p:sp>
      <p:sp>
        <p:nvSpPr>
          <p:cNvPr id="11" name="TextBox 11"/>
          <p:cNvSpPr txBox="1"/>
          <p:nvPr/>
        </p:nvSpPr>
        <p:spPr>
          <a:xfrm>
            <a:off x="1651000" y="4546600"/>
            <a:ext cx="3810000" cy="381000"/>
          </a:xfrm>
          <a:prstGeom prst="rect">
            <a:avLst/>
          </a:prstGeom>
          <a:noFill/>
        </p:spPr>
        <p:txBody>
          <a:bodyPr vert="horz" wrap="square" lIns="0" tIns="0" rIns="0" bIns="0" rtlCol="0" anchor="t">
            <a:noAutofit/>
          </a:bodyPr>
          <a:lstStyle/>
          <a:p>
            <a:pPr>
              <a:lnSpc>
                <a:spcPct val="100000"/>
              </a:lnSpc>
            </a:pPr>
            <a:r>
              <a:rPr lang="en-US" sz="2200" dirty="0">
                <a:solidFill>
                  <a:srgbClr val="D4AF37"/>
                </a:solidFill>
                <a:latin typeface="Calibri"/>
                <a:cs typeface="Calibri"/>
              </a:rPr>
              <a:t>Canvas has BOTH</a:t>
            </a:r>
          </a:p>
        </p:txBody>
      </p:sp>
      <p:sp>
        <p:nvSpPr>
          <p:cNvPr id="12" name="TextBox 12"/>
          <p:cNvSpPr txBox="1"/>
          <p:nvPr/>
        </p:nvSpPr>
        <p:spPr>
          <a:xfrm>
            <a:off x="5588000" y="4572000"/>
            <a:ext cx="5791200" cy="381000"/>
          </a:xfrm>
          <a:prstGeom prst="rect">
            <a:avLst/>
          </a:prstGeom>
          <a:noFill/>
        </p:spPr>
        <p:txBody>
          <a:bodyPr vert="horz" wrap="square" lIns="0" tIns="0" rIns="0" bIns="0" rtlCol="0" anchor="t">
            <a:noAutofit/>
          </a:bodyPr>
          <a:lstStyle/>
          <a:p>
            <a:pPr>
              <a:lnSpc>
                <a:spcPct val="100000"/>
              </a:lnSpc>
            </a:pPr>
            <a:r>
              <a:rPr lang="en-US" sz="2000" dirty="0">
                <a:solidFill>
                  <a:srgbClr val="F4F1E9"/>
                </a:solidFill>
                <a:latin typeface="Calibri"/>
                <a:cs typeface="Calibri"/>
              </a:rPr>
              <a:t>Your output file and the full text of your prompt.</a:t>
            </a:r>
          </a:p>
        </p:txBody>
      </p:sp>
      <p:sp>
        <p:nvSpPr>
          <p:cNvPr id="13" name="TextBox 13"/>
          <p:cNvSpPr txBox="1"/>
          <p:nvPr/>
        </p:nvSpPr>
        <p:spPr>
          <a:xfrm>
            <a:off x="812800" y="5715000"/>
            <a:ext cx="10809224" cy="369332"/>
          </a:xfrm>
          <a:prstGeom prst="rect">
            <a:avLst/>
          </a:prstGeom>
          <a:noFill/>
        </p:spPr>
        <p:txBody>
          <a:bodyPr vert="horz" wrap="square" lIns="0" tIns="0" rIns="0" bIns="0" rtlCol="0" anchor="t">
            <a:noAutofit/>
          </a:bodyPr>
          <a:lstStyle/>
          <a:p>
            <a:pPr>
              <a:lnSpc>
                <a:spcPct val="100000"/>
              </a:lnSpc>
            </a:pPr>
            <a:r>
              <a:rPr lang="en-US" sz="2600" b="1" dirty="0">
                <a:solidFill>
                  <a:srgbClr val="E9CD7A"/>
                </a:solidFill>
                <a:latin typeface="Cambria"/>
                <a:cs typeface="Cambria"/>
              </a:rPr>
              <a:t>For fun: bring the thing Claude got wrong! [2 bonus pts. per discovery]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E9CD7A"/>
      </a:hlink>
      <a:folHlink>
        <a:srgbClr val="E9CD7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2489</Words>
  <Application>Microsoft Office PowerPoint</Application>
  <PresentationFormat>Widescreen</PresentationFormat>
  <Paragraphs>248</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2 Exercise - Ethics Case Studies</dc:title>
  <dc:creator>teodorammihailova@gmail.com</dc:creator>
  <cp:lastModifiedBy>Teodora Mihailova</cp:lastModifiedBy>
  <cp:revision>1</cp:revision>
  <dcterms:created xsi:type="dcterms:W3CDTF">2026-08-26T12:00:00Z</dcterms:created>
  <dcterms:modified xsi:type="dcterms:W3CDTF">2026-08-27T17:23:14Z</dcterms:modified>
</cp:coreProperties>
</file>