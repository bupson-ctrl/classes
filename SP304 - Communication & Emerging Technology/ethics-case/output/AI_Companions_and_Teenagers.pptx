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9"/>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41B49"/>
          </a:solidFill>
          <a:ln/>
        </p:spPr>
      </p:sp>
      <p:sp>
        <p:nvSpPr>
          <p:cNvPr id="3" name="Text 1"/>
          <p:cNvSpPr/>
          <p:nvPr/>
        </p:nvSpPr>
        <p:spPr>
          <a:xfrm>
            <a:off x="822960" y="1051560"/>
            <a:ext cx="7315200" cy="457200"/>
          </a:xfrm>
          <a:prstGeom prst="rect">
            <a:avLst/>
          </a:prstGeom>
          <a:noFill/>
          <a:ln/>
        </p:spPr>
        <p:txBody>
          <a:bodyPr wrap="square" rtlCol="0" anchor="ctr"/>
          <a:lstStyle/>
          <a:p>
            <a:pPr indent="0" marL="0">
              <a:buNone/>
            </a:pPr>
            <a:r>
              <a:rPr lang="en-US" sz="1600" b="1" spc="300" kern="0" dirty="0">
                <a:solidFill>
                  <a:srgbClr val="CADCFC"/>
                </a:solidFill>
                <a:latin typeface="Calibri" pitchFamily="34" charset="0"/>
                <a:ea typeface="Calibri" pitchFamily="34" charset="-122"/>
                <a:cs typeface="Calibri" pitchFamily="34" charset="-120"/>
              </a:rPr>
              <a:t>CASE THREE</a:t>
            </a:r>
            <a:endParaRPr lang="en-US" sz="1600" dirty="0"/>
          </a:p>
        </p:txBody>
      </p:sp>
      <p:sp>
        <p:nvSpPr>
          <p:cNvPr id="4" name="Text 2"/>
          <p:cNvSpPr/>
          <p:nvPr/>
        </p:nvSpPr>
        <p:spPr>
          <a:xfrm>
            <a:off x="777240" y="1463040"/>
            <a:ext cx="9601200" cy="1920240"/>
          </a:xfrm>
          <a:prstGeom prst="rect">
            <a:avLst/>
          </a:prstGeom>
          <a:noFill/>
          <a:ln/>
        </p:spPr>
        <p:txBody>
          <a:bodyPr wrap="square"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AI Companions</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and Teenagers</a:t>
            </a:r>
            <a:endParaRPr lang="en-US" sz="4600" dirty="0"/>
          </a:p>
        </p:txBody>
      </p:sp>
      <p:sp>
        <p:nvSpPr>
          <p:cNvPr id="5" name="Text 3"/>
          <p:cNvSpPr/>
          <p:nvPr/>
        </p:nvSpPr>
        <p:spPr>
          <a:xfrm>
            <a:off x="822960" y="3429000"/>
            <a:ext cx="8961120" cy="640080"/>
          </a:xfrm>
          <a:prstGeom prst="rect">
            <a:avLst/>
          </a:prstGeom>
          <a:noFill/>
          <a:ln/>
        </p:spPr>
        <p:txBody>
          <a:bodyPr wrap="square"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Who answers when a chatbot is a teenager’s closest confidant?</a:t>
            </a:r>
            <a:endParaRPr lang="en-US" sz="2000" dirty="0"/>
          </a:p>
        </p:txBody>
      </p:sp>
      <p:sp>
        <p:nvSpPr>
          <p:cNvPr id="6" name="Text 4"/>
          <p:cNvSpPr/>
          <p:nvPr/>
        </p:nvSpPr>
        <p:spPr>
          <a:xfrm>
            <a:off x="822960" y="4160520"/>
            <a:ext cx="9601200" cy="365760"/>
          </a:xfrm>
          <a:prstGeom prst="rect">
            <a:avLst/>
          </a:prstGeom>
          <a:noFill/>
          <a:ln/>
        </p:spPr>
        <p:txBody>
          <a:bodyPr wrap="square" rtlCol="0" anchor="ctr"/>
          <a:lstStyle/>
          <a:p>
            <a:pPr indent="0" marL="0">
              <a:buNone/>
            </a:pPr>
            <a:r>
              <a:rPr lang="en-US" sz="1250" dirty="0">
                <a:solidFill>
                  <a:srgbClr val="9FB3D9"/>
                </a:solidFill>
                <a:latin typeface="Calibri" pitchFamily="34" charset="0"/>
                <a:ea typeface="Calibri" pitchFamily="34" charset="-122"/>
                <a:cs typeface="Calibri" pitchFamily="34" charset="-120"/>
              </a:rPr>
              <a:t>SP304 — Communication &amp; Emerging Technology  |  Lab 2 Group Assignment  |  Accurate as of August 28, 2026</a:t>
            </a:r>
            <a:endParaRPr lang="en-US" sz="1250" dirty="0"/>
          </a:p>
        </p:txBody>
      </p:sp>
      <p:sp>
        <p:nvSpPr>
          <p:cNvPr id="7" name="Shape 5"/>
          <p:cNvSpPr/>
          <p:nvPr/>
        </p:nvSpPr>
        <p:spPr>
          <a:xfrm>
            <a:off x="822960" y="5120640"/>
            <a:ext cx="10515600" cy="1234440"/>
          </a:xfrm>
          <a:prstGeom prst="roundRect">
            <a:avLst>
              <a:gd name="adj" fmla="val 5926"/>
            </a:avLst>
          </a:prstGeom>
          <a:solidFill>
            <a:srgbClr val="24306B"/>
          </a:solidFill>
          <a:ln w="12700">
            <a:solidFill>
              <a:srgbClr val="B0413E"/>
            </a:solidFill>
            <a:prstDash val="solid"/>
          </a:ln>
        </p:spPr>
      </p:sp>
      <p:pic>
        <p:nvPicPr>
          <p:cNvPr id="8" name="Image 0" descr="preencoded.png">    </p:cNvPr>
          <p:cNvPicPr>
            <a:picLocks noChangeAspect="1"/>
          </p:cNvPicPr>
          <p:nvPr/>
        </p:nvPicPr>
        <p:blipFill>
          <a:blip r:embed="rId1"/>
          <a:stretch>
            <a:fillRect/>
          </a:stretch>
        </p:blipFill>
        <p:spPr>
          <a:xfrm>
            <a:off x="1051560" y="5422392"/>
            <a:ext cx="640080" cy="640080"/>
          </a:xfrm>
          <a:prstGeom prst="rect">
            <a:avLst/>
          </a:prstGeom>
        </p:spPr>
      </p:pic>
      <p:sp>
        <p:nvSpPr>
          <p:cNvPr id="9" name="Text 6"/>
          <p:cNvSpPr/>
          <p:nvPr/>
        </p:nvSpPr>
        <p:spPr>
          <a:xfrm>
            <a:off x="1874520" y="5193792"/>
            <a:ext cx="9281160" cy="1097280"/>
          </a:xfrm>
          <a:prstGeom prst="rect">
            <a:avLst/>
          </a:prstGeom>
          <a:noFill/>
          <a:ln/>
        </p:spPr>
        <p:txBody>
          <a:bodyPr wrap="square"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Content note: </a:t>
            </a:r>
            <a:pPr indent="0" marL="0">
              <a:lnSpc>
                <a:spcPct val="115000"/>
              </a:lnSpc>
              <a:buNone/>
            </a:pPr>
            <a:r>
              <a:rPr lang="en-US" sz="1350" dirty="0">
                <a:solidFill>
                  <a:srgbClr val="D8E2F5"/>
                </a:solidFill>
                <a:latin typeface="Calibri" pitchFamily="34" charset="0"/>
                <a:ea typeface="Calibri" pitchFamily="34" charset="-122"/>
                <a:cs typeface="Calibri" pitchFamily="34" charset="-120"/>
              </a:rPr>
              <a:t>this case involves teen suicide and self-harm. If you or someone you know needs support, call or text 988 (Suicide &amp; Crisis Lifeline).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2296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we got here</a:t>
            </a:r>
            <a:endParaRPr lang="en-US" sz="3000" dirty="0"/>
          </a:p>
        </p:txBody>
      </p:sp>
      <p:sp>
        <p:nvSpPr>
          <p:cNvPr id="3" name="Text 1"/>
          <p:cNvSpPr/>
          <p:nvPr/>
        </p:nvSpPr>
        <p:spPr>
          <a:xfrm>
            <a:off x="548640" y="841248"/>
            <a:ext cx="8229600" cy="365760"/>
          </a:xfrm>
          <a:prstGeom prst="rect">
            <a:avLst/>
          </a:prstGeom>
          <a:noFill/>
          <a:ln/>
        </p:spPr>
        <p:txBody>
          <a:bodyPr wrap="square" rtlCol="0" anchor="ctr"/>
          <a:lstStyle/>
          <a:p>
            <a:pPr indent="0" marL="0">
              <a:buNone/>
            </a:pPr>
            <a:r>
              <a:rPr lang="en-US" sz="1400" i="1" dirty="0">
                <a:solidFill>
                  <a:srgbClr val="5B6B8C"/>
                </a:solidFill>
                <a:latin typeface="Calibri" pitchFamily="34" charset="0"/>
                <a:ea typeface="Calibri" pitchFamily="34" charset="-122"/>
                <a:cs typeface="Calibri" pitchFamily="34" charset="-120"/>
              </a:rPr>
              <a:t>Key events, February 2024 – May 2026</a:t>
            </a:r>
            <a:endParaRPr lang="en-US" sz="1400" dirty="0"/>
          </a:p>
        </p:txBody>
      </p:sp>
      <p:sp>
        <p:nvSpPr>
          <p:cNvPr id="4" name="Shape 2"/>
          <p:cNvSpPr/>
          <p:nvPr/>
        </p:nvSpPr>
        <p:spPr>
          <a:xfrm>
            <a:off x="1417320" y="1770017"/>
            <a:ext cx="0" cy="4232366"/>
          </a:xfrm>
          <a:prstGeom prst="line">
            <a:avLst/>
          </a:prstGeom>
          <a:noFill/>
          <a:ln w="38100">
            <a:solidFill>
              <a:srgbClr val="CADCFC"/>
            </a:solidFill>
            <a:prstDash val="solid"/>
          </a:ln>
        </p:spPr>
      </p:sp>
      <p:sp>
        <p:nvSpPr>
          <p:cNvPr id="5" name="Shape 3"/>
          <p:cNvSpPr/>
          <p:nvPr/>
        </p:nvSpPr>
        <p:spPr>
          <a:xfrm>
            <a:off x="1316736" y="1669433"/>
            <a:ext cx="201168" cy="201168"/>
          </a:xfrm>
          <a:prstGeom prst="ellipse">
            <a:avLst/>
          </a:prstGeom>
          <a:solidFill>
            <a:srgbClr val="1E2761"/>
          </a:solidFill>
          <a:ln w="19050">
            <a:solidFill>
              <a:srgbClr val="FFFFFF"/>
            </a:solidFill>
            <a:prstDash val="solid"/>
          </a:ln>
        </p:spPr>
      </p:sp>
      <p:sp>
        <p:nvSpPr>
          <p:cNvPr id="6" name="Text 4"/>
          <p:cNvSpPr/>
          <p:nvPr/>
        </p:nvSpPr>
        <p:spPr>
          <a:xfrm>
            <a:off x="0" y="1568849"/>
            <a:ext cx="1234440" cy="402336"/>
          </a:xfrm>
          <a:prstGeom prst="rect">
            <a:avLst/>
          </a:prstGeom>
          <a:noFill/>
          <a:ln/>
        </p:spPr>
        <p:txBody>
          <a:bodyPr wrap="square"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Feb 2024</a:t>
            </a:r>
            <a:endParaRPr lang="en-US" sz="1200" dirty="0"/>
          </a:p>
        </p:txBody>
      </p:sp>
      <p:sp>
        <p:nvSpPr>
          <p:cNvPr id="7" name="Text 5"/>
          <p:cNvSpPr/>
          <p:nvPr/>
        </p:nvSpPr>
        <p:spPr>
          <a:xfrm>
            <a:off x="1737360" y="1477409"/>
            <a:ext cx="9966960" cy="585216"/>
          </a:xfrm>
          <a:prstGeom prst="rect">
            <a:avLst/>
          </a:prstGeom>
          <a:noFill/>
          <a:ln/>
        </p:spPr>
        <p:txBody>
          <a:bodyPr wrap="square" rtlCol="0" anchor="ctr"/>
          <a:lstStyle/>
          <a:p>
            <a:pPr indent="0" marL="0">
              <a:lnSpc>
                <a:spcPct val="102000"/>
              </a:lnSpc>
              <a:buNone/>
            </a:pPr>
            <a:r>
              <a:rPr lang="en-US" sz="1250" dirty="0">
                <a:solidFill>
                  <a:srgbClr val="2B2F3A"/>
                </a:solidFill>
                <a:latin typeface="Calibri" pitchFamily="34" charset="0"/>
                <a:ea typeface="Calibri" pitchFamily="34" charset="-122"/>
                <a:cs typeface="Calibri" pitchFamily="34" charset="-120"/>
              </a:rPr>
              <a:t>Sewell Setzer III, 14, dies by suicide after months of an emotional and sexual relationship with a Character.AI persona.</a:t>
            </a:r>
            <a:endParaRPr lang="en-US" sz="1250" dirty="0"/>
          </a:p>
        </p:txBody>
      </p:sp>
      <p:sp>
        <p:nvSpPr>
          <p:cNvPr id="8" name="Shape 6"/>
          <p:cNvSpPr/>
          <p:nvPr/>
        </p:nvSpPr>
        <p:spPr>
          <a:xfrm>
            <a:off x="1316736" y="2374827"/>
            <a:ext cx="201168" cy="201168"/>
          </a:xfrm>
          <a:prstGeom prst="ellipse">
            <a:avLst/>
          </a:prstGeom>
          <a:solidFill>
            <a:srgbClr val="1E2761"/>
          </a:solidFill>
          <a:ln w="19050">
            <a:solidFill>
              <a:srgbClr val="FFFFFF"/>
            </a:solidFill>
            <a:prstDash val="solid"/>
          </a:ln>
        </p:spPr>
      </p:sp>
      <p:sp>
        <p:nvSpPr>
          <p:cNvPr id="9" name="Text 7"/>
          <p:cNvSpPr/>
          <p:nvPr/>
        </p:nvSpPr>
        <p:spPr>
          <a:xfrm>
            <a:off x="0" y="2274243"/>
            <a:ext cx="1234440" cy="402336"/>
          </a:xfrm>
          <a:prstGeom prst="rect">
            <a:avLst/>
          </a:prstGeom>
          <a:noFill/>
          <a:ln/>
        </p:spPr>
        <p:txBody>
          <a:bodyPr wrap="square"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Oct 2024</a:t>
            </a:r>
            <a:endParaRPr lang="en-US" sz="1200" dirty="0"/>
          </a:p>
        </p:txBody>
      </p:sp>
      <p:sp>
        <p:nvSpPr>
          <p:cNvPr id="10" name="Text 8"/>
          <p:cNvSpPr/>
          <p:nvPr/>
        </p:nvSpPr>
        <p:spPr>
          <a:xfrm>
            <a:off x="1737360" y="2182803"/>
            <a:ext cx="9966960" cy="585216"/>
          </a:xfrm>
          <a:prstGeom prst="rect">
            <a:avLst/>
          </a:prstGeom>
          <a:noFill/>
          <a:ln/>
        </p:spPr>
        <p:txBody>
          <a:bodyPr wrap="square" rtlCol="0" anchor="ctr"/>
          <a:lstStyle/>
          <a:p>
            <a:pPr indent="0" marL="0">
              <a:lnSpc>
                <a:spcPct val="102000"/>
              </a:lnSpc>
              <a:buNone/>
            </a:pPr>
            <a:r>
              <a:rPr lang="en-US" sz="1250" dirty="0">
                <a:solidFill>
                  <a:srgbClr val="2B2F3A"/>
                </a:solidFill>
                <a:latin typeface="Calibri" pitchFamily="34" charset="0"/>
                <a:ea typeface="Calibri" pitchFamily="34" charset="-122"/>
                <a:cs typeface="Calibri" pitchFamily="34" charset="-120"/>
              </a:rPr>
              <a:t>His mother, Megan Garcia, files Garcia v. Character Technologies in federal court in Orlando, naming Character.AI and Google.</a:t>
            </a:r>
            <a:endParaRPr lang="en-US" sz="1250" dirty="0"/>
          </a:p>
        </p:txBody>
      </p:sp>
      <p:sp>
        <p:nvSpPr>
          <p:cNvPr id="11" name="Shape 9"/>
          <p:cNvSpPr/>
          <p:nvPr/>
        </p:nvSpPr>
        <p:spPr>
          <a:xfrm>
            <a:off x="1316736" y="3080222"/>
            <a:ext cx="201168" cy="201168"/>
          </a:xfrm>
          <a:prstGeom prst="ellipse">
            <a:avLst/>
          </a:prstGeom>
          <a:solidFill>
            <a:srgbClr val="1E2761"/>
          </a:solidFill>
          <a:ln w="19050">
            <a:solidFill>
              <a:srgbClr val="FFFFFF"/>
            </a:solidFill>
            <a:prstDash val="solid"/>
          </a:ln>
        </p:spPr>
      </p:sp>
      <p:sp>
        <p:nvSpPr>
          <p:cNvPr id="12" name="Text 10"/>
          <p:cNvSpPr/>
          <p:nvPr/>
        </p:nvSpPr>
        <p:spPr>
          <a:xfrm>
            <a:off x="0" y="2979638"/>
            <a:ext cx="1234440" cy="402336"/>
          </a:xfrm>
          <a:prstGeom prst="rect">
            <a:avLst/>
          </a:prstGeom>
          <a:noFill/>
          <a:ln/>
        </p:spPr>
        <p:txBody>
          <a:bodyPr wrap="square"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May 21, 2025</a:t>
            </a:r>
            <a:endParaRPr lang="en-US" sz="1200" dirty="0"/>
          </a:p>
        </p:txBody>
      </p:sp>
      <p:sp>
        <p:nvSpPr>
          <p:cNvPr id="13" name="Text 11"/>
          <p:cNvSpPr/>
          <p:nvPr/>
        </p:nvSpPr>
        <p:spPr>
          <a:xfrm>
            <a:off x="1737360" y="2888198"/>
            <a:ext cx="9966960" cy="585216"/>
          </a:xfrm>
          <a:prstGeom prst="rect">
            <a:avLst/>
          </a:prstGeom>
          <a:noFill/>
          <a:ln/>
        </p:spPr>
        <p:txBody>
          <a:bodyPr wrap="square" rtlCol="0" anchor="ctr"/>
          <a:lstStyle/>
          <a:p>
            <a:pPr indent="0" marL="0">
              <a:lnSpc>
                <a:spcPct val="102000"/>
              </a:lnSpc>
              <a:buNone/>
            </a:pPr>
            <a:r>
              <a:rPr lang="en-US" sz="1250" dirty="0">
                <a:solidFill>
                  <a:srgbClr val="2B2F3A"/>
                </a:solidFill>
                <a:latin typeface="Calibri" pitchFamily="34" charset="0"/>
                <a:ea typeface="Calibri" pitchFamily="34" charset="-122"/>
                <a:cs typeface="Calibri" pitchFamily="34" charset="-120"/>
              </a:rPr>
              <a:t>Judge Anne Conway rejects Character.AI’s First Amendment and Section 230 defenses — the chatbot’s output can be treated as a product.</a:t>
            </a:r>
            <a:endParaRPr lang="en-US" sz="1250" dirty="0"/>
          </a:p>
        </p:txBody>
      </p:sp>
      <p:sp>
        <p:nvSpPr>
          <p:cNvPr id="14" name="Shape 12"/>
          <p:cNvSpPr/>
          <p:nvPr/>
        </p:nvSpPr>
        <p:spPr>
          <a:xfrm>
            <a:off x="1316736" y="3785616"/>
            <a:ext cx="201168" cy="201168"/>
          </a:xfrm>
          <a:prstGeom prst="ellipse">
            <a:avLst/>
          </a:prstGeom>
          <a:solidFill>
            <a:srgbClr val="1E2761"/>
          </a:solidFill>
          <a:ln w="19050">
            <a:solidFill>
              <a:srgbClr val="FFFFFF"/>
            </a:solidFill>
            <a:prstDash val="solid"/>
          </a:ln>
        </p:spPr>
      </p:sp>
      <p:sp>
        <p:nvSpPr>
          <p:cNvPr id="15" name="Text 13"/>
          <p:cNvSpPr/>
          <p:nvPr/>
        </p:nvSpPr>
        <p:spPr>
          <a:xfrm>
            <a:off x="0" y="3685032"/>
            <a:ext cx="1234440" cy="402336"/>
          </a:xfrm>
          <a:prstGeom prst="rect">
            <a:avLst/>
          </a:prstGeom>
          <a:noFill/>
          <a:ln/>
        </p:spPr>
        <p:txBody>
          <a:bodyPr wrap="square"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Sep 11, 2025</a:t>
            </a:r>
            <a:endParaRPr lang="en-US" sz="1200" dirty="0"/>
          </a:p>
        </p:txBody>
      </p:sp>
      <p:sp>
        <p:nvSpPr>
          <p:cNvPr id="16" name="Text 14"/>
          <p:cNvSpPr/>
          <p:nvPr/>
        </p:nvSpPr>
        <p:spPr>
          <a:xfrm>
            <a:off x="1737360" y="3593592"/>
            <a:ext cx="9966960" cy="585216"/>
          </a:xfrm>
          <a:prstGeom prst="rect">
            <a:avLst/>
          </a:prstGeom>
          <a:noFill/>
          <a:ln/>
        </p:spPr>
        <p:txBody>
          <a:bodyPr wrap="square" rtlCol="0" anchor="ctr"/>
          <a:lstStyle/>
          <a:p>
            <a:pPr indent="0" marL="0">
              <a:lnSpc>
                <a:spcPct val="102000"/>
              </a:lnSpc>
              <a:buNone/>
            </a:pPr>
            <a:r>
              <a:rPr lang="en-US" sz="1250" dirty="0">
                <a:solidFill>
                  <a:srgbClr val="2B2F3A"/>
                </a:solidFill>
                <a:latin typeface="Calibri" pitchFamily="34" charset="0"/>
                <a:ea typeface="Calibri" pitchFamily="34" charset="-122"/>
                <a:cs typeface="Calibri" pitchFamily="34" charset="-120"/>
              </a:rPr>
              <a:t>FTC issues Section 6(b) orders to 7 companies (3–0 vote) to study how AI companion chatbots affect children and teens.</a:t>
            </a:r>
            <a:endParaRPr lang="en-US" sz="1250" dirty="0"/>
          </a:p>
        </p:txBody>
      </p:sp>
      <p:sp>
        <p:nvSpPr>
          <p:cNvPr id="17" name="Shape 15"/>
          <p:cNvSpPr/>
          <p:nvPr/>
        </p:nvSpPr>
        <p:spPr>
          <a:xfrm>
            <a:off x="1316736" y="4491010"/>
            <a:ext cx="201168" cy="201168"/>
          </a:xfrm>
          <a:prstGeom prst="ellipse">
            <a:avLst/>
          </a:prstGeom>
          <a:solidFill>
            <a:srgbClr val="1E2761"/>
          </a:solidFill>
          <a:ln w="19050">
            <a:solidFill>
              <a:srgbClr val="FFFFFF"/>
            </a:solidFill>
            <a:prstDash val="solid"/>
          </a:ln>
        </p:spPr>
      </p:sp>
      <p:sp>
        <p:nvSpPr>
          <p:cNvPr id="18" name="Text 16"/>
          <p:cNvSpPr/>
          <p:nvPr/>
        </p:nvSpPr>
        <p:spPr>
          <a:xfrm>
            <a:off x="0" y="4390426"/>
            <a:ext cx="1234440" cy="402336"/>
          </a:xfrm>
          <a:prstGeom prst="rect">
            <a:avLst/>
          </a:prstGeom>
          <a:noFill/>
          <a:ln/>
        </p:spPr>
        <p:txBody>
          <a:bodyPr wrap="square"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Oct 2025</a:t>
            </a:r>
            <a:endParaRPr lang="en-US" sz="1200" dirty="0"/>
          </a:p>
        </p:txBody>
      </p:sp>
      <p:sp>
        <p:nvSpPr>
          <p:cNvPr id="19" name="Text 17"/>
          <p:cNvSpPr/>
          <p:nvPr/>
        </p:nvSpPr>
        <p:spPr>
          <a:xfrm>
            <a:off x="1737360" y="4298986"/>
            <a:ext cx="9966960" cy="585216"/>
          </a:xfrm>
          <a:prstGeom prst="rect">
            <a:avLst/>
          </a:prstGeom>
          <a:noFill/>
          <a:ln/>
        </p:spPr>
        <p:txBody>
          <a:bodyPr wrap="square" rtlCol="0" anchor="ctr"/>
          <a:lstStyle/>
          <a:p>
            <a:pPr indent="0" marL="0">
              <a:lnSpc>
                <a:spcPct val="102000"/>
              </a:lnSpc>
              <a:buNone/>
            </a:pPr>
            <a:r>
              <a:rPr lang="en-US" sz="1250" dirty="0">
                <a:solidFill>
                  <a:srgbClr val="2B2F3A"/>
                </a:solidFill>
                <a:latin typeface="Calibri" pitchFamily="34" charset="0"/>
                <a:ea typeface="Calibri" pitchFamily="34" charset="-122"/>
                <a:cs typeface="Calibri" pitchFamily="34" charset="-120"/>
              </a:rPr>
              <a:t>California signs SB 243 (effective Jan 1, 2026); Character.AI bars under-18 users from open-ended chats.</a:t>
            </a:r>
            <a:endParaRPr lang="en-US" sz="1250" dirty="0"/>
          </a:p>
        </p:txBody>
      </p:sp>
      <p:sp>
        <p:nvSpPr>
          <p:cNvPr id="20" name="Shape 18"/>
          <p:cNvSpPr/>
          <p:nvPr/>
        </p:nvSpPr>
        <p:spPr>
          <a:xfrm>
            <a:off x="1316736" y="5196405"/>
            <a:ext cx="201168" cy="201168"/>
          </a:xfrm>
          <a:prstGeom prst="ellipse">
            <a:avLst/>
          </a:prstGeom>
          <a:solidFill>
            <a:srgbClr val="1E2761"/>
          </a:solidFill>
          <a:ln w="19050">
            <a:solidFill>
              <a:srgbClr val="FFFFFF"/>
            </a:solidFill>
            <a:prstDash val="solid"/>
          </a:ln>
        </p:spPr>
      </p:sp>
      <p:sp>
        <p:nvSpPr>
          <p:cNvPr id="21" name="Text 19"/>
          <p:cNvSpPr/>
          <p:nvPr/>
        </p:nvSpPr>
        <p:spPr>
          <a:xfrm>
            <a:off x="0" y="5095821"/>
            <a:ext cx="1234440" cy="402336"/>
          </a:xfrm>
          <a:prstGeom prst="rect">
            <a:avLst/>
          </a:prstGeom>
          <a:noFill/>
          <a:ln/>
        </p:spPr>
        <p:txBody>
          <a:bodyPr wrap="square"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Jan 7–8, 2026</a:t>
            </a:r>
            <a:endParaRPr lang="en-US" sz="1200" dirty="0"/>
          </a:p>
        </p:txBody>
      </p:sp>
      <p:sp>
        <p:nvSpPr>
          <p:cNvPr id="22" name="Text 20"/>
          <p:cNvSpPr/>
          <p:nvPr/>
        </p:nvSpPr>
        <p:spPr>
          <a:xfrm>
            <a:off x="1737360" y="5004381"/>
            <a:ext cx="9966960" cy="585216"/>
          </a:xfrm>
          <a:prstGeom prst="rect">
            <a:avLst/>
          </a:prstGeom>
          <a:noFill/>
          <a:ln/>
        </p:spPr>
        <p:txBody>
          <a:bodyPr wrap="square" rtlCol="0" anchor="ctr"/>
          <a:lstStyle/>
          <a:p>
            <a:pPr indent="0" marL="0">
              <a:lnSpc>
                <a:spcPct val="102000"/>
              </a:lnSpc>
              <a:buNone/>
            </a:pPr>
            <a:r>
              <a:rPr lang="en-US" sz="1250" dirty="0">
                <a:solidFill>
                  <a:srgbClr val="2B2F3A"/>
                </a:solidFill>
                <a:latin typeface="Calibri" pitchFamily="34" charset="0"/>
                <a:ea typeface="Calibri" pitchFamily="34" charset="-122"/>
                <a:cs typeface="Calibri" pitchFamily="34" charset="-120"/>
              </a:rPr>
              <a:t>Character.AI and Google agree to settle 5 family lawsuits (FL, CO, NY, TX). Terms undisclosed; no liability admitted.</a:t>
            </a:r>
            <a:endParaRPr lang="en-US" sz="1250" dirty="0"/>
          </a:p>
        </p:txBody>
      </p:sp>
      <p:sp>
        <p:nvSpPr>
          <p:cNvPr id="23" name="Shape 21"/>
          <p:cNvSpPr/>
          <p:nvPr/>
        </p:nvSpPr>
        <p:spPr>
          <a:xfrm>
            <a:off x="1316736" y="5901799"/>
            <a:ext cx="201168" cy="201168"/>
          </a:xfrm>
          <a:prstGeom prst="ellipse">
            <a:avLst/>
          </a:prstGeom>
          <a:solidFill>
            <a:srgbClr val="1E2761"/>
          </a:solidFill>
          <a:ln w="19050">
            <a:solidFill>
              <a:srgbClr val="FFFFFF"/>
            </a:solidFill>
            <a:prstDash val="solid"/>
          </a:ln>
        </p:spPr>
      </p:sp>
      <p:sp>
        <p:nvSpPr>
          <p:cNvPr id="24" name="Text 22"/>
          <p:cNvSpPr/>
          <p:nvPr/>
        </p:nvSpPr>
        <p:spPr>
          <a:xfrm>
            <a:off x="0" y="5801215"/>
            <a:ext cx="1234440" cy="402336"/>
          </a:xfrm>
          <a:prstGeom prst="rect">
            <a:avLst/>
          </a:prstGeom>
          <a:noFill/>
          <a:ln/>
        </p:spPr>
        <p:txBody>
          <a:bodyPr wrap="square" rtlCol="0" anchor="ctr"/>
          <a:lstStyle/>
          <a:p>
            <a:pPr algn="r" indent="0" marL="0">
              <a:buNone/>
            </a:pPr>
            <a:r>
              <a:rPr lang="en-US" sz="1200" b="1" dirty="0">
                <a:solidFill>
                  <a:srgbClr val="1E2761"/>
                </a:solidFill>
                <a:latin typeface="Calibri" pitchFamily="34" charset="0"/>
                <a:ea typeface="Calibri" pitchFamily="34" charset="-122"/>
                <a:cs typeface="Calibri" pitchFamily="34" charset="-120"/>
              </a:rPr>
              <a:t>May 2026</a:t>
            </a:r>
            <a:endParaRPr lang="en-US" sz="1200" dirty="0"/>
          </a:p>
        </p:txBody>
      </p:sp>
      <p:sp>
        <p:nvSpPr>
          <p:cNvPr id="25" name="Text 23"/>
          <p:cNvSpPr/>
          <p:nvPr/>
        </p:nvSpPr>
        <p:spPr>
          <a:xfrm>
            <a:off x="1737360" y="5709775"/>
            <a:ext cx="9966960" cy="585216"/>
          </a:xfrm>
          <a:prstGeom prst="rect">
            <a:avLst/>
          </a:prstGeom>
          <a:noFill/>
          <a:ln/>
        </p:spPr>
        <p:txBody>
          <a:bodyPr wrap="square" rtlCol="0" anchor="ctr"/>
          <a:lstStyle/>
          <a:p>
            <a:pPr indent="0" marL="0">
              <a:lnSpc>
                <a:spcPct val="102000"/>
              </a:lnSpc>
              <a:buNone/>
            </a:pPr>
            <a:r>
              <a:rPr lang="en-US" sz="1250" dirty="0">
                <a:solidFill>
                  <a:srgbClr val="2B2F3A"/>
                </a:solidFill>
                <a:latin typeface="Calibri" pitchFamily="34" charset="0"/>
                <a:ea typeface="Calibri" pitchFamily="34" charset="-122"/>
                <a:cs typeface="Calibri" pitchFamily="34" charset="-120"/>
              </a:rPr>
              <a:t>Pennsylvania sues Character.AI, alleging its chatbot posed as a licensed doctor — legal exposure continues.</a:t>
            </a:r>
            <a:endParaRPr lang="en-US" sz="1250" dirty="0"/>
          </a:p>
        </p:txBody>
      </p:sp>
      <p:sp>
        <p:nvSpPr>
          <p:cNvPr id="26" name="Text 24"/>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27" name="Text 25"/>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73152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Problem</a:t>
            </a:r>
            <a:endParaRPr lang="en-US" sz="3000" dirty="0"/>
          </a:p>
        </p:txBody>
      </p:sp>
      <p:sp>
        <p:nvSpPr>
          <p:cNvPr id="5" name="Text 2"/>
          <p:cNvSpPr/>
          <p:nvPr/>
        </p:nvSpPr>
        <p:spPr>
          <a:xfrm>
            <a:off x="594360" y="1371600"/>
            <a:ext cx="6537960" cy="1874520"/>
          </a:xfrm>
          <a:prstGeom prst="rect">
            <a:avLst/>
          </a:prstGeom>
          <a:noFill/>
          <a:ln/>
        </p:spPr>
        <p:txBody>
          <a:bodyPr wrap="square" rtlCol="0" anchor="t"/>
          <a:lstStyle/>
          <a:p>
            <a:pPr indent="0" marL="0">
              <a:lnSpc>
                <a:spcPct val="120000"/>
              </a:lnSpc>
              <a:buNone/>
            </a:pPr>
            <a:r>
              <a:rPr lang="en-US" sz="1450" dirty="0">
                <a:solidFill>
                  <a:srgbClr val="2B2F3A"/>
                </a:solidFill>
                <a:latin typeface="Calibri" pitchFamily="34" charset="0"/>
                <a:ea typeface="Calibri" pitchFamily="34" charset="-122"/>
                <a:cs typeface="Calibri" pitchFamily="34" charset="-120"/>
              </a:rPr>
              <a:t>Character.AI’s personas are built to simulate deep, human relationships. </a:t>
            </a:r>
            <a:pPr indent="0" marL="0">
              <a:lnSpc>
                <a:spcPct val="120000"/>
              </a:lnSpc>
              <a:buNone/>
            </a:pPr>
            <a:r>
              <a:rPr lang="en-US" sz="1450" b="1" dirty="0">
                <a:solidFill>
                  <a:srgbClr val="2B2F3A"/>
                </a:solidFill>
                <a:latin typeface="Calibri" pitchFamily="34" charset="0"/>
                <a:ea typeface="Calibri" pitchFamily="34" charset="-122"/>
                <a:cs typeface="Calibri" pitchFamily="34" charset="-120"/>
              </a:rPr>
              <a:t>Sewell Setzer III</a:t>
            </a:r>
            <a:pPr indent="0" marL="0">
              <a:lnSpc>
                <a:spcPct val="120000"/>
              </a:lnSpc>
              <a:buNone/>
            </a:pPr>
            <a:r>
              <a:rPr lang="en-US" sz="1450" dirty="0">
                <a:solidFill>
                  <a:srgbClr val="2B2F3A"/>
                </a:solidFill>
                <a:latin typeface="Calibri" pitchFamily="34" charset="0"/>
                <a:ea typeface="Calibri" pitchFamily="34" charset="-122"/>
                <a:cs typeface="Calibri" pitchFamily="34" charset="-120"/>
              </a:rPr>
              <a:t>, 14, spent months in an emotional and sexual relationship with a chatbot modeled on Daenerys Targaryen before he died by suicide in February 2024. His mother’s lawsuit — and four more that followed from Colorado, New York, and Texas — allege negligence, wrongful death, deceptive trade practices, and product liability.</a:t>
            </a:r>
            <a:endParaRPr lang="en-US" sz="1450" dirty="0"/>
          </a:p>
        </p:txBody>
      </p:sp>
      <p:sp>
        <p:nvSpPr>
          <p:cNvPr id="6" name="Text 3"/>
          <p:cNvSpPr/>
          <p:nvPr/>
        </p:nvSpPr>
        <p:spPr>
          <a:xfrm>
            <a:off x="594360" y="3337560"/>
            <a:ext cx="6537960" cy="1005840"/>
          </a:xfrm>
          <a:prstGeom prst="rect">
            <a:avLst/>
          </a:prstGeom>
          <a:noFill/>
          <a:ln/>
        </p:spPr>
        <p:txBody>
          <a:bodyPr wrap="square" rtlCol="0" anchor="t"/>
          <a:lstStyle/>
          <a:p>
            <a:pPr indent="0" marL="0">
              <a:lnSpc>
                <a:spcPct val="120000"/>
              </a:lnSpc>
              <a:buNone/>
            </a:pPr>
            <a:r>
              <a:rPr lang="en-US" sz="1450" b="1" dirty="0">
                <a:solidFill>
                  <a:srgbClr val="2B2F3A"/>
                </a:solidFill>
                <a:latin typeface="Calibri" pitchFamily="34" charset="0"/>
                <a:ea typeface="Calibri" pitchFamily="34" charset="-122"/>
                <a:cs typeface="Calibri" pitchFamily="34" charset="-120"/>
              </a:rPr>
              <a:t>Google is named too</a:t>
            </a:r>
            <a:pPr indent="0" marL="0">
              <a:lnSpc>
                <a:spcPct val="120000"/>
              </a:lnSpc>
              <a:buNone/>
            </a:pPr>
            <a:r>
              <a:rPr lang="en-US" sz="1450" dirty="0">
                <a:solidFill>
                  <a:srgbClr val="2B2F3A"/>
                </a:solidFill>
                <a:latin typeface="Calibri" pitchFamily="34" charset="0"/>
                <a:ea typeface="Calibri" pitchFamily="34" charset="-122"/>
                <a:cs typeface="Calibri" pitchFamily="34" charset="-120"/>
              </a:rPr>
              <a:t>, because Character.AI’s founders, Noam Shazeer and Daniel De Freitas, built the underlying conversational model (LaMDA) while at Google, before leaving to start the company.</a:t>
            </a:r>
            <a:endParaRPr lang="en-US" sz="1450" dirty="0"/>
          </a:p>
        </p:txBody>
      </p:sp>
      <p:sp>
        <p:nvSpPr>
          <p:cNvPr id="7" name="Shape 4"/>
          <p:cNvSpPr/>
          <p:nvPr/>
        </p:nvSpPr>
        <p:spPr>
          <a:xfrm>
            <a:off x="594360" y="4434840"/>
            <a:ext cx="6537960" cy="1554480"/>
          </a:xfrm>
          <a:prstGeom prst="roundRect">
            <a:avLst>
              <a:gd name="adj" fmla="val 4706"/>
            </a:avLst>
          </a:prstGeom>
          <a:solidFill>
            <a:srgbClr val="EEF3FC"/>
          </a:solidFill>
          <a:ln/>
        </p:spPr>
      </p:sp>
      <p:sp>
        <p:nvSpPr>
          <p:cNvPr id="8" name="Text 5"/>
          <p:cNvSpPr/>
          <p:nvPr/>
        </p:nvSpPr>
        <p:spPr>
          <a:xfrm>
            <a:off x="868680" y="4572000"/>
            <a:ext cx="5989320" cy="1005840"/>
          </a:xfrm>
          <a:prstGeom prst="rect">
            <a:avLst/>
          </a:prstGeom>
          <a:noFill/>
          <a:ln/>
        </p:spPr>
        <p:txBody>
          <a:bodyPr wrap="square" rtlCol="0" anchor="ctr"/>
          <a:lstStyle/>
          <a:p>
            <a:pPr indent="0" marL="0">
              <a:lnSpc>
                <a:spcPct val="115000"/>
              </a:lnSpc>
              <a:buNone/>
            </a:pPr>
            <a:r>
              <a:rPr lang="en-US" sz="1400" i="1" dirty="0">
                <a:solidFill>
                  <a:srgbClr val="1E2761"/>
                </a:solidFill>
                <a:latin typeface="Calibri" pitchFamily="34" charset="0"/>
                <a:ea typeface="Calibri" pitchFamily="34" charset="-122"/>
                <a:cs typeface="Calibri" pitchFamily="34" charset="-120"/>
              </a:rPr>
              <a:t>“When they put out a product that is both addictive and manipulative and inherently unsafe, that’s a problem because as parents, we don’t know what we don’t know.”</a:t>
            </a:r>
            <a:endParaRPr lang="en-US" sz="1400" dirty="0"/>
          </a:p>
        </p:txBody>
      </p:sp>
      <p:sp>
        <p:nvSpPr>
          <p:cNvPr id="9" name="Text 6"/>
          <p:cNvSpPr/>
          <p:nvPr/>
        </p:nvSpPr>
        <p:spPr>
          <a:xfrm>
            <a:off x="868680" y="5532120"/>
            <a:ext cx="5989320" cy="411480"/>
          </a:xfrm>
          <a:prstGeom prst="rect">
            <a:avLst/>
          </a:prstGeom>
          <a:noFill/>
          <a:ln/>
        </p:spPr>
        <p:txBody>
          <a:bodyPr wrap="square" rtlCol="0" anchor="ctr"/>
          <a:lstStyle/>
          <a:p>
            <a:pPr indent="0" marL="0">
              <a:buNone/>
            </a:pPr>
            <a:r>
              <a:rPr lang="en-US" sz="1050" dirty="0">
                <a:solidFill>
                  <a:srgbClr val="5B6B8C"/>
                </a:solidFill>
                <a:latin typeface="Calibri" pitchFamily="34" charset="0"/>
                <a:ea typeface="Calibri" pitchFamily="34" charset="-122"/>
                <a:cs typeface="Calibri" pitchFamily="34" charset="-120"/>
              </a:rPr>
              <a:t>— Megan Garcia, mother of Sewell Setzer III (U.S. Senate Judiciary Committee testimony, Sept. 16, 2025)</a:t>
            </a:r>
            <a:endParaRPr lang="en-US" sz="1050" dirty="0"/>
          </a:p>
        </p:txBody>
      </p:sp>
      <p:sp>
        <p:nvSpPr>
          <p:cNvPr id="10" name="Shape 7"/>
          <p:cNvSpPr/>
          <p:nvPr/>
        </p:nvSpPr>
        <p:spPr>
          <a:xfrm>
            <a:off x="7498080" y="1371600"/>
            <a:ext cx="4160520" cy="4617720"/>
          </a:xfrm>
          <a:prstGeom prst="roundRect">
            <a:avLst>
              <a:gd name="adj" fmla="val 2198"/>
            </a:avLst>
          </a:prstGeom>
          <a:solidFill>
            <a:srgbClr val="1E2761"/>
          </a:solidFill>
          <a:ln/>
        </p:spPr>
      </p:sp>
      <p:sp>
        <p:nvSpPr>
          <p:cNvPr id="11" name="Shape 8"/>
          <p:cNvSpPr/>
          <p:nvPr/>
        </p:nvSpPr>
        <p:spPr>
          <a:xfrm>
            <a:off x="9281160" y="1737360"/>
            <a:ext cx="640080" cy="640080"/>
          </a:xfrm>
          <a:prstGeom prst="ellipse">
            <a:avLst/>
          </a:prstGeom>
          <a:solidFill>
            <a:srgbClr val="34408A"/>
          </a:solidFill>
          <a:ln/>
        </p:spPr>
      </p:sp>
      <p:pic>
        <p:nvPicPr>
          <p:cNvPr id="12" name="Image 1" descr="preencoded.png">    </p:cNvPr>
          <p:cNvPicPr>
            <a:picLocks noChangeAspect="1"/>
          </p:cNvPicPr>
          <p:nvPr/>
        </p:nvPicPr>
        <p:blipFill>
          <a:blip r:embed="rId2"/>
          <a:stretch>
            <a:fillRect/>
          </a:stretch>
        </p:blipFill>
        <p:spPr>
          <a:xfrm>
            <a:off x="9357970" y="1814170"/>
            <a:ext cx="486461" cy="486461"/>
          </a:xfrm>
          <a:prstGeom prst="rect">
            <a:avLst/>
          </a:prstGeom>
        </p:spPr>
      </p:pic>
      <p:sp>
        <p:nvSpPr>
          <p:cNvPr id="13" name="Text 9"/>
          <p:cNvSpPr/>
          <p:nvPr/>
        </p:nvSpPr>
        <p:spPr>
          <a:xfrm>
            <a:off x="7818120" y="2560320"/>
            <a:ext cx="3520440" cy="365760"/>
          </a:xfrm>
          <a:prstGeom prst="rect">
            <a:avLst/>
          </a:prstGeom>
          <a:noFill/>
          <a:ln/>
        </p:spPr>
        <p:txBody>
          <a:bodyPr wrap="square" rtlCol="0" anchor="ctr"/>
          <a:lstStyle/>
          <a:p>
            <a:pPr algn="ctr" indent="0" marL="0">
              <a:buNone/>
            </a:pPr>
            <a:r>
              <a:rPr lang="en-US" sz="1200" b="1" spc="100" kern="0" dirty="0">
                <a:solidFill>
                  <a:srgbClr val="CADCFC"/>
                </a:solidFill>
                <a:latin typeface="Calibri" pitchFamily="34" charset="0"/>
                <a:ea typeface="Calibri" pitchFamily="34" charset="-122"/>
                <a:cs typeface="Calibri" pitchFamily="34" charset="-120"/>
              </a:rPr>
              <a:t>THE QUESTION UNDERNEATH IT ALL</a:t>
            </a:r>
            <a:endParaRPr lang="en-US" sz="1200" dirty="0"/>
          </a:p>
        </p:txBody>
      </p:sp>
      <p:sp>
        <p:nvSpPr>
          <p:cNvPr id="14" name="Text 10"/>
          <p:cNvSpPr/>
          <p:nvPr/>
        </p:nvSpPr>
        <p:spPr>
          <a:xfrm>
            <a:off x="7818120" y="2971800"/>
            <a:ext cx="3520440" cy="1737360"/>
          </a:xfrm>
          <a:prstGeom prst="rect">
            <a:avLst/>
          </a:prstGeom>
          <a:noFill/>
          <a:ln/>
        </p:spPr>
        <p:txBody>
          <a:bodyPr wrap="square" rtlCol="0" anchor="t"/>
          <a:lstStyle/>
          <a:p>
            <a:pPr algn="ctr" indent="0" marL="0">
              <a:lnSpc>
                <a:spcPct val="120000"/>
              </a:lnSpc>
              <a:buNone/>
            </a:pPr>
            <a:r>
              <a:rPr lang="en-US" sz="1900" dirty="0">
                <a:solidFill>
                  <a:srgbClr val="FFFFFF"/>
                </a:solidFill>
                <a:latin typeface="Cambria" pitchFamily="34" charset="0"/>
                <a:ea typeface="Cambria" pitchFamily="34" charset="-122"/>
                <a:cs typeface="Cambria" pitchFamily="34" charset="-120"/>
              </a:rPr>
              <a:t>When a product is deliberately engineered to feel like a friend, who is answerable for what it says?</a:t>
            </a:r>
            <a:endParaRPr lang="en-US" sz="1900" dirty="0"/>
          </a:p>
        </p:txBody>
      </p:sp>
      <p:sp>
        <p:nvSpPr>
          <p:cNvPr id="15" name="Text 11"/>
          <p:cNvSpPr/>
          <p:nvPr/>
        </p:nvSpPr>
        <p:spPr>
          <a:xfrm>
            <a:off x="7818120" y="5166360"/>
            <a:ext cx="3520440" cy="777240"/>
          </a:xfrm>
          <a:prstGeom prst="rect">
            <a:avLst/>
          </a:prstGeom>
          <a:noFill/>
          <a:ln/>
        </p:spPr>
        <p:txBody>
          <a:bodyPr wrap="square" rtlCol="0" anchor="ctr"/>
          <a:lstStyle/>
          <a:p>
            <a:pPr algn="ctr" indent="0" marL="0">
              <a:lnSpc>
                <a:spcPct val="115000"/>
              </a:lnSpc>
              <a:buNone/>
            </a:pPr>
            <a:r>
              <a:rPr lang="en-US" sz="1150" i="1" dirty="0">
                <a:solidFill>
                  <a:srgbClr val="AFC1E8"/>
                </a:solidFill>
                <a:latin typeface="Calibri" pitchFamily="34" charset="0"/>
                <a:ea typeface="Calibri" pitchFamily="34" charset="-122"/>
                <a:cs typeface="Calibri" pitchFamily="34" charset="-120"/>
              </a:rPr>
              <a:t>Claims: negligence · wrongful death · deceptive trade practices · product liability</a:t>
            </a:r>
            <a:endParaRPr lang="en-US" sz="1150" dirty="0"/>
          </a:p>
        </p:txBody>
      </p:sp>
      <p:sp>
        <p:nvSpPr>
          <p:cNvPr id="16" name="Text 12"/>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17" name="Text 13"/>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73152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Stakeholders</a:t>
            </a:r>
            <a:endParaRPr lang="en-US" sz="3000" dirty="0"/>
          </a:p>
        </p:txBody>
      </p:sp>
      <p:sp>
        <p:nvSpPr>
          <p:cNvPr id="5" name="Text 2"/>
          <p:cNvSpPr/>
          <p:nvPr/>
        </p:nvSpPr>
        <p:spPr>
          <a:xfrm>
            <a:off x="1508760" y="1078992"/>
            <a:ext cx="8229600" cy="365760"/>
          </a:xfrm>
          <a:prstGeom prst="rect">
            <a:avLst/>
          </a:prstGeom>
          <a:noFill/>
          <a:ln/>
        </p:spPr>
        <p:txBody>
          <a:bodyPr wrap="square" rtlCol="0" anchor="ctr"/>
          <a:lstStyle/>
          <a:p>
            <a:pPr indent="0" marL="0">
              <a:buNone/>
            </a:pPr>
            <a:r>
              <a:rPr lang="en-US" sz="1350" i="1" dirty="0">
                <a:solidFill>
                  <a:srgbClr val="5B6B8C"/>
                </a:solidFill>
                <a:latin typeface="Calibri" pitchFamily="34" charset="0"/>
                <a:ea typeface="Calibri" pitchFamily="34" charset="-122"/>
                <a:cs typeface="Calibri" pitchFamily="34" charset="-120"/>
              </a:rPr>
              <a:t>Who has a stake in how this case, and cases like it, get resolved.</a:t>
            </a:r>
            <a:endParaRPr lang="en-US" sz="1350" dirty="0"/>
          </a:p>
        </p:txBody>
      </p:sp>
      <p:sp>
        <p:nvSpPr>
          <p:cNvPr id="6" name="Shape 3"/>
          <p:cNvSpPr/>
          <p:nvPr/>
        </p:nvSpPr>
        <p:spPr>
          <a:xfrm>
            <a:off x="594360" y="1600200"/>
            <a:ext cx="5349240" cy="1078992"/>
          </a:xfrm>
          <a:prstGeom prst="roundRect">
            <a:avLst>
              <a:gd name="adj" fmla="val 5932"/>
            </a:avLst>
          </a:prstGeom>
          <a:solidFill>
            <a:srgbClr val="EEF3FC"/>
          </a:solidFill>
          <a:ln/>
        </p:spPr>
      </p:sp>
      <p:sp>
        <p:nvSpPr>
          <p:cNvPr id="7" name="Shape 4"/>
          <p:cNvSpPr/>
          <p:nvPr/>
        </p:nvSpPr>
        <p:spPr>
          <a:xfrm>
            <a:off x="740664" y="1856232"/>
            <a:ext cx="566928" cy="566928"/>
          </a:xfrm>
          <a:prstGeom prst="ellipse">
            <a:avLst/>
          </a:prstGeom>
          <a:solidFill>
            <a:srgbClr val="1E2761"/>
          </a:solidFill>
          <a:ln/>
        </p:spPr>
      </p:sp>
      <p:pic>
        <p:nvPicPr>
          <p:cNvPr id="8" name="Image 1" descr="preencoded.png">    </p:cNvPr>
          <p:cNvPicPr>
            <a:picLocks noChangeAspect="1"/>
          </p:cNvPicPr>
          <p:nvPr/>
        </p:nvPicPr>
        <p:blipFill>
          <a:blip r:embed="rId2"/>
          <a:stretch>
            <a:fillRect/>
          </a:stretch>
        </p:blipFill>
        <p:spPr>
          <a:xfrm>
            <a:off x="808695" y="1924263"/>
            <a:ext cx="430865" cy="430865"/>
          </a:xfrm>
          <a:prstGeom prst="rect">
            <a:avLst/>
          </a:prstGeom>
        </p:spPr>
      </p:pic>
      <p:sp>
        <p:nvSpPr>
          <p:cNvPr id="9" name="Text 5"/>
          <p:cNvSpPr/>
          <p:nvPr/>
        </p:nvSpPr>
        <p:spPr>
          <a:xfrm>
            <a:off x="1463040" y="1691640"/>
            <a:ext cx="434340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families</a:t>
            </a:r>
            <a:endParaRPr lang="en-US" sz="1350" dirty="0"/>
          </a:p>
        </p:txBody>
      </p:sp>
      <p:sp>
        <p:nvSpPr>
          <p:cNvPr id="10" name="Text 6"/>
          <p:cNvSpPr/>
          <p:nvPr/>
        </p:nvSpPr>
        <p:spPr>
          <a:xfrm>
            <a:off x="1463040" y="1984248"/>
            <a:ext cx="4343400" cy="640080"/>
          </a:xfrm>
          <a:prstGeom prst="rect">
            <a:avLst/>
          </a:prstGeom>
          <a:noFill/>
          <a:ln/>
        </p:spPr>
        <p:txBody>
          <a:bodyPr wrap="square" rtlCol="0" anchor="t"/>
          <a:lstStyle/>
          <a:p>
            <a:pPr indent="0" marL="0">
              <a:lnSpc>
                <a:spcPct val="105000"/>
              </a:lnSpc>
              <a:buNone/>
            </a:pPr>
            <a:r>
              <a:rPr lang="en-US" sz="1050" dirty="0">
                <a:solidFill>
                  <a:srgbClr val="2B2F3A"/>
                </a:solidFill>
                <a:latin typeface="Calibri" pitchFamily="34" charset="0"/>
                <a:ea typeface="Calibri" pitchFamily="34" charset="-122"/>
                <a:cs typeface="Calibri" pitchFamily="34" charset="-120"/>
              </a:rPr>
              <a:t>Megan Garcia and four other families in FL, CO, NY, and TX who sued over harm to their teens.</a:t>
            </a:r>
            <a:endParaRPr lang="en-US" sz="1050" dirty="0"/>
          </a:p>
        </p:txBody>
      </p:sp>
      <p:sp>
        <p:nvSpPr>
          <p:cNvPr id="11" name="Shape 7"/>
          <p:cNvSpPr/>
          <p:nvPr/>
        </p:nvSpPr>
        <p:spPr>
          <a:xfrm>
            <a:off x="6263640" y="1600200"/>
            <a:ext cx="5349240" cy="1078992"/>
          </a:xfrm>
          <a:prstGeom prst="roundRect">
            <a:avLst>
              <a:gd name="adj" fmla="val 5932"/>
            </a:avLst>
          </a:prstGeom>
          <a:solidFill>
            <a:srgbClr val="EEF3FC"/>
          </a:solidFill>
          <a:ln/>
        </p:spPr>
      </p:sp>
      <p:sp>
        <p:nvSpPr>
          <p:cNvPr id="12" name="Shape 8"/>
          <p:cNvSpPr/>
          <p:nvPr/>
        </p:nvSpPr>
        <p:spPr>
          <a:xfrm>
            <a:off x="6409944" y="1856232"/>
            <a:ext cx="566928" cy="566928"/>
          </a:xfrm>
          <a:prstGeom prst="ellipse">
            <a:avLst/>
          </a:prstGeom>
          <a:solidFill>
            <a:srgbClr val="1E2761"/>
          </a:solidFill>
          <a:ln/>
        </p:spPr>
      </p:sp>
      <p:pic>
        <p:nvPicPr>
          <p:cNvPr id="13" name="Image 2" descr="preencoded.png">    </p:cNvPr>
          <p:cNvPicPr>
            <a:picLocks noChangeAspect="1"/>
          </p:cNvPicPr>
          <p:nvPr/>
        </p:nvPicPr>
        <p:blipFill>
          <a:blip r:embed="rId3"/>
          <a:stretch>
            <a:fillRect/>
          </a:stretch>
        </p:blipFill>
        <p:spPr>
          <a:xfrm>
            <a:off x="6477975" y="1924263"/>
            <a:ext cx="430865" cy="430865"/>
          </a:xfrm>
          <a:prstGeom prst="rect">
            <a:avLst/>
          </a:prstGeom>
        </p:spPr>
      </p:pic>
      <p:sp>
        <p:nvSpPr>
          <p:cNvPr id="14" name="Text 9"/>
          <p:cNvSpPr/>
          <p:nvPr/>
        </p:nvSpPr>
        <p:spPr>
          <a:xfrm>
            <a:off x="7132320" y="1691640"/>
            <a:ext cx="434340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Teen users</a:t>
            </a:r>
            <a:endParaRPr lang="en-US" sz="1350" dirty="0"/>
          </a:p>
        </p:txBody>
      </p:sp>
      <p:sp>
        <p:nvSpPr>
          <p:cNvPr id="15" name="Text 10"/>
          <p:cNvSpPr/>
          <p:nvPr/>
        </p:nvSpPr>
        <p:spPr>
          <a:xfrm>
            <a:off x="7132320" y="1984248"/>
            <a:ext cx="4343400" cy="640080"/>
          </a:xfrm>
          <a:prstGeom prst="rect">
            <a:avLst/>
          </a:prstGeom>
          <a:noFill/>
          <a:ln/>
        </p:spPr>
        <p:txBody>
          <a:bodyPr wrap="square" rtlCol="0" anchor="t"/>
          <a:lstStyle/>
          <a:p>
            <a:pPr indent="0" marL="0">
              <a:lnSpc>
                <a:spcPct val="105000"/>
              </a:lnSpc>
              <a:buNone/>
            </a:pPr>
            <a:r>
              <a:rPr lang="en-US" sz="1050" dirty="0">
                <a:solidFill>
                  <a:srgbClr val="2B2F3A"/>
                </a:solidFill>
                <a:latin typeface="Calibri" pitchFamily="34" charset="0"/>
                <a:ea typeface="Calibri" pitchFamily="34" charset="-122"/>
                <a:cs typeface="Calibri" pitchFamily="34" charset="-120"/>
              </a:rPr>
              <a:t>Young people who form real attachments to companion-chatbot personas, often without adult knowledge.</a:t>
            </a:r>
            <a:endParaRPr lang="en-US" sz="1050" dirty="0"/>
          </a:p>
        </p:txBody>
      </p:sp>
      <p:sp>
        <p:nvSpPr>
          <p:cNvPr id="16" name="Shape 11"/>
          <p:cNvSpPr/>
          <p:nvPr/>
        </p:nvSpPr>
        <p:spPr>
          <a:xfrm>
            <a:off x="594360" y="2807208"/>
            <a:ext cx="5349240" cy="1078992"/>
          </a:xfrm>
          <a:prstGeom prst="roundRect">
            <a:avLst>
              <a:gd name="adj" fmla="val 5932"/>
            </a:avLst>
          </a:prstGeom>
          <a:solidFill>
            <a:srgbClr val="EEF3FC"/>
          </a:solidFill>
          <a:ln/>
        </p:spPr>
      </p:sp>
      <p:sp>
        <p:nvSpPr>
          <p:cNvPr id="17" name="Shape 12"/>
          <p:cNvSpPr/>
          <p:nvPr/>
        </p:nvSpPr>
        <p:spPr>
          <a:xfrm>
            <a:off x="740664" y="3063240"/>
            <a:ext cx="566928" cy="566928"/>
          </a:xfrm>
          <a:prstGeom prst="ellipse">
            <a:avLst/>
          </a:prstGeom>
          <a:solidFill>
            <a:srgbClr val="1E2761"/>
          </a:solidFill>
          <a:ln/>
        </p:spPr>
      </p:sp>
      <p:pic>
        <p:nvPicPr>
          <p:cNvPr id="18" name="Image 3" descr="preencoded.png">    </p:cNvPr>
          <p:cNvPicPr>
            <a:picLocks noChangeAspect="1"/>
          </p:cNvPicPr>
          <p:nvPr/>
        </p:nvPicPr>
        <p:blipFill>
          <a:blip r:embed="rId4"/>
          <a:stretch>
            <a:fillRect/>
          </a:stretch>
        </p:blipFill>
        <p:spPr>
          <a:xfrm>
            <a:off x="808695" y="3131271"/>
            <a:ext cx="430865" cy="430865"/>
          </a:xfrm>
          <a:prstGeom prst="rect">
            <a:avLst/>
          </a:prstGeom>
        </p:spPr>
      </p:pic>
      <p:sp>
        <p:nvSpPr>
          <p:cNvPr id="19" name="Text 13"/>
          <p:cNvSpPr/>
          <p:nvPr/>
        </p:nvSpPr>
        <p:spPr>
          <a:xfrm>
            <a:off x="1463040" y="2898648"/>
            <a:ext cx="434340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Character.AI</a:t>
            </a:r>
            <a:endParaRPr lang="en-US" sz="1350" dirty="0"/>
          </a:p>
        </p:txBody>
      </p:sp>
      <p:sp>
        <p:nvSpPr>
          <p:cNvPr id="20" name="Text 14"/>
          <p:cNvSpPr/>
          <p:nvPr/>
        </p:nvSpPr>
        <p:spPr>
          <a:xfrm>
            <a:off x="1463040" y="3191256"/>
            <a:ext cx="4343400" cy="640080"/>
          </a:xfrm>
          <a:prstGeom prst="rect">
            <a:avLst/>
          </a:prstGeom>
          <a:noFill/>
          <a:ln/>
        </p:spPr>
        <p:txBody>
          <a:bodyPr wrap="square" rtlCol="0" anchor="t"/>
          <a:lstStyle/>
          <a:p>
            <a:pPr indent="0" marL="0">
              <a:lnSpc>
                <a:spcPct val="105000"/>
              </a:lnSpc>
              <a:buNone/>
            </a:pPr>
            <a:r>
              <a:rPr lang="en-US" sz="1050" dirty="0">
                <a:solidFill>
                  <a:srgbClr val="2B2F3A"/>
                </a:solidFill>
                <a:latin typeface="Calibri" pitchFamily="34" charset="0"/>
                <a:ea typeface="Calibri" pitchFamily="34" charset="-122"/>
                <a:cs typeface="Calibri" pitchFamily="34" charset="-120"/>
              </a:rPr>
              <a:t>The company whose product design and safety choices are now being tested in court.</a:t>
            </a:r>
            <a:endParaRPr lang="en-US" sz="1050" dirty="0"/>
          </a:p>
        </p:txBody>
      </p:sp>
      <p:sp>
        <p:nvSpPr>
          <p:cNvPr id="21" name="Shape 15"/>
          <p:cNvSpPr/>
          <p:nvPr/>
        </p:nvSpPr>
        <p:spPr>
          <a:xfrm>
            <a:off x="6263640" y="2807208"/>
            <a:ext cx="5349240" cy="1078992"/>
          </a:xfrm>
          <a:prstGeom prst="roundRect">
            <a:avLst>
              <a:gd name="adj" fmla="val 5932"/>
            </a:avLst>
          </a:prstGeom>
          <a:solidFill>
            <a:srgbClr val="EEF3FC"/>
          </a:solidFill>
          <a:ln/>
        </p:spPr>
      </p:sp>
      <p:sp>
        <p:nvSpPr>
          <p:cNvPr id="22" name="Shape 16"/>
          <p:cNvSpPr/>
          <p:nvPr/>
        </p:nvSpPr>
        <p:spPr>
          <a:xfrm>
            <a:off x="6409944" y="3063240"/>
            <a:ext cx="566928" cy="566928"/>
          </a:xfrm>
          <a:prstGeom prst="ellipse">
            <a:avLst/>
          </a:prstGeom>
          <a:solidFill>
            <a:srgbClr val="1E2761"/>
          </a:solidFill>
          <a:ln/>
        </p:spPr>
      </p:sp>
      <p:pic>
        <p:nvPicPr>
          <p:cNvPr id="23" name="Image 4" descr="preencoded.png">    </p:cNvPr>
          <p:cNvPicPr>
            <a:picLocks noChangeAspect="1"/>
          </p:cNvPicPr>
          <p:nvPr/>
        </p:nvPicPr>
        <p:blipFill>
          <a:blip r:embed="rId5"/>
          <a:stretch>
            <a:fillRect/>
          </a:stretch>
        </p:blipFill>
        <p:spPr>
          <a:xfrm>
            <a:off x="6477975" y="3131271"/>
            <a:ext cx="430865" cy="430865"/>
          </a:xfrm>
          <a:prstGeom prst="rect">
            <a:avLst/>
          </a:prstGeom>
        </p:spPr>
      </p:pic>
      <p:sp>
        <p:nvSpPr>
          <p:cNvPr id="24" name="Text 17"/>
          <p:cNvSpPr/>
          <p:nvPr/>
        </p:nvSpPr>
        <p:spPr>
          <a:xfrm>
            <a:off x="7132320" y="2898648"/>
            <a:ext cx="434340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Google</a:t>
            </a:r>
            <a:endParaRPr lang="en-US" sz="1350" dirty="0"/>
          </a:p>
        </p:txBody>
      </p:sp>
      <p:sp>
        <p:nvSpPr>
          <p:cNvPr id="25" name="Text 18"/>
          <p:cNvSpPr/>
          <p:nvPr/>
        </p:nvSpPr>
        <p:spPr>
          <a:xfrm>
            <a:off x="7132320" y="3191256"/>
            <a:ext cx="4343400" cy="640080"/>
          </a:xfrm>
          <a:prstGeom prst="rect">
            <a:avLst/>
          </a:prstGeom>
          <a:noFill/>
          <a:ln/>
        </p:spPr>
        <p:txBody>
          <a:bodyPr wrap="square" rtlCol="0" anchor="t"/>
          <a:lstStyle/>
          <a:p>
            <a:pPr indent="0" marL="0">
              <a:lnSpc>
                <a:spcPct val="105000"/>
              </a:lnSpc>
              <a:buNone/>
            </a:pPr>
            <a:r>
              <a:rPr lang="en-US" sz="1050" dirty="0">
                <a:solidFill>
                  <a:srgbClr val="2B2F3A"/>
                </a:solidFill>
                <a:latin typeface="Calibri" pitchFamily="34" charset="0"/>
                <a:ea typeface="Calibri" pitchFamily="34" charset="-122"/>
                <a:cs typeface="Calibri" pitchFamily="34" charset="-120"/>
              </a:rPr>
              <a:t>Named for developing the underlying model; later re-hired the app’s founders.</a:t>
            </a:r>
            <a:endParaRPr lang="en-US" sz="1050" dirty="0"/>
          </a:p>
        </p:txBody>
      </p:sp>
      <p:sp>
        <p:nvSpPr>
          <p:cNvPr id="26" name="Shape 19"/>
          <p:cNvSpPr/>
          <p:nvPr/>
        </p:nvSpPr>
        <p:spPr>
          <a:xfrm>
            <a:off x="594360" y="4014216"/>
            <a:ext cx="5349240" cy="1078992"/>
          </a:xfrm>
          <a:prstGeom prst="roundRect">
            <a:avLst>
              <a:gd name="adj" fmla="val 5932"/>
            </a:avLst>
          </a:prstGeom>
          <a:solidFill>
            <a:srgbClr val="EEF3FC"/>
          </a:solidFill>
          <a:ln/>
        </p:spPr>
      </p:sp>
      <p:sp>
        <p:nvSpPr>
          <p:cNvPr id="27" name="Shape 20"/>
          <p:cNvSpPr/>
          <p:nvPr/>
        </p:nvSpPr>
        <p:spPr>
          <a:xfrm>
            <a:off x="740664" y="4270248"/>
            <a:ext cx="566928" cy="566928"/>
          </a:xfrm>
          <a:prstGeom prst="ellipse">
            <a:avLst/>
          </a:prstGeom>
          <a:solidFill>
            <a:srgbClr val="1E2761"/>
          </a:solidFill>
          <a:ln/>
        </p:spPr>
      </p:sp>
      <p:pic>
        <p:nvPicPr>
          <p:cNvPr id="28" name="Image 5" descr="preencoded.png">    </p:cNvPr>
          <p:cNvPicPr>
            <a:picLocks noChangeAspect="1"/>
          </p:cNvPicPr>
          <p:nvPr/>
        </p:nvPicPr>
        <p:blipFill>
          <a:blip r:embed="rId6"/>
          <a:stretch>
            <a:fillRect/>
          </a:stretch>
        </p:blipFill>
        <p:spPr>
          <a:xfrm>
            <a:off x="808695" y="4338279"/>
            <a:ext cx="430865" cy="430865"/>
          </a:xfrm>
          <a:prstGeom prst="rect">
            <a:avLst/>
          </a:prstGeom>
        </p:spPr>
      </p:pic>
      <p:sp>
        <p:nvSpPr>
          <p:cNvPr id="29" name="Text 21"/>
          <p:cNvSpPr/>
          <p:nvPr/>
        </p:nvSpPr>
        <p:spPr>
          <a:xfrm>
            <a:off x="1463040" y="4105656"/>
            <a:ext cx="434340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FTC &amp; legislators</a:t>
            </a:r>
            <a:endParaRPr lang="en-US" sz="1350" dirty="0"/>
          </a:p>
        </p:txBody>
      </p:sp>
      <p:sp>
        <p:nvSpPr>
          <p:cNvPr id="30" name="Text 22"/>
          <p:cNvSpPr/>
          <p:nvPr/>
        </p:nvSpPr>
        <p:spPr>
          <a:xfrm>
            <a:off x="1463040" y="4398264"/>
            <a:ext cx="4343400" cy="640080"/>
          </a:xfrm>
          <a:prstGeom prst="rect">
            <a:avLst/>
          </a:prstGeom>
          <a:noFill/>
          <a:ln/>
        </p:spPr>
        <p:txBody>
          <a:bodyPr wrap="square" rtlCol="0" anchor="t"/>
          <a:lstStyle/>
          <a:p>
            <a:pPr indent="0" marL="0">
              <a:lnSpc>
                <a:spcPct val="105000"/>
              </a:lnSpc>
              <a:buNone/>
            </a:pPr>
            <a:r>
              <a:rPr lang="en-US" sz="1050" dirty="0">
                <a:solidFill>
                  <a:srgbClr val="2B2F3A"/>
                </a:solidFill>
                <a:latin typeface="Calibri" pitchFamily="34" charset="0"/>
                <a:ea typeface="Calibri" pitchFamily="34" charset="-122"/>
                <a:cs typeface="Calibri" pitchFamily="34" charset="-120"/>
              </a:rPr>
              <a:t>Running a 6(b) study of 7 companies; California (SB 243) and other states writing new rules.</a:t>
            </a:r>
            <a:endParaRPr lang="en-US" sz="1050" dirty="0"/>
          </a:p>
        </p:txBody>
      </p:sp>
      <p:sp>
        <p:nvSpPr>
          <p:cNvPr id="31" name="Shape 23"/>
          <p:cNvSpPr/>
          <p:nvPr/>
        </p:nvSpPr>
        <p:spPr>
          <a:xfrm>
            <a:off x="6263640" y="4014216"/>
            <a:ext cx="5349240" cy="1078992"/>
          </a:xfrm>
          <a:prstGeom prst="roundRect">
            <a:avLst>
              <a:gd name="adj" fmla="val 5932"/>
            </a:avLst>
          </a:prstGeom>
          <a:solidFill>
            <a:srgbClr val="EEF3FC"/>
          </a:solidFill>
          <a:ln/>
        </p:spPr>
      </p:sp>
      <p:sp>
        <p:nvSpPr>
          <p:cNvPr id="32" name="Shape 24"/>
          <p:cNvSpPr/>
          <p:nvPr/>
        </p:nvSpPr>
        <p:spPr>
          <a:xfrm>
            <a:off x="6409944" y="4270248"/>
            <a:ext cx="566928" cy="566928"/>
          </a:xfrm>
          <a:prstGeom prst="ellipse">
            <a:avLst/>
          </a:prstGeom>
          <a:solidFill>
            <a:srgbClr val="1E2761"/>
          </a:solidFill>
          <a:ln/>
        </p:spPr>
      </p:sp>
      <p:pic>
        <p:nvPicPr>
          <p:cNvPr id="33" name="Image 6" descr="preencoded.png">    </p:cNvPr>
          <p:cNvPicPr>
            <a:picLocks noChangeAspect="1"/>
          </p:cNvPicPr>
          <p:nvPr/>
        </p:nvPicPr>
        <p:blipFill>
          <a:blip r:embed="rId7"/>
          <a:stretch>
            <a:fillRect/>
          </a:stretch>
        </p:blipFill>
        <p:spPr>
          <a:xfrm>
            <a:off x="6477975" y="4338279"/>
            <a:ext cx="430865" cy="430865"/>
          </a:xfrm>
          <a:prstGeom prst="rect">
            <a:avLst/>
          </a:prstGeom>
        </p:spPr>
      </p:pic>
      <p:sp>
        <p:nvSpPr>
          <p:cNvPr id="34" name="Text 25"/>
          <p:cNvSpPr/>
          <p:nvPr/>
        </p:nvSpPr>
        <p:spPr>
          <a:xfrm>
            <a:off x="7132320" y="4105656"/>
            <a:ext cx="434340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Clinicians &amp; schools</a:t>
            </a:r>
            <a:endParaRPr lang="en-US" sz="1350" dirty="0"/>
          </a:p>
        </p:txBody>
      </p:sp>
      <p:sp>
        <p:nvSpPr>
          <p:cNvPr id="35" name="Text 26"/>
          <p:cNvSpPr/>
          <p:nvPr/>
        </p:nvSpPr>
        <p:spPr>
          <a:xfrm>
            <a:off x="7132320" y="4398264"/>
            <a:ext cx="4343400" cy="640080"/>
          </a:xfrm>
          <a:prstGeom prst="rect">
            <a:avLst/>
          </a:prstGeom>
          <a:noFill/>
          <a:ln/>
        </p:spPr>
        <p:txBody>
          <a:bodyPr wrap="square" rtlCol="0" anchor="t"/>
          <a:lstStyle/>
          <a:p>
            <a:pPr indent="0" marL="0">
              <a:lnSpc>
                <a:spcPct val="105000"/>
              </a:lnSpc>
              <a:buNone/>
            </a:pPr>
            <a:r>
              <a:rPr lang="en-US" sz="1050" dirty="0">
                <a:solidFill>
                  <a:srgbClr val="2B2F3A"/>
                </a:solidFill>
                <a:latin typeface="Calibri" pitchFamily="34" charset="0"/>
                <a:ea typeface="Calibri" pitchFamily="34" charset="-122"/>
                <a:cs typeface="Calibri" pitchFamily="34" charset="-120"/>
              </a:rPr>
              <a:t>Treating the attachment, isolation, and self-harm risks tied to companion-bot use.</a:t>
            </a:r>
            <a:endParaRPr lang="en-US" sz="1050" dirty="0"/>
          </a:p>
        </p:txBody>
      </p:sp>
      <p:sp>
        <p:nvSpPr>
          <p:cNvPr id="36" name="Shape 27"/>
          <p:cNvSpPr/>
          <p:nvPr/>
        </p:nvSpPr>
        <p:spPr>
          <a:xfrm>
            <a:off x="594360" y="5221224"/>
            <a:ext cx="5349240" cy="1078992"/>
          </a:xfrm>
          <a:prstGeom prst="roundRect">
            <a:avLst>
              <a:gd name="adj" fmla="val 5932"/>
            </a:avLst>
          </a:prstGeom>
          <a:solidFill>
            <a:srgbClr val="EEF3FC"/>
          </a:solidFill>
          <a:ln/>
        </p:spPr>
      </p:sp>
      <p:sp>
        <p:nvSpPr>
          <p:cNvPr id="37" name="Shape 28"/>
          <p:cNvSpPr/>
          <p:nvPr/>
        </p:nvSpPr>
        <p:spPr>
          <a:xfrm>
            <a:off x="740664" y="5477256"/>
            <a:ext cx="566928" cy="566928"/>
          </a:xfrm>
          <a:prstGeom prst="ellipse">
            <a:avLst/>
          </a:prstGeom>
          <a:solidFill>
            <a:srgbClr val="1E2761"/>
          </a:solidFill>
          <a:ln/>
        </p:spPr>
      </p:sp>
      <p:pic>
        <p:nvPicPr>
          <p:cNvPr id="38" name="Image 7" descr="preencoded.png">    </p:cNvPr>
          <p:cNvPicPr>
            <a:picLocks noChangeAspect="1"/>
          </p:cNvPicPr>
          <p:nvPr/>
        </p:nvPicPr>
        <p:blipFill>
          <a:blip r:embed="rId8"/>
          <a:stretch>
            <a:fillRect/>
          </a:stretch>
        </p:blipFill>
        <p:spPr>
          <a:xfrm>
            <a:off x="808695" y="5545287"/>
            <a:ext cx="430865" cy="430865"/>
          </a:xfrm>
          <a:prstGeom prst="rect">
            <a:avLst/>
          </a:prstGeom>
        </p:spPr>
      </p:pic>
      <p:sp>
        <p:nvSpPr>
          <p:cNvPr id="39" name="Text 29"/>
          <p:cNvSpPr/>
          <p:nvPr/>
        </p:nvSpPr>
        <p:spPr>
          <a:xfrm>
            <a:off x="1463040" y="5312664"/>
            <a:ext cx="4343400" cy="292608"/>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Other AI companies</a:t>
            </a:r>
            <a:endParaRPr lang="en-US" sz="1350" dirty="0"/>
          </a:p>
        </p:txBody>
      </p:sp>
      <p:sp>
        <p:nvSpPr>
          <p:cNvPr id="40" name="Text 30"/>
          <p:cNvSpPr/>
          <p:nvPr/>
        </p:nvSpPr>
        <p:spPr>
          <a:xfrm>
            <a:off x="1463040" y="5605272"/>
            <a:ext cx="4343400" cy="640080"/>
          </a:xfrm>
          <a:prstGeom prst="rect">
            <a:avLst/>
          </a:prstGeom>
          <a:noFill/>
          <a:ln/>
        </p:spPr>
        <p:txBody>
          <a:bodyPr wrap="square" rtlCol="0" anchor="t"/>
          <a:lstStyle/>
          <a:p>
            <a:pPr indent="0" marL="0">
              <a:lnSpc>
                <a:spcPct val="105000"/>
              </a:lnSpc>
              <a:buNone/>
            </a:pPr>
            <a:r>
              <a:rPr lang="en-US" sz="1050" dirty="0">
                <a:solidFill>
                  <a:srgbClr val="2B2F3A"/>
                </a:solidFill>
                <a:latin typeface="Calibri" pitchFamily="34" charset="0"/>
                <a:ea typeface="Calibri" pitchFamily="34" charset="-122"/>
                <a:cs typeface="Calibri" pitchFamily="34" charset="-120"/>
              </a:rPr>
              <a:t>OpenAI, Meta, Snap, and X.AI — also under FTC inquiry, watching what precedent this sets.</a:t>
            </a:r>
            <a:endParaRPr lang="en-US" sz="1050" dirty="0"/>
          </a:p>
        </p:txBody>
      </p:sp>
      <p:sp>
        <p:nvSpPr>
          <p:cNvPr id="41" name="Text 31"/>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42" name="Text 32"/>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73152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Tension</a:t>
            </a:r>
            <a:endParaRPr lang="en-US" sz="3000" dirty="0"/>
          </a:p>
        </p:txBody>
      </p:sp>
      <p:sp>
        <p:nvSpPr>
          <p:cNvPr id="5" name="Text 2"/>
          <p:cNvSpPr/>
          <p:nvPr/>
        </p:nvSpPr>
        <p:spPr>
          <a:xfrm>
            <a:off x="1508760" y="1078992"/>
            <a:ext cx="8229600" cy="365760"/>
          </a:xfrm>
          <a:prstGeom prst="rect">
            <a:avLst/>
          </a:prstGeom>
          <a:noFill/>
          <a:ln/>
        </p:spPr>
        <p:txBody>
          <a:bodyPr wrap="square" rtlCol="0" anchor="ctr"/>
          <a:lstStyle/>
          <a:p>
            <a:pPr indent="0" marL="0">
              <a:buNone/>
            </a:pPr>
            <a:r>
              <a:rPr lang="en-US" sz="1350" i="1" dirty="0">
                <a:solidFill>
                  <a:srgbClr val="5B6B8C"/>
                </a:solidFill>
                <a:latin typeface="Calibri" pitchFamily="34" charset="0"/>
                <a:ea typeface="Calibri" pitchFamily="34" charset="-122"/>
                <a:cs typeface="Calibri" pitchFamily="34" charset="-120"/>
              </a:rPr>
              <a:t>Two good things pulling against each other.</a:t>
            </a:r>
            <a:endParaRPr lang="en-US" sz="1350" dirty="0"/>
          </a:p>
        </p:txBody>
      </p:sp>
      <p:sp>
        <p:nvSpPr>
          <p:cNvPr id="6" name="Shape 3"/>
          <p:cNvSpPr/>
          <p:nvPr/>
        </p:nvSpPr>
        <p:spPr>
          <a:xfrm>
            <a:off x="594360" y="1691640"/>
            <a:ext cx="5257800" cy="3977640"/>
          </a:xfrm>
          <a:prstGeom prst="roundRect">
            <a:avLst>
              <a:gd name="adj" fmla="val 2299"/>
            </a:avLst>
          </a:prstGeom>
          <a:solidFill>
            <a:srgbClr val="EEF3FC"/>
          </a:solidFill>
          <a:ln/>
        </p:spPr>
      </p:sp>
      <p:sp>
        <p:nvSpPr>
          <p:cNvPr id="7" name="Text 4"/>
          <p:cNvSpPr/>
          <p:nvPr/>
        </p:nvSpPr>
        <p:spPr>
          <a:xfrm>
            <a:off x="868680" y="1920240"/>
            <a:ext cx="4709160" cy="365760"/>
          </a:xfrm>
          <a:prstGeom prst="rect">
            <a:avLst/>
          </a:prstGeom>
          <a:noFill/>
          <a:ln/>
        </p:spPr>
        <p:txBody>
          <a:bodyPr wrap="square" rtlCol="0" anchor="ctr"/>
          <a:lstStyle/>
          <a:p>
            <a:pPr indent="0" marL="0">
              <a:buNone/>
            </a:pPr>
            <a:r>
              <a:rPr lang="en-US" sz="1400" b="1" spc="100" kern="0" dirty="0">
                <a:solidFill>
                  <a:srgbClr val="1E2761"/>
                </a:solidFill>
                <a:latin typeface="Calibri" pitchFamily="34" charset="0"/>
                <a:ea typeface="Calibri" pitchFamily="34" charset="-122"/>
                <a:cs typeface="Calibri" pitchFamily="34" charset="-120"/>
              </a:rPr>
              <a:t>INNOVATION &amp; CONNECTION</a:t>
            </a:r>
            <a:endParaRPr lang="en-US" sz="1400" dirty="0"/>
          </a:p>
        </p:txBody>
      </p:sp>
      <p:sp>
        <p:nvSpPr>
          <p:cNvPr id="8" name="Text 5"/>
          <p:cNvSpPr/>
          <p:nvPr/>
        </p:nvSpPr>
        <p:spPr>
          <a:xfrm>
            <a:off x="868680" y="2377440"/>
            <a:ext cx="4709160" cy="1737360"/>
          </a:xfrm>
          <a:prstGeom prst="rect">
            <a:avLst/>
          </a:prstGeom>
          <a:noFill/>
          <a:ln/>
        </p:spPr>
        <p:txBody>
          <a:bodyPr wrap="square" rtlCol="0" anchor="ctr"/>
          <a:lstStyle/>
          <a:p>
            <a:pPr indent="0" marL="0">
              <a:lnSpc>
                <a:spcPct val="120000"/>
              </a:lnSpc>
              <a:buNone/>
            </a:pPr>
            <a:r>
              <a:rPr lang="en-US" sz="1350" dirty="0">
                <a:solidFill>
                  <a:srgbClr val="2B2F3A"/>
                </a:solidFill>
                <a:latin typeface="Calibri" pitchFamily="34" charset="0"/>
                <a:ea typeface="Calibri" pitchFamily="34" charset="-122"/>
                <a:cs typeface="Calibri" pitchFamily="34" charset="-120"/>
              </a:rPr>
              <a:t>Conversational AI can offer comfort, low-stakes social practice, and companionship — especially for isolated teens. Treating chatbot output as protected expression leaves room for the technology to keep developing.</a:t>
            </a:r>
            <a:endParaRPr lang="en-US" sz="1350" dirty="0"/>
          </a:p>
        </p:txBody>
      </p:sp>
      <p:sp>
        <p:nvSpPr>
          <p:cNvPr id="9" name="Text 6"/>
          <p:cNvSpPr/>
          <p:nvPr/>
        </p:nvSpPr>
        <p:spPr>
          <a:xfrm>
            <a:off x="868680" y="4251960"/>
            <a:ext cx="4709160" cy="1234440"/>
          </a:xfrm>
          <a:prstGeom prst="rect">
            <a:avLst/>
          </a:prstGeom>
          <a:noFill/>
          <a:ln/>
        </p:spPr>
        <p:txBody>
          <a:bodyPr wrap="square" rtlCol="0" anchor="ctr"/>
          <a:lstStyle/>
          <a:p>
            <a:pPr indent="0" marL="0">
              <a:lnSpc>
                <a:spcPct val="115000"/>
              </a:lnSpc>
              <a:buNone/>
            </a:pPr>
            <a:r>
              <a:rPr lang="en-US" sz="1250" i="1" dirty="0">
                <a:solidFill>
                  <a:srgbClr val="5B6B8C"/>
                </a:solidFill>
                <a:latin typeface="Calibri" pitchFamily="34" charset="0"/>
                <a:ea typeface="Calibri" pitchFamily="34" charset="-122"/>
                <a:cs typeface="Calibri" pitchFamily="34" charset="-120"/>
              </a:rPr>
              <a:t>Character.AI’s defense: chatbot replies are speech, protected by the First Amendment and shielded by Section 230.</a:t>
            </a:r>
            <a:endParaRPr lang="en-US" sz="1250" dirty="0"/>
          </a:p>
        </p:txBody>
      </p:sp>
      <p:sp>
        <p:nvSpPr>
          <p:cNvPr id="10" name="Shape 7"/>
          <p:cNvSpPr/>
          <p:nvPr/>
        </p:nvSpPr>
        <p:spPr>
          <a:xfrm>
            <a:off x="6126480" y="1691640"/>
            <a:ext cx="5257800" cy="3977640"/>
          </a:xfrm>
          <a:prstGeom prst="roundRect">
            <a:avLst>
              <a:gd name="adj" fmla="val 2299"/>
            </a:avLst>
          </a:prstGeom>
          <a:solidFill>
            <a:srgbClr val="1E2761"/>
          </a:solidFill>
          <a:ln/>
        </p:spPr>
      </p:sp>
      <p:sp>
        <p:nvSpPr>
          <p:cNvPr id="11" name="Text 8"/>
          <p:cNvSpPr/>
          <p:nvPr/>
        </p:nvSpPr>
        <p:spPr>
          <a:xfrm>
            <a:off x="6400800" y="1920240"/>
            <a:ext cx="4709160" cy="365760"/>
          </a:xfrm>
          <a:prstGeom prst="rect">
            <a:avLst/>
          </a:prstGeom>
          <a:noFill/>
          <a:ln/>
        </p:spPr>
        <p:txBody>
          <a:bodyPr wrap="square" rtlCol="0" anchor="ctr"/>
          <a:lstStyle/>
          <a:p>
            <a:pPr indent="0" marL="0">
              <a:buNone/>
            </a:pPr>
            <a:r>
              <a:rPr lang="en-US" sz="1400" b="1" spc="100" kern="0" dirty="0">
                <a:solidFill>
                  <a:srgbClr val="CADCFC"/>
                </a:solidFill>
                <a:latin typeface="Calibri" pitchFamily="34" charset="0"/>
                <a:ea typeface="Calibri" pitchFamily="34" charset="-122"/>
                <a:cs typeface="Calibri" pitchFamily="34" charset="-120"/>
              </a:rPr>
              <a:t>DUTY OF CARE &amp; ACCOUNTABILITY</a:t>
            </a:r>
            <a:endParaRPr lang="en-US" sz="1400" dirty="0"/>
          </a:p>
        </p:txBody>
      </p:sp>
      <p:sp>
        <p:nvSpPr>
          <p:cNvPr id="12" name="Text 9"/>
          <p:cNvSpPr/>
          <p:nvPr/>
        </p:nvSpPr>
        <p:spPr>
          <a:xfrm>
            <a:off x="6400800" y="2377440"/>
            <a:ext cx="4709160" cy="1737360"/>
          </a:xfrm>
          <a:prstGeom prst="rect">
            <a:avLst/>
          </a:prstGeom>
          <a:noFill/>
          <a:ln/>
        </p:spPr>
        <p:txBody>
          <a:bodyPr wrap="square" rtlCol="0" anchor="ctr"/>
          <a:lstStyle/>
          <a:p>
            <a:pPr indent="0" marL="0">
              <a:lnSpc>
                <a:spcPct val="120000"/>
              </a:lnSpc>
              <a:buNone/>
            </a:pPr>
            <a:r>
              <a:rPr lang="en-US" sz="1350" dirty="0">
                <a:solidFill>
                  <a:srgbClr val="FFFFFF"/>
                </a:solidFill>
                <a:latin typeface="Calibri" pitchFamily="34" charset="0"/>
                <a:ea typeface="Calibri" pitchFamily="34" charset="-122"/>
                <a:cs typeface="Calibri" pitchFamily="34" charset="-120"/>
              </a:rPr>
              <a:t>A product engineered to maximize emotional engagement from users too young to weigh the risk carries a foreseeable danger — and a company that builds it can be held responsible for the harm.</a:t>
            </a:r>
            <a:endParaRPr lang="en-US" sz="1350" dirty="0"/>
          </a:p>
        </p:txBody>
      </p:sp>
      <p:sp>
        <p:nvSpPr>
          <p:cNvPr id="13" name="Text 10"/>
          <p:cNvSpPr/>
          <p:nvPr/>
        </p:nvSpPr>
        <p:spPr>
          <a:xfrm>
            <a:off x="6400800" y="4251960"/>
            <a:ext cx="4709160" cy="1234440"/>
          </a:xfrm>
          <a:prstGeom prst="rect">
            <a:avLst/>
          </a:prstGeom>
          <a:noFill/>
          <a:ln/>
        </p:spPr>
        <p:txBody>
          <a:bodyPr wrap="square" rtlCol="0" anchor="ctr"/>
          <a:lstStyle/>
          <a:p>
            <a:pPr indent="0" marL="0">
              <a:lnSpc>
                <a:spcPct val="115000"/>
              </a:lnSpc>
              <a:buNone/>
            </a:pPr>
            <a:r>
              <a:rPr lang="en-US" sz="1250" i="1" dirty="0">
                <a:solidFill>
                  <a:srgbClr val="C7D4F0"/>
                </a:solidFill>
                <a:latin typeface="Calibri" pitchFamily="34" charset="0"/>
                <a:ea typeface="Calibri" pitchFamily="34" charset="-122"/>
                <a:cs typeface="Calibri" pitchFamily="34" charset="-120"/>
              </a:rPr>
              <a:t>Judge Conway’s May 2025 ruling: chatbot output functions as the company’s own product, not third-party speech — so it can be judged as a design defect.</a:t>
            </a:r>
            <a:endParaRPr lang="en-US" sz="1250" dirty="0"/>
          </a:p>
        </p:txBody>
      </p:sp>
      <p:sp>
        <p:nvSpPr>
          <p:cNvPr id="14" name="Text 11"/>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15" name="Text 12"/>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73152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Prior Context</a:t>
            </a:r>
            <a:endParaRPr lang="en-US" sz="3000" dirty="0"/>
          </a:p>
        </p:txBody>
      </p:sp>
      <p:sp>
        <p:nvSpPr>
          <p:cNvPr id="5" name="Text 2"/>
          <p:cNvSpPr/>
          <p:nvPr/>
        </p:nvSpPr>
        <p:spPr>
          <a:xfrm>
            <a:off x="1508760" y="1078992"/>
            <a:ext cx="9966960" cy="365760"/>
          </a:xfrm>
          <a:prstGeom prst="rect">
            <a:avLst/>
          </a:prstGeom>
          <a:noFill/>
          <a:ln/>
        </p:spPr>
        <p:txBody>
          <a:bodyPr wrap="square" rtlCol="0" anchor="ctr"/>
          <a:lstStyle/>
          <a:p>
            <a:pPr indent="0" marL="0">
              <a:buNone/>
            </a:pPr>
            <a:r>
              <a:rPr lang="en-US" sz="1350" i="1" dirty="0">
                <a:solidFill>
                  <a:srgbClr val="5B6B8C"/>
                </a:solidFill>
                <a:latin typeface="Calibri" pitchFamily="34" charset="0"/>
                <a:ea typeface="Calibri" pitchFamily="34" charset="-122"/>
                <a:cs typeface="Calibri" pitchFamily="34" charset="-120"/>
              </a:rPr>
              <a:t>Doe v. MySpace (2008) — the last time a court decided who answers for harm to a minor online.</a:t>
            </a:r>
            <a:endParaRPr lang="en-US" sz="1350" dirty="0"/>
          </a:p>
        </p:txBody>
      </p:sp>
      <p:sp>
        <p:nvSpPr>
          <p:cNvPr id="6" name="Shape 3"/>
          <p:cNvSpPr/>
          <p:nvPr/>
        </p:nvSpPr>
        <p:spPr>
          <a:xfrm>
            <a:off x="594360" y="1600200"/>
            <a:ext cx="11475720" cy="457200"/>
          </a:xfrm>
          <a:prstGeom prst="rect">
            <a:avLst/>
          </a:prstGeom>
          <a:solidFill>
            <a:srgbClr val="1E2761"/>
          </a:solidFill>
          <a:ln/>
        </p:spPr>
      </p:sp>
      <p:sp>
        <p:nvSpPr>
          <p:cNvPr id="7" name="Text 4"/>
          <p:cNvSpPr/>
          <p:nvPr/>
        </p:nvSpPr>
        <p:spPr>
          <a:xfrm>
            <a:off x="2971800" y="1600200"/>
            <a:ext cx="43434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Doe v. MySpace (2008)</a:t>
            </a:r>
            <a:endParaRPr lang="en-US" sz="1300" dirty="0"/>
          </a:p>
        </p:txBody>
      </p:sp>
      <p:sp>
        <p:nvSpPr>
          <p:cNvPr id="8" name="Text 5"/>
          <p:cNvSpPr/>
          <p:nvPr/>
        </p:nvSpPr>
        <p:spPr>
          <a:xfrm>
            <a:off x="7635240" y="1600200"/>
            <a:ext cx="43434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Garcia v. Character Technologies (2025)</a:t>
            </a:r>
            <a:endParaRPr lang="en-US" sz="1300" dirty="0"/>
          </a:p>
        </p:txBody>
      </p:sp>
      <p:sp>
        <p:nvSpPr>
          <p:cNvPr id="9" name="Shape 6"/>
          <p:cNvSpPr/>
          <p:nvPr/>
        </p:nvSpPr>
        <p:spPr>
          <a:xfrm>
            <a:off x="594360" y="2057400"/>
            <a:ext cx="11475720" cy="914400"/>
          </a:xfrm>
          <a:prstGeom prst="rect">
            <a:avLst/>
          </a:prstGeom>
          <a:solidFill>
            <a:srgbClr val="FFFFFF"/>
          </a:solidFill>
          <a:ln w="9525">
            <a:solidFill>
              <a:srgbClr val="D8E2F5"/>
            </a:solidFill>
            <a:prstDash val="solid"/>
          </a:ln>
        </p:spPr>
      </p:sp>
      <p:sp>
        <p:nvSpPr>
          <p:cNvPr id="10" name="Text 7"/>
          <p:cNvSpPr/>
          <p:nvPr/>
        </p:nvSpPr>
        <p:spPr>
          <a:xfrm>
            <a:off x="704088" y="2057400"/>
            <a:ext cx="2011680" cy="91440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The claim</a:t>
            </a:r>
            <a:endParaRPr lang="en-US" sz="1150" dirty="0"/>
          </a:p>
        </p:txBody>
      </p:sp>
      <p:sp>
        <p:nvSpPr>
          <p:cNvPr id="11" name="Text 8"/>
          <p:cNvSpPr/>
          <p:nvPr/>
        </p:nvSpPr>
        <p:spPr>
          <a:xfrm>
            <a:off x="2990088" y="2057400"/>
            <a:ext cx="4306824" cy="91440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A 13-year-old lied about her age on MySpace and was sexually assaulted by an adult she met there.</a:t>
            </a:r>
            <a:endParaRPr lang="en-US" sz="1080" dirty="0"/>
          </a:p>
        </p:txBody>
      </p:sp>
      <p:sp>
        <p:nvSpPr>
          <p:cNvPr id="12" name="Text 9"/>
          <p:cNvSpPr/>
          <p:nvPr/>
        </p:nvSpPr>
        <p:spPr>
          <a:xfrm>
            <a:off x="7653528" y="2057400"/>
            <a:ext cx="4306824" cy="91440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A 14-year-old formed a months-long emotional and sexual relationship with a chatbot persona, then died by suicide.</a:t>
            </a:r>
            <a:endParaRPr lang="en-US" sz="1080" dirty="0"/>
          </a:p>
        </p:txBody>
      </p:sp>
      <p:sp>
        <p:nvSpPr>
          <p:cNvPr id="13" name="Shape 10"/>
          <p:cNvSpPr/>
          <p:nvPr/>
        </p:nvSpPr>
        <p:spPr>
          <a:xfrm>
            <a:off x="594360" y="2971800"/>
            <a:ext cx="11475720" cy="777240"/>
          </a:xfrm>
          <a:prstGeom prst="rect">
            <a:avLst/>
          </a:prstGeom>
          <a:solidFill>
            <a:srgbClr val="EEF3FC"/>
          </a:solidFill>
          <a:ln w="9525">
            <a:solidFill>
              <a:srgbClr val="D8E2F5"/>
            </a:solidFill>
            <a:prstDash val="solid"/>
          </a:ln>
        </p:spPr>
      </p:sp>
      <p:sp>
        <p:nvSpPr>
          <p:cNvPr id="14" name="Text 11"/>
          <p:cNvSpPr/>
          <p:nvPr/>
        </p:nvSpPr>
        <p:spPr>
          <a:xfrm>
            <a:off x="704088" y="2971800"/>
            <a:ext cx="2011680" cy="7772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The theory</a:t>
            </a:r>
            <a:endParaRPr lang="en-US" sz="1150" dirty="0"/>
          </a:p>
        </p:txBody>
      </p:sp>
      <p:sp>
        <p:nvSpPr>
          <p:cNvPr id="15" name="Text 12"/>
          <p:cNvSpPr/>
          <p:nvPr/>
        </p:nvSpPr>
        <p:spPr>
          <a:xfrm>
            <a:off x="2990088" y="2971800"/>
            <a:ext cx="4306824" cy="77724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Negligence — the platform failed to protect minors from users it hosted.</a:t>
            </a:r>
            <a:endParaRPr lang="en-US" sz="1080" dirty="0"/>
          </a:p>
        </p:txBody>
      </p:sp>
      <p:sp>
        <p:nvSpPr>
          <p:cNvPr id="16" name="Text 13"/>
          <p:cNvSpPr/>
          <p:nvPr/>
        </p:nvSpPr>
        <p:spPr>
          <a:xfrm>
            <a:off x="7653528" y="2971800"/>
            <a:ext cx="4306824" cy="77724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Product liability &amp; negligence — the company’s own AI output allegedly caused the harm.</a:t>
            </a:r>
            <a:endParaRPr lang="en-US" sz="1080" dirty="0"/>
          </a:p>
        </p:txBody>
      </p:sp>
      <p:sp>
        <p:nvSpPr>
          <p:cNvPr id="17" name="Shape 14"/>
          <p:cNvSpPr/>
          <p:nvPr/>
        </p:nvSpPr>
        <p:spPr>
          <a:xfrm>
            <a:off x="594360" y="3749040"/>
            <a:ext cx="11475720" cy="1051560"/>
          </a:xfrm>
          <a:prstGeom prst="rect">
            <a:avLst/>
          </a:prstGeom>
          <a:solidFill>
            <a:srgbClr val="FFFFFF"/>
          </a:solidFill>
          <a:ln w="9525">
            <a:solidFill>
              <a:srgbClr val="D8E2F5"/>
            </a:solidFill>
            <a:prstDash val="solid"/>
          </a:ln>
        </p:spPr>
      </p:sp>
      <p:sp>
        <p:nvSpPr>
          <p:cNvPr id="18" name="Text 15"/>
          <p:cNvSpPr/>
          <p:nvPr/>
        </p:nvSpPr>
        <p:spPr>
          <a:xfrm>
            <a:off x="704088" y="3749040"/>
            <a:ext cx="2011680" cy="105156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Section 230 defense</a:t>
            </a:r>
            <a:endParaRPr lang="en-US" sz="1150" dirty="0"/>
          </a:p>
        </p:txBody>
      </p:sp>
      <p:sp>
        <p:nvSpPr>
          <p:cNvPr id="19" name="Text 16"/>
          <p:cNvSpPr/>
          <p:nvPr/>
        </p:nvSpPr>
        <p:spPr>
          <a:xfrm>
            <a:off x="2990088" y="3749040"/>
            <a:ext cx="4306824" cy="105156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Succeeded. The 5th Circuit held Section 230 immunizes platforms broadly for user-generated content; cert. denied.</a:t>
            </a:r>
            <a:endParaRPr lang="en-US" sz="1080" dirty="0"/>
          </a:p>
        </p:txBody>
      </p:sp>
      <p:sp>
        <p:nvSpPr>
          <p:cNvPr id="20" name="Text 17"/>
          <p:cNvSpPr/>
          <p:nvPr/>
        </p:nvSpPr>
        <p:spPr>
          <a:xfrm>
            <a:off x="7653528" y="3749040"/>
            <a:ext cx="4306824" cy="105156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Rejected, in part. Chatbot output was treated as the company’s own product, not third-party speech — so 230 did not bar the claims.</a:t>
            </a:r>
            <a:endParaRPr lang="en-US" sz="1080" dirty="0"/>
          </a:p>
        </p:txBody>
      </p:sp>
      <p:sp>
        <p:nvSpPr>
          <p:cNvPr id="21" name="Shape 18"/>
          <p:cNvSpPr/>
          <p:nvPr/>
        </p:nvSpPr>
        <p:spPr>
          <a:xfrm>
            <a:off x="594360" y="4800600"/>
            <a:ext cx="11475720" cy="868680"/>
          </a:xfrm>
          <a:prstGeom prst="rect">
            <a:avLst/>
          </a:prstGeom>
          <a:solidFill>
            <a:srgbClr val="EEF3FC"/>
          </a:solidFill>
          <a:ln w="9525">
            <a:solidFill>
              <a:srgbClr val="D8E2F5"/>
            </a:solidFill>
            <a:prstDash val="solid"/>
          </a:ln>
        </p:spPr>
      </p:sp>
      <p:sp>
        <p:nvSpPr>
          <p:cNvPr id="22" name="Text 19"/>
          <p:cNvSpPr/>
          <p:nvPr/>
        </p:nvSpPr>
        <p:spPr>
          <a:xfrm>
            <a:off x="704088" y="4800600"/>
            <a:ext cx="2011680" cy="86868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How it ended</a:t>
            </a:r>
            <a:endParaRPr lang="en-US" sz="1150" dirty="0"/>
          </a:p>
        </p:txBody>
      </p:sp>
      <p:sp>
        <p:nvSpPr>
          <p:cNvPr id="23" name="Text 20"/>
          <p:cNvSpPr/>
          <p:nvPr/>
        </p:nvSpPr>
        <p:spPr>
          <a:xfrm>
            <a:off x="2990088" y="4800600"/>
            <a:ext cx="4306824" cy="86868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MySpace never had to answer for its role; the case ended at the motion-to-dismiss stage.</a:t>
            </a:r>
            <a:endParaRPr lang="en-US" sz="1080" dirty="0"/>
          </a:p>
        </p:txBody>
      </p:sp>
      <p:sp>
        <p:nvSpPr>
          <p:cNvPr id="24" name="Text 21"/>
          <p:cNvSpPr/>
          <p:nvPr/>
        </p:nvSpPr>
        <p:spPr>
          <a:xfrm>
            <a:off x="7653528" y="4800600"/>
            <a:ext cx="4306824" cy="868680"/>
          </a:xfrm>
          <a:prstGeom prst="rect">
            <a:avLst/>
          </a:prstGeom>
          <a:noFill/>
          <a:ln/>
        </p:spPr>
        <p:txBody>
          <a:bodyPr wrap="square" rtlCol="0" anchor="ctr"/>
          <a:lstStyle/>
          <a:p>
            <a:pPr indent="0" marL="0">
              <a:lnSpc>
                <a:spcPct val="105000"/>
              </a:lnSpc>
              <a:buNone/>
            </a:pPr>
            <a:r>
              <a:rPr lang="en-US" sz="1080" dirty="0">
                <a:solidFill>
                  <a:srgbClr val="2B2F3A"/>
                </a:solidFill>
                <a:latin typeface="Calibri" pitchFamily="34" charset="0"/>
                <a:ea typeface="Calibri" pitchFamily="34" charset="-122"/>
                <a:cs typeface="Calibri" pitchFamily="34" charset="-120"/>
              </a:rPr>
              <a:t>The case survived dismissal, then settled in Jan. 2026 — no liability admitted, terms undisclosed.</a:t>
            </a:r>
            <a:endParaRPr lang="en-US" sz="1080" dirty="0"/>
          </a:p>
        </p:txBody>
      </p:sp>
      <p:sp>
        <p:nvSpPr>
          <p:cNvPr id="25" name="Text 22"/>
          <p:cNvSpPr/>
          <p:nvPr/>
        </p:nvSpPr>
        <p:spPr>
          <a:xfrm>
            <a:off x="594360" y="5779008"/>
            <a:ext cx="11475720" cy="594360"/>
          </a:xfrm>
          <a:prstGeom prst="rect">
            <a:avLst/>
          </a:prstGeom>
          <a:noFill/>
          <a:ln/>
        </p:spPr>
        <p:txBody>
          <a:bodyPr wrap="square" rtlCol="0" anchor="ctr"/>
          <a:lstStyle/>
          <a:p>
            <a:pPr indent="0" marL="0">
              <a:lnSpc>
                <a:spcPct val="110000"/>
              </a:lnSpc>
              <a:buNone/>
            </a:pPr>
            <a:r>
              <a:rPr lang="en-US" sz="1150" i="1" dirty="0">
                <a:solidFill>
                  <a:srgbClr val="5B6B8C"/>
                </a:solidFill>
                <a:latin typeface="Calibri" pitchFamily="34" charset="0"/>
                <a:ea typeface="Calibri" pitchFamily="34" charset="-122"/>
                <a:cs typeface="Calibri" pitchFamily="34" charset="-120"/>
              </a:rPr>
              <a:t>For 17 years, Section 230 was the default shield for platforms sued over harm tied to minors’ use of their site. Garcia is one of the first rulings to say an AI company’s own generated content isn’t automatically covered — but because it settled, that holding sets no binding precedent elsewhere.</a:t>
            </a:r>
            <a:endParaRPr lang="en-US" sz="1150" dirty="0"/>
          </a:p>
        </p:txBody>
      </p:sp>
      <p:sp>
        <p:nvSpPr>
          <p:cNvPr id="26" name="Text 23"/>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27" name="Text 24"/>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73152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Next</a:t>
            </a:r>
            <a:endParaRPr lang="en-US" sz="3000" dirty="0"/>
          </a:p>
        </p:txBody>
      </p:sp>
      <p:sp>
        <p:nvSpPr>
          <p:cNvPr id="5" name="Shape 2"/>
          <p:cNvSpPr/>
          <p:nvPr/>
        </p:nvSpPr>
        <p:spPr>
          <a:xfrm>
            <a:off x="594360" y="1417320"/>
            <a:ext cx="6949440" cy="960120"/>
          </a:xfrm>
          <a:prstGeom prst="roundRect">
            <a:avLst>
              <a:gd name="adj" fmla="val 5714"/>
            </a:avLst>
          </a:prstGeom>
          <a:solidFill>
            <a:srgbClr val="EEF3FC"/>
          </a:solidFill>
          <a:ln/>
        </p:spPr>
      </p:sp>
      <p:sp>
        <p:nvSpPr>
          <p:cNvPr id="6" name="Text 3"/>
          <p:cNvSpPr/>
          <p:nvPr/>
        </p:nvSpPr>
        <p:spPr>
          <a:xfrm>
            <a:off x="822960" y="1490472"/>
            <a:ext cx="6492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FTC’s study</a:t>
            </a:r>
            <a:endParaRPr lang="en-US" sz="1300" dirty="0"/>
          </a:p>
        </p:txBody>
      </p:sp>
      <p:sp>
        <p:nvSpPr>
          <p:cNvPr id="7" name="Text 4"/>
          <p:cNvSpPr/>
          <p:nvPr/>
        </p:nvSpPr>
        <p:spPr>
          <a:xfrm>
            <a:off x="822960" y="1801368"/>
            <a:ext cx="6492240" cy="521208"/>
          </a:xfrm>
          <a:prstGeom prst="rect">
            <a:avLst/>
          </a:prstGeom>
          <a:noFill/>
          <a:ln/>
        </p:spPr>
        <p:txBody>
          <a:bodyPr wrap="square" rtlCol="0" anchor="t"/>
          <a:lstStyle/>
          <a:p>
            <a:pPr indent="0" marL="0">
              <a:lnSpc>
                <a:spcPct val="105000"/>
              </a:lnSpc>
              <a:buNone/>
            </a:pPr>
            <a:r>
              <a:rPr lang="en-US" sz="1100" dirty="0">
                <a:solidFill>
                  <a:srgbClr val="2B2F3A"/>
                </a:solidFill>
                <a:latin typeface="Calibri" pitchFamily="34" charset="0"/>
                <a:ea typeface="Calibri" pitchFamily="34" charset="-122"/>
                <a:cs typeface="Calibri" pitchFamily="34" charset="-120"/>
              </a:rPr>
              <a:t>All 7 companies had to respond to the Sept. 2025 6(b) orders. No public report or deadline has been announced as of Aug. 2026 — watch for findings.</a:t>
            </a:r>
            <a:endParaRPr lang="en-US" sz="1100" dirty="0"/>
          </a:p>
        </p:txBody>
      </p:sp>
      <p:sp>
        <p:nvSpPr>
          <p:cNvPr id="8" name="Shape 5"/>
          <p:cNvSpPr/>
          <p:nvPr/>
        </p:nvSpPr>
        <p:spPr>
          <a:xfrm>
            <a:off x="594360" y="2514600"/>
            <a:ext cx="6949440" cy="960120"/>
          </a:xfrm>
          <a:prstGeom prst="roundRect">
            <a:avLst>
              <a:gd name="adj" fmla="val 5714"/>
            </a:avLst>
          </a:prstGeom>
          <a:solidFill>
            <a:srgbClr val="EEF3FC"/>
          </a:solidFill>
          <a:ln/>
        </p:spPr>
      </p:sp>
      <p:sp>
        <p:nvSpPr>
          <p:cNvPr id="9" name="Text 6"/>
          <p:cNvSpPr/>
          <p:nvPr/>
        </p:nvSpPr>
        <p:spPr>
          <a:xfrm>
            <a:off x="822960" y="2587752"/>
            <a:ext cx="6492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More state laws</a:t>
            </a:r>
            <a:endParaRPr lang="en-US" sz="1300" dirty="0"/>
          </a:p>
        </p:txBody>
      </p:sp>
      <p:sp>
        <p:nvSpPr>
          <p:cNvPr id="10" name="Text 7"/>
          <p:cNvSpPr/>
          <p:nvPr/>
        </p:nvSpPr>
        <p:spPr>
          <a:xfrm>
            <a:off x="822960" y="2898648"/>
            <a:ext cx="6492240" cy="521208"/>
          </a:xfrm>
          <a:prstGeom prst="rect">
            <a:avLst/>
          </a:prstGeom>
          <a:noFill/>
          <a:ln/>
        </p:spPr>
        <p:txBody>
          <a:bodyPr wrap="square" rtlCol="0" anchor="t"/>
          <a:lstStyle/>
          <a:p>
            <a:pPr indent="0" marL="0">
              <a:lnSpc>
                <a:spcPct val="105000"/>
              </a:lnSpc>
              <a:buNone/>
            </a:pPr>
            <a:r>
              <a:rPr lang="en-US" sz="1100" dirty="0">
                <a:solidFill>
                  <a:srgbClr val="2B2F3A"/>
                </a:solidFill>
                <a:latin typeface="Calibri" pitchFamily="34" charset="0"/>
                <a:ea typeface="Calibri" pitchFamily="34" charset="-122"/>
                <a:cs typeface="Calibri" pitchFamily="34" charset="-120"/>
              </a:rPr>
              <a:t>Other legislatures are expected to introduce SB 243-style bills (AI disclosure, crisis referrals, minor safeguards). Track which states follow California’s model.</a:t>
            </a:r>
            <a:endParaRPr lang="en-US" sz="1100" dirty="0"/>
          </a:p>
        </p:txBody>
      </p:sp>
      <p:sp>
        <p:nvSpPr>
          <p:cNvPr id="11" name="Shape 8"/>
          <p:cNvSpPr/>
          <p:nvPr/>
        </p:nvSpPr>
        <p:spPr>
          <a:xfrm>
            <a:off x="594360" y="3611880"/>
            <a:ext cx="6949440" cy="960120"/>
          </a:xfrm>
          <a:prstGeom prst="roundRect">
            <a:avLst>
              <a:gd name="adj" fmla="val 5714"/>
            </a:avLst>
          </a:prstGeom>
          <a:solidFill>
            <a:srgbClr val="EEF3FC"/>
          </a:solidFill>
          <a:ln/>
        </p:spPr>
      </p:sp>
      <p:sp>
        <p:nvSpPr>
          <p:cNvPr id="12" name="Text 9"/>
          <p:cNvSpPr/>
          <p:nvPr/>
        </p:nvSpPr>
        <p:spPr>
          <a:xfrm>
            <a:off x="822960" y="3685032"/>
            <a:ext cx="6492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Litigation still open</a:t>
            </a:r>
            <a:endParaRPr lang="en-US" sz="1300" dirty="0"/>
          </a:p>
        </p:txBody>
      </p:sp>
      <p:sp>
        <p:nvSpPr>
          <p:cNvPr id="13" name="Text 10"/>
          <p:cNvSpPr/>
          <p:nvPr/>
        </p:nvSpPr>
        <p:spPr>
          <a:xfrm>
            <a:off x="822960" y="3995928"/>
            <a:ext cx="6492240" cy="521208"/>
          </a:xfrm>
          <a:prstGeom prst="rect">
            <a:avLst/>
          </a:prstGeom>
          <a:noFill/>
          <a:ln/>
        </p:spPr>
        <p:txBody>
          <a:bodyPr wrap="square" rtlCol="0" anchor="t"/>
          <a:lstStyle/>
          <a:p>
            <a:pPr indent="0" marL="0">
              <a:lnSpc>
                <a:spcPct val="105000"/>
              </a:lnSpc>
              <a:buNone/>
            </a:pPr>
            <a:r>
              <a:rPr lang="en-US" sz="1100" dirty="0">
                <a:solidFill>
                  <a:srgbClr val="2B2F3A"/>
                </a:solidFill>
                <a:latin typeface="Calibri" pitchFamily="34" charset="0"/>
                <a:ea typeface="Calibri" pitchFamily="34" charset="-122"/>
                <a:cs typeface="Calibri" pitchFamily="34" charset="-120"/>
              </a:rPr>
              <a:t>Suits against OpenAI over ChatGPT remain active and unsettled — a trial there could produce the binding precedent Garcia’s settlement avoided.</a:t>
            </a:r>
            <a:endParaRPr lang="en-US" sz="1100" dirty="0"/>
          </a:p>
        </p:txBody>
      </p:sp>
      <p:sp>
        <p:nvSpPr>
          <p:cNvPr id="14" name="Shape 11"/>
          <p:cNvSpPr/>
          <p:nvPr/>
        </p:nvSpPr>
        <p:spPr>
          <a:xfrm>
            <a:off x="594360" y="4709160"/>
            <a:ext cx="6949440" cy="960120"/>
          </a:xfrm>
          <a:prstGeom prst="roundRect">
            <a:avLst>
              <a:gd name="adj" fmla="val 5714"/>
            </a:avLst>
          </a:prstGeom>
          <a:solidFill>
            <a:srgbClr val="EEF3FC"/>
          </a:solidFill>
          <a:ln/>
        </p:spPr>
      </p:sp>
      <p:sp>
        <p:nvSpPr>
          <p:cNvPr id="15" name="Text 12"/>
          <p:cNvSpPr/>
          <p:nvPr/>
        </p:nvSpPr>
        <p:spPr>
          <a:xfrm>
            <a:off x="822960" y="4782312"/>
            <a:ext cx="6492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Regulators keep watching</a:t>
            </a:r>
            <a:endParaRPr lang="en-US" sz="1300" dirty="0"/>
          </a:p>
        </p:txBody>
      </p:sp>
      <p:sp>
        <p:nvSpPr>
          <p:cNvPr id="16" name="Text 13"/>
          <p:cNvSpPr/>
          <p:nvPr/>
        </p:nvSpPr>
        <p:spPr>
          <a:xfrm>
            <a:off x="822960" y="5093208"/>
            <a:ext cx="6492240" cy="521208"/>
          </a:xfrm>
          <a:prstGeom prst="rect">
            <a:avLst/>
          </a:prstGeom>
          <a:noFill/>
          <a:ln/>
        </p:spPr>
        <p:txBody>
          <a:bodyPr wrap="square" rtlCol="0" anchor="t"/>
          <a:lstStyle/>
          <a:p>
            <a:pPr indent="0" marL="0">
              <a:lnSpc>
                <a:spcPct val="105000"/>
              </a:lnSpc>
              <a:buNone/>
            </a:pPr>
            <a:r>
              <a:rPr lang="en-US" sz="1100" dirty="0">
                <a:solidFill>
                  <a:srgbClr val="2B2F3A"/>
                </a:solidFill>
                <a:latin typeface="Calibri" pitchFamily="34" charset="0"/>
                <a:ea typeface="Calibri" pitchFamily="34" charset="-122"/>
                <a:cs typeface="Calibri" pitchFamily="34" charset="-120"/>
              </a:rPr>
              <a:t>In May 2026, Pennsylvania sued Character.AI, alleging its chatbot posed as a licensed doctor — settling the family suits didn’t end the company’s legal exposure.</a:t>
            </a:r>
            <a:endParaRPr lang="en-US" sz="1100" dirty="0"/>
          </a:p>
        </p:txBody>
      </p:sp>
      <p:sp>
        <p:nvSpPr>
          <p:cNvPr id="17" name="Shape 14"/>
          <p:cNvSpPr/>
          <p:nvPr/>
        </p:nvSpPr>
        <p:spPr>
          <a:xfrm>
            <a:off x="7818120" y="1417320"/>
            <a:ext cx="3840480" cy="2331720"/>
          </a:xfrm>
          <a:prstGeom prst="roundRect">
            <a:avLst>
              <a:gd name="adj" fmla="val 3137"/>
            </a:avLst>
          </a:prstGeom>
          <a:solidFill>
            <a:srgbClr val="1E2761"/>
          </a:solidFill>
          <a:ln/>
        </p:spPr>
      </p:sp>
      <p:sp>
        <p:nvSpPr>
          <p:cNvPr id="18" name="Text 15"/>
          <p:cNvSpPr/>
          <p:nvPr/>
        </p:nvSpPr>
        <p:spPr>
          <a:xfrm>
            <a:off x="8046720" y="1572768"/>
            <a:ext cx="3383280" cy="1691640"/>
          </a:xfrm>
          <a:prstGeom prst="rect">
            <a:avLst/>
          </a:prstGeom>
          <a:noFill/>
          <a:ln/>
        </p:spPr>
        <p:txBody>
          <a:bodyPr wrap="square" rtlCol="0" anchor="ctr"/>
          <a:lstStyle/>
          <a:p>
            <a:pPr indent="0" marL="0">
              <a:lnSpc>
                <a:spcPct val="115000"/>
              </a:lnSpc>
              <a:buNone/>
            </a:pPr>
            <a:r>
              <a:rPr lang="en-US" sz="1150" i="1" dirty="0">
                <a:solidFill>
                  <a:srgbClr val="FFFFFF"/>
                </a:solidFill>
                <a:latin typeface="Calibri" pitchFamily="34" charset="0"/>
                <a:ea typeface="Calibri" pitchFamily="34" charset="-122"/>
                <a:cs typeface="Calibri" pitchFamily="34" charset="-120"/>
              </a:rPr>
              <a:t>“The study the Commission authorizes today ... will help the Commission better understand the fast-moving technological environment surrounding chatbots and inform policymakers.”</a:t>
            </a:r>
            <a:endParaRPr lang="en-US" sz="1150" dirty="0"/>
          </a:p>
        </p:txBody>
      </p:sp>
      <p:sp>
        <p:nvSpPr>
          <p:cNvPr id="19" name="Text 16"/>
          <p:cNvSpPr/>
          <p:nvPr/>
        </p:nvSpPr>
        <p:spPr>
          <a:xfrm>
            <a:off x="8046720" y="3291840"/>
            <a:ext cx="3383280" cy="411480"/>
          </a:xfrm>
          <a:prstGeom prst="rect">
            <a:avLst/>
          </a:prstGeom>
          <a:noFill/>
          <a:ln/>
        </p:spPr>
        <p:txBody>
          <a:bodyPr wrap="square" rtlCol="0" anchor="ctr"/>
          <a:lstStyle/>
          <a:p>
            <a:pPr indent="0" marL="0">
              <a:buNone/>
            </a:pPr>
            <a:r>
              <a:rPr lang="en-US" sz="950" dirty="0">
                <a:solidFill>
                  <a:srgbClr val="AFC1E8"/>
                </a:solidFill>
                <a:latin typeface="Calibri" pitchFamily="34" charset="0"/>
                <a:ea typeface="Calibri" pitchFamily="34" charset="-122"/>
                <a:cs typeface="Calibri" pitchFamily="34" charset="-120"/>
              </a:rPr>
              <a:t>— FTC Commissioner Mark Meador, Sept. 11, 2025</a:t>
            </a:r>
            <a:endParaRPr lang="en-US" sz="950" dirty="0"/>
          </a:p>
        </p:txBody>
      </p:sp>
      <p:sp>
        <p:nvSpPr>
          <p:cNvPr id="20" name="Shape 17"/>
          <p:cNvSpPr/>
          <p:nvPr/>
        </p:nvSpPr>
        <p:spPr>
          <a:xfrm>
            <a:off x="7818120" y="3931920"/>
            <a:ext cx="3840480" cy="2103120"/>
          </a:xfrm>
          <a:prstGeom prst="roundRect">
            <a:avLst>
              <a:gd name="adj" fmla="val 3478"/>
            </a:avLst>
          </a:prstGeom>
          <a:solidFill>
            <a:srgbClr val="EEF3FC"/>
          </a:solidFill>
          <a:ln/>
        </p:spPr>
      </p:sp>
      <p:sp>
        <p:nvSpPr>
          <p:cNvPr id="21" name="Text 18"/>
          <p:cNvSpPr/>
          <p:nvPr/>
        </p:nvSpPr>
        <p:spPr>
          <a:xfrm>
            <a:off x="8046720" y="4087368"/>
            <a:ext cx="3383280" cy="1463040"/>
          </a:xfrm>
          <a:prstGeom prst="rect">
            <a:avLst/>
          </a:prstGeom>
          <a:noFill/>
          <a:ln/>
        </p:spPr>
        <p:txBody>
          <a:bodyPr wrap="square" rtlCol="0" anchor="ctr"/>
          <a:lstStyle/>
          <a:p>
            <a:pPr indent="0" marL="0">
              <a:lnSpc>
                <a:spcPct val="115000"/>
              </a:lnSpc>
              <a:buNone/>
            </a:pPr>
            <a:r>
              <a:rPr lang="en-US" sz="1150" i="1" dirty="0">
                <a:solidFill>
                  <a:srgbClr val="1E2761"/>
                </a:solidFill>
                <a:latin typeface="Calibri" pitchFamily="34" charset="0"/>
                <a:ea typeface="Calibri" pitchFamily="34" charset="-122"/>
                <a:cs typeface="Calibri" pitchFamily="34" charset="-120"/>
              </a:rPr>
              <a:t>“[Character.AI] has taken innovative and decisive steps with regard to AI safety and teens, and will continue to champion these efforts.”</a:t>
            </a:r>
            <a:endParaRPr lang="en-US" sz="1150" dirty="0"/>
          </a:p>
        </p:txBody>
      </p:sp>
      <p:sp>
        <p:nvSpPr>
          <p:cNvPr id="22" name="Text 19"/>
          <p:cNvSpPr/>
          <p:nvPr/>
        </p:nvSpPr>
        <p:spPr>
          <a:xfrm>
            <a:off x="8046720" y="5577840"/>
            <a:ext cx="3383280" cy="411480"/>
          </a:xfrm>
          <a:prstGeom prst="rect">
            <a:avLst/>
          </a:prstGeom>
          <a:noFill/>
          <a:ln/>
        </p:spPr>
        <p:txBody>
          <a:bodyPr wrap="square" rtlCol="0" anchor="ctr"/>
          <a:lstStyle/>
          <a:p>
            <a:pPr indent="0" marL="0">
              <a:buNone/>
            </a:pPr>
            <a:r>
              <a:rPr lang="en-US" sz="950" dirty="0">
                <a:solidFill>
                  <a:srgbClr val="5B6B8C"/>
                </a:solidFill>
                <a:latin typeface="Calibri" pitchFamily="34" charset="0"/>
                <a:ea typeface="Calibri" pitchFamily="34" charset="-122"/>
                <a:cs typeface="Calibri" pitchFamily="34" charset="-120"/>
              </a:rPr>
              <a:t>— Joint statement, Character.AI &amp; plaintiffs’ counsel, Jan. 2026</a:t>
            </a:r>
            <a:endParaRPr lang="en-US" sz="950" dirty="0"/>
          </a:p>
        </p:txBody>
      </p:sp>
      <p:sp>
        <p:nvSpPr>
          <p:cNvPr id="23" name="Text 20"/>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24" name="Text 21"/>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9"/>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ellipse">
            <a:avLst/>
          </a:prstGeom>
          <a:solidFill>
            <a:srgbClr val="34408A"/>
          </a:solidFill>
          <a:ln/>
        </p:spPr>
      </p:sp>
      <p:pic>
        <p:nvPicPr>
          <p:cNvPr id="3" name="Image 0" descr="preencoded.png">    </p:cNvPr>
          <p:cNvPicPr>
            <a:picLocks noChangeAspect="1"/>
          </p:cNvPicPr>
          <p:nvPr/>
        </p:nvPicPr>
        <p:blipFill>
          <a:blip r:embed="rId1"/>
          <a:stretch>
            <a:fillRect/>
          </a:stretch>
        </p:blipFill>
        <p:spPr>
          <a:xfrm>
            <a:off x="641909" y="550469"/>
            <a:ext cx="590702" cy="590702"/>
          </a:xfrm>
          <a:prstGeom prst="rect">
            <a:avLst/>
          </a:prstGeom>
        </p:spPr>
      </p:pic>
      <p:sp>
        <p:nvSpPr>
          <p:cNvPr id="4" name="Text 1"/>
          <p:cNvSpPr/>
          <p:nvPr/>
        </p:nvSpPr>
        <p:spPr>
          <a:xfrm>
            <a:off x="1508760" y="530352"/>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Questions</a:t>
            </a:r>
            <a:endParaRPr lang="en-US" sz="3000" dirty="0"/>
          </a:p>
        </p:txBody>
      </p:sp>
      <p:sp>
        <p:nvSpPr>
          <p:cNvPr id="5" name="Shape 2"/>
          <p:cNvSpPr/>
          <p:nvPr/>
        </p:nvSpPr>
        <p:spPr>
          <a:xfrm>
            <a:off x="594360" y="1463040"/>
            <a:ext cx="502920" cy="502920"/>
          </a:xfrm>
          <a:prstGeom prst="ellipse">
            <a:avLst/>
          </a:prstGeom>
          <a:solidFill>
            <a:srgbClr val="CADCFC"/>
          </a:solidFill>
          <a:ln/>
        </p:spPr>
      </p:sp>
      <p:sp>
        <p:nvSpPr>
          <p:cNvPr id="6" name="Text 3"/>
          <p:cNvSpPr/>
          <p:nvPr/>
        </p:nvSpPr>
        <p:spPr>
          <a:xfrm>
            <a:off x="594360" y="1463040"/>
            <a:ext cx="502920" cy="50292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7" name="Text 4"/>
          <p:cNvSpPr/>
          <p:nvPr/>
        </p:nvSpPr>
        <p:spPr>
          <a:xfrm>
            <a:off x="1280160" y="1417320"/>
            <a:ext cx="10241280" cy="685800"/>
          </a:xfrm>
          <a:prstGeom prst="rect">
            <a:avLst/>
          </a:prstGeom>
          <a:noFill/>
          <a:ln/>
        </p:spPr>
        <p:txBody>
          <a:bodyPr wrap="square" rtlCol="0" anchor="ctr"/>
          <a:lstStyle/>
          <a:p>
            <a:pPr indent="0" marL="0">
              <a:lnSpc>
                <a:spcPct val="115000"/>
              </a:lnSpc>
              <a:buNone/>
            </a:pPr>
            <a:r>
              <a:rPr lang="en-US" sz="1500" dirty="0">
                <a:solidFill>
                  <a:srgbClr val="FFFFFF"/>
                </a:solidFill>
                <a:latin typeface="Calibri" pitchFamily="34" charset="0"/>
                <a:ea typeface="Calibri" pitchFamily="34" charset="-122"/>
                <a:cs typeface="Calibri" pitchFamily="34" charset="-120"/>
              </a:rPr>
              <a:t>What do Character.AI’s current terms of service say about users under 18, and how is age verification actually enforced?</a:t>
            </a:r>
            <a:endParaRPr lang="en-US" sz="1500" dirty="0"/>
          </a:p>
        </p:txBody>
      </p:sp>
      <p:sp>
        <p:nvSpPr>
          <p:cNvPr id="8" name="Shape 5"/>
          <p:cNvSpPr/>
          <p:nvPr/>
        </p:nvSpPr>
        <p:spPr>
          <a:xfrm>
            <a:off x="594360" y="2331720"/>
            <a:ext cx="502920" cy="502920"/>
          </a:xfrm>
          <a:prstGeom prst="ellipse">
            <a:avLst/>
          </a:prstGeom>
          <a:solidFill>
            <a:srgbClr val="CADCFC"/>
          </a:solidFill>
          <a:ln/>
        </p:spPr>
      </p:sp>
      <p:sp>
        <p:nvSpPr>
          <p:cNvPr id="9" name="Text 6"/>
          <p:cNvSpPr/>
          <p:nvPr/>
        </p:nvSpPr>
        <p:spPr>
          <a:xfrm>
            <a:off x="594360" y="2331720"/>
            <a:ext cx="502920" cy="50292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10" name="Text 7"/>
          <p:cNvSpPr/>
          <p:nvPr/>
        </p:nvSpPr>
        <p:spPr>
          <a:xfrm>
            <a:off x="1280160" y="2286000"/>
            <a:ext cx="10241280" cy="685800"/>
          </a:xfrm>
          <a:prstGeom prst="rect">
            <a:avLst/>
          </a:prstGeom>
          <a:noFill/>
          <a:ln/>
        </p:spPr>
        <p:txBody>
          <a:bodyPr wrap="square" rtlCol="0" anchor="ctr"/>
          <a:lstStyle/>
          <a:p>
            <a:pPr indent="0" marL="0">
              <a:lnSpc>
                <a:spcPct val="115000"/>
              </a:lnSpc>
              <a:buNone/>
            </a:pPr>
            <a:r>
              <a:rPr lang="en-US" sz="1500" dirty="0">
                <a:solidFill>
                  <a:srgbClr val="FFFFFF"/>
                </a:solidFill>
                <a:latin typeface="Calibri" pitchFamily="34" charset="0"/>
                <a:ea typeface="Calibri" pitchFamily="34" charset="-122"/>
                <a:cs typeface="Calibri" pitchFamily="34" charset="-120"/>
              </a:rPr>
              <a:t>What exactly did the FTC demand in its September 2025 6(b) orders, and has any report or finding been published since?</a:t>
            </a:r>
            <a:endParaRPr lang="en-US" sz="1500" dirty="0"/>
          </a:p>
        </p:txBody>
      </p:sp>
      <p:sp>
        <p:nvSpPr>
          <p:cNvPr id="11" name="Shape 8"/>
          <p:cNvSpPr/>
          <p:nvPr/>
        </p:nvSpPr>
        <p:spPr>
          <a:xfrm>
            <a:off x="594360" y="3200400"/>
            <a:ext cx="502920" cy="502920"/>
          </a:xfrm>
          <a:prstGeom prst="ellipse">
            <a:avLst/>
          </a:prstGeom>
          <a:solidFill>
            <a:srgbClr val="CADCFC"/>
          </a:solidFill>
          <a:ln/>
        </p:spPr>
      </p:sp>
      <p:sp>
        <p:nvSpPr>
          <p:cNvPr id="12" name="Text 9"/>
          <p:cNvSpPr/>
          <p:nvPr/>
        </p:nvSpPr>
        <p:spPr>
          <a:xfrm>
            <a:off x="594360" y="3200400"/>
            <a:ext cx="502920" cy="50292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3" name="Text 10"/>
          <p:cNvSpPr/>
          <p:nvPr/>
        </p:nvSpPr>
        <p:spPr>
          <a:xfrm>
            <a:off x="1280160" y="3154680"/>
            <a:ext cx="10241280" cy="685800"/>
          </a:xfrm>
          <a:prstGeom prst="rect">
            <a:avLst/>
          </a:prstGeom>
          <a:noFill/>
          <a:ln/>
        </p:spPr>
        <p:txBody>
          <a:bodyPr wrap="square" rtlCol="0" anchor="ctr"/>
          <a:lstStyle/>
          <a:p>
            <a:pPr indent="0" marL="0">
              <a:lnSpc>
                <a:spcPct val="115000"/>
              </a:lnSpc>
              <a:buNone/>
            </a:pPr>
            <a:r>
              <a:rPr lang="en-US" sz="1500" dirty="0">
                <a:solidFill>
                  <a:srgbClr val="FFFFFF"/>
                </a:solidFill>
                <a:latin typeface="Calibri" pitchFamily="34" charset="0"/>
                <a:ea typeface="Calibri" pitchFamily="34" charset="-122"/>
                <a:cs typeface="Calibri" pitchFamily="34" charset="-120"/>
              </a:rPr>
              <a:t>Which other states have introduced bills modeled on SB 243, and how do their requirements differ?</a:t>
            </a:r>
            <a:endParaRPr lang="en-US" sz="1500" dirty="0"/>
          </a:p>
        </p:txBody>
      </p:sp>
      <p:sp>
        <p:nvSpPr>
          <p:cNvPr id="14" name="Shape 11"/>
          <p:cNvSpPr/>
          <p:nvPr/>
        </p:nvSpPr>
        <p:spPr>
          <a:xfrm>
            <a:off x="594360" y="4206240"/>
            <a:ext cx="10927080" cy="1600200"/>
          </a:xfrm>
          <a:prstGeom prst="roundRect">
            <a:avLst>
              <a:gd name="adj" fmla="val 5714"/>
            </a:avLst>
          </a:prstGeom>
          <a:solidFill>
            <a:srgbClr val="B0413E"/>
          </a:solidFill>
          <a:ln/>
        </p:spPr>
      </p:sp>
      <p:sp>
        <p:nvSpPr>
          <p:cNvPr id="15" name="Text 12"/>
          <p:cNvSpPr/>
          <p:nvPr/>
        </p:nvSpPr>
        <p:spPr>
          <a:xfrm>
            <a:off x="868680" y="4361688"/>
            <a:ext cx="10378440" cy="320040"/>
          </a:xfrm>
          <a:prstGeom prst="rect">
            <a:avLst/>
          </a:prstGeom>
          <a:noFill/>
          <a:ln/>
        </p:spPr>
        <p:txBody>
          <a:bodyPr wrap="square" rtlCol="0" anchor="ctr"/>
          <a:lstStyle/>
          <a:p>
            <a:pPr indent="0" marL="0">
              <a:buNone/>
            </a:pPr>
            <a:r>
              <a:rPr lang="en-US" sz="1250" b="1" spc="100" kern="0" dirty="0">
                <a:solidFill>
                  <a:srgbClr val="FFFFFF"/>
                </a:solidFill>
                <a:latin typeface="Calibri" pitchFamily="34" charset="0"/>
                <a:ea typeface="Calibri" pitchFamily="34" charset="-122"/>
                <a:cs typeface="Calibri" pitchFamily="34" charset="-120"/>
              </a:rPr>
              <a:t>A HARDER QUESTION FOR YOUR GROUP</a:t>
            </a:r>
            <a:endParaRPr lang="en-US" sz="1250" dirty="0"/>
          </a:p>
        </p:txBody>
      </p:sp>
      <p:sp>
        <p:nvSpPr>
          <p:cNvPr id="16" name="Text 13"/>
          <p:cNvSpPr/>
          <p:nvPr/>
        </p:nvSpPr>
        <p:spPr>
          <a:xfrm>
            <a:off x="868680" y="4690872"/>
            <a:ext cx="10378440" cy="1005840"/>
          </a:xfrm>
          <a:prstGeom prst="rect">
            <a:avLst/>
          </a:prstGeom>
          <a:noFill/>
          <a:ln/>
        </p:spPr>
        <p:txBody>
          <a:bodyPr wrap="square" rtlCol="0" anchor="ctr"/>
          <a:lstStyle/>
          <a:p>
            <a:pPr indent="0" marL="0">
              <a:lnSpc>
                <a:spcPct val="120000"/>
              </a:lnSpc>
              <a:buNone/>
            </a:pPr>
            <a:r>
              <a:rPr lang="en-US" sz="1400" i="1" dirty="0">
                <a:solidFill>
                  <a:srgbClr val="FFFFFF"/>
                </a:solidFill>
                <a:latin typeface="Calibri" pitchFamily="34" charset="0"/>
                <a:ea typeface="Calibri" pitchFamily="34" charset="-122"/>
                <a:cs typeface="Calibri" pitchFamily="34" charset="-120"/>
              </a:rPr>
              <a:t>Settlements with undisclosed terms and no admission of liability end the lawsuit but answer nothing publicly. Who benefits from that, and what does the rest of us not get to learn?</a:t>
            </a:r>
            <a:endParaRPr lang="en-US" sz="1400" dirty="0"/>
          </a:p>
        </p:txBody>
      </p:sp>
      <p:sp>
        <p:nvSpPr>
          <p:cNvPr id="17" name="Text 14"/>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18" name="Text 15"/>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sp>
        <p:nvSpPr>
          <p:cNvPr id="19" name="Text 16"/>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9FB3D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References</a:t>
            </a:r>
            <a:endParaRPr lang="en-US" sz="2800" dirty="0"/>
          </a:p>
        </p:txBody>
      </p:sp>
      <p:sp>
        <p:nvSpPr>
          <p:cNvPr id="3" name="Text 1"/>
          <p:cNvSpPr/>
          <p:nvPr/>
        </p:nvSpPr>
        <p:spPr>
          <a:xfrm>
            <a:off x="548640" y="868680"/>
            <a:ext cx="9601200" cy="365760"/>
          </a:xfrm>
          <a:prstGeom prst="rect">
            <a:avLst/>
          </a:prstGeom>
          <a:noFill/>
          <a:ln/>
        </p:spPr>
        <p:txBody>
          <a:bodyPr wrap="square"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Reputable, named sources, all dated 2025 or later (comparison case excepted).</a:t>
            </a:r>
            <a:endParaRPr lang="en-US" sz="1250" dirty="0"/>
          </a:p>
        </p:txBody>
      </p:sp>
      <p:sp>
        <p:nvSpPr>
          <p:cNvPr id="4" name="Text 2"/>
          <p:cNvSpPr/>
          <p:nvPr/>
        </p:nvSpPr>
        <p:spPr>
          <a:xfrm>
            <a:off x="548640" y="1417320"/>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1.</a:t>
            </a:r>
            <a:endParaRPr lang="en-US" sz="1150" dirty="0"/>
          </a:p>
        </p:txBody>
      </p:sp>
      <p:sp>
        <p:nvSpPr>
          <p:cNvPr id="5" name="Text 3"/>
          <p:cNvSpPr/>
          <p:nvPr/>
        </p:nvSpPr>
        <p:spPr>
          <a:xfrm>
            <a:off x="960120" y="1417320"/>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CNN Business — “Character.AI and Google agree to settle lawsuits over teen mental health harms and suicides,” Jan. 7, 2026. cnn.com/2026/01/07/business/character-ai-google-settle-teen-suicide-lawsuit</a:t>
            </a:r>
            <a:endParaRPr lang="en-US" sz="1100" dirty="0"/>
          </a:p>
        </p:txBody>
      </p:sp>
      <p:sp>
        <p:nvSpPr>
          <p:cNvPr id="6" name="Text 4"/>
          <p:cNvSpPr/>
          <p:nvPr/>
        </p:nvSpPr>
        <p:spPr>
          <a:xfrm>
            <a:off x="548640" y="2025396"/>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2.</a:t>
            </a:r>
            <a:endParaRPr lang="en-US" sz="1150" dirty="0"/>
          </a:p>
        </p:txBody>
      </p:sp>
      <p:sp>
        <p:nvSpPr>
          <p:cNvPr id="7" name="Text 5"/>
          <p:cNvSpPr/>
          <p:nvPr/>
        </p:nvSpPr>
        <p:spPr>
          <a:xfrm>
            <a:off x="960120" y="2025396"/>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Federal Trade Commission — “FTC Launches Inquiry into AI Chatbots Acting as Companions,” Sept. 11, 2025. ftc.gov/news-events/news/press-releases/2025/09/ftc-launches-inquiry-ai-chatbots-acting-companions</a:t>
            </a:r>
            <a:endParaRPr lang="en-US" sz="1100" dirty="0"/>
          </a:p>
        </p:txBody>
      </p:sp>
      <p:sp>
        <p:nvSpPr>
          <p:cNvPr id="8" name="Text 6"/>
          <p:cNvSpPr/>
          <p:nvPr/>
        </p:nvSpPr>
        <p:spPr>
          <a:xfrm>
            <a:off x="548640" y="2633472"/>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3.</a:t>
            </a:r>
            <a:endParaRPr lang="en-US" sz="1150" dirty="0"/>
          </a:p>
        </p:txBody>
      </p:sp>
      <p:sp>
        <p:nvSpPr>
          <p:cNvPr id="9" name="Text 7"/>
          <p:cNvSpPr/>
          <p:nvPr/>
        </p:nvSpPr>
        <p:spPr>
          <a:xfrm>
            <a:off x="960120" y="2633472"/>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Justia / U.S. District Court, M.D. Fla. — Garcia v. Character Technologies, Inc., Order on Motion to Dismiss, May 21, 2025. law.justia.com/cases/federal/district-courts/florida/flmdce/6:2024cv01903/433581/221</a:t>
            </a:r>
            <a:endParaRPr lang="en-US" sz="1100" dirty="0"/>
          </a:p>
        </p:txBody>
      </p:sp>
      <p:sp>
        <p:nvSpPr>
          <p:cNvPr id="10" name="Text 8"/>
          <p:cNvSpPr/>
          <p:nvPr/>
        </p:nvSpPr>
        <p:spPr>
          <a:xfrm>
            <a:off x="548640" y="3241548"/>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4.</a:t>
            </a:r>
            <a:endParaRPr lang="en-US" sz="1150" dirty="0"/>
          </a:p>
        </p:txBody>
      </p:sp>
      <p:sp>
        <p:nvSpPr>
          <p:cNvPr id="11" name="Text 9"/>
          <p:cNvSpPr/>
          <p:nvPr/>
        </p:nvSpPr>
        <p:spPr>
          <a:xfrm>
            <a:off x="960120" y="3241548"/>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Jones Walker LLP — “AI Regulatory Update: California’s SB 243 Mandates Companion AI Safety and Accountability,” Oct. 2025. joneswalker.com/en/insights/blogs/ai-law-blog</a:t>
            </a:r>
            <a:endParaRPr lang="en-US" sz="1100" dirty="0"/>
          </a:p>
        </p:txBody>
      </p:sp>
      <p:sp>
        <p:nvSpPr>
          <p:cNvPr id="12" name="Text 10"/>
          <p:cNvSpPr/>
          <p:nvPr/>
        </p:nvSpPr>
        <p:spPr>
          <a:xfrm>
            <a:off x="548640" y="3849624"/>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5.</a:t>
            </a:r>
            <a:endParaRPr lang="en-US" sz="1150" dirty="0"/>
          </a:p>
        </p:txBody>
      </p:sp>
      <p:sp>
        <p:nvSpPr>
          <p:cNvPr id="13" name="Text 11"/>
          <p:cNvSpPr/>
          <p:nvPr/>
        </p:nvSpPr>
        <p:spPr>
          <a:xfrm>
            <a:off x="960120" y="3849624"/>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U.S. Senate Judiciary Committee — Testimony of Megan Garcia, Sept. 16, 2025. judiciary.senate.gov (hearing record, Sept. 16, 2025 PM session)</a:t>
            </a:r>
            <a:endParaRPr lang="en-US" sz="1100" dirty="0"/>
          </a:p>
        </p:txBody>
      </p:sp>
      <p:sp>
        <p:nvSpPr>
          <p:cNvPr id="14" name="Text 12"/>
          <p:cNvSpPr/>
          <p:nvPr/>
        </p:nvSpPr>
        <p:spPr>
          <a:xfrm>
            <a:off x="548640" y="4457700"/>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6.</a:t>
            </a:r>
            <a:endParaRPr lang="en-US" sz="1150" dirty="0"/>
          </a:p>
        </p:txBody>
      </p:sp>
      <p:sp>
        <p:nvSpPr>
          <p:cNvPr id="15" name="Text 13"/>
          <p:cNvSpPr/>
          <p:nvPr/>
        </p:nvSpPr>
        <p:spPr>
          <a:xfrm>
            <a:off x="960120" y="4457700"/>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Federal Trade Commission — Statement of Commissioner Mark R. Meador Regarding Section 6(b) Resolution, Sept. 11, 2025. ftc.gov/legal-library/browse/cases-proceedings/public-statements</a:t>
            </a:r>
            <a:endParaRPr lang="en-US" sz="1100" dirty="0"/>
          </a:p>
        </p:txBody>
      </p:sp>
      <p:sp>
        <p:nvSpPr>
          <p:cNvPr id="16" name="Text 14"/>
          <p:cNvSpPr/>
          <p:nvPr/>
        </p:nvSpPr>
        <p:spPr>
          <a:xfrm>
            <a:off x="548640" y="5065776"/>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7.</a:t>
            </a:r>
            <a:endParaRPr lang="en-US" sz="1150" dirty="0"/>
          </a:p>
        </p:txBody>
      </p:sp>
      <p:sp>
        <p:nvSpPr>
          <p:cNvPr id="17" name="Text 15"/>
          <p:cNvSpPr/>
          <p:nvPr/>
        </p:nvSpPr>
        <p:spPr>
          <a:xfrm>
            <a:off x="960120" y="5065776"/>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Electronic Frontier Foundation — “Doe v. MySpace, Inc., 528 F.3d 413 (5th Cir. 2008),” case summary. eff.org/issues/cda230/cases/doe-v-myspace-inc</a:t>
            </a:r>
            <a:endParaRPr lang="en-US" sz="1100" dirty="0"/>
          </a:p>
        </p:txBody>
      </p:sp>
      <p:sp>
        <p:nvSpPr>
          <p:cNvPr id="18" name="Text 16"/>
          <p:cNvSpPr/>
          <p:nvPr/>
        </p:nvSpPr>
        <p:spPr>
          <a:xfrm>
            <a:off x="548640" y="5673852"/>
            <a:ext cx="365760" cy="548640"/>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8.</a:t>
            </a:r>
            <a:endParaRPr lang="en-US" sz="1150" dirty="0"/>
          </a:p>
        </p:txBody>
      </p:sp>
      <p:sp>
        <p:nvSpPr>
          <p:cNvPr id="19" name="Text 17"/>
          <p:cNvSpPr/>
          <p:nvPr/>
        </p:nvSpPr>
        <p:spPr>
          <a:xfrm>
            <a:off x="960120" y="5673852"/>
            <a:ext cx="10698480" cy="548640"/>
          </a:xfrm>
          <a:prstGeom prst="rect">
            <a:avLst/>
          </a:prstGeom>
          <a:noFill/>
          <a:ln/>
        </p:spPr>
        <p:txBody>
          <a:bodyPr wrap="square" rtlCol="0" anchor="t"/>
          <a:lstStyle/>
          <a:p>
            <a:pPr indent="0" marL="0">
              <a:lnSpc>
                <a:spcPct val="108000"/>
              </a:lnSpc>
              <a:buNone/>
            </a:pPr>
            <a:r>
              <a:rPr lang="en-US" sz="1100" dirty="0">
                <a:solidFill>
                  <a:srgbClr val="2B2F3A"/>
                </a:solidFill>
                <a:latin typeface="Calibri" pitchFamily="34" charset="0"/>
                <a:ea typeface="Calibri" pitchFamily="34" charset="-122"/>
                <a:cs typeface="Calibri" pitchFamily="34" charset="-120"/>
              </a:rPr>
              <a:t>NPR — “Pennsylvania sues Character.AI over claims chatbot posed as doctor,” May 5, 2026. npr.org/2026/05/05/nx-s1-5812861/characterai-chatbot-medical-advice-pennsylvania-lawsuit</a:t>
            </a:r>
            <a:endParaRPr lang="en-US" sz="1100" dirty="0"/>
          </a:p>
        </p:txBody>
      </p:sp>
      <p:sp>
        <p:nvSpPr>
          <p:cNvPr id="20" name="Text 18"/>
          <p:cNvSpPr/>
          <p:nvPr/>
        </p:nvSpPr>
        <p:spPr>
          <a:xfrm>
            <a:off x="457200" y="6537960"/>
            <a:ext cx="7772400" cy="274320"/>
          </a:xfrm>
          <a:prstGeom prst="rect">
            <a:avLst/>
          </a:prstGeom>
          <a:noFill/>
          <a:ln/>
        </p:spPr>
        <p:txBody>
          <a:bodyPr wrap="square"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Lab 2 · Case Study — AI Companions and Teenagers</a:t>
            </a:r>
            <a:endParaRPr lang="en-US" sz="900" dirty="0"/>
          </a:p>
        </p:txBody>
      </p:sp>
      <p:sp>
        <p:nvSpPr>
          <p:cNvPr id="21" name="Text 19"/>
          <p:cNvSpPr/>
          <p:nvPr/>
        </p:nvSpPr>
        <p:spPr>
          <a:xfrm>
            <a:off x="11521440" y="6537960"/>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2026-08-28T14:44:32Z</dcterms:created>
  <dcterms:modified xsi:type="dcterms:W3CDTF">2026-08-28T14:44:32Z</dcterms:modified>
</cp:coreProperties>
</file>